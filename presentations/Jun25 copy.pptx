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0"/>
  </p:normalViewPr>
  <p:slideViewPr>
    <p:cSldViewPr snapToGrid="0">
      <p:cViewPr>
        <p:scale>
          <a:sx n="118" d="100"/>
          <a:sy n="118" d="100"/>
        </p:scale>
        <p:origin x="3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D649-3DB3-8BDE-3C09-9EF370A50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DB4B9-0F78-5C9D-7401-B5446442F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25163-5CAC-0B88-4DDA-A74D431F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8074A-1F69-F2BA-FDB6-DA02E3FE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CD126-11DB-E8D4-A1BF-4A85E824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7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DD2C-E2B2-B17D-A3A6-22F2266A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090A-3879-37EF-F67D-EEA0D5231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07676-7C05-C79F-6796-42E281D6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A485B-8D15-2F65-C817-C2CE67CB5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0B1AF-8679-8904-0CCC-75B676DA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7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E905-E1A8-7564-F239-61A4B15B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593EA-5180-1BA7-8DF4-C9F27CBB1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DA7D1-93D1-B89C-8475-D21A39A75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7E75C-AE47-46A7-BA82-FA28DDB2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C5191-8D04-86C5-E2B4-AEA4C347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3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B04C-629B-C704-4F6C-33C97F9B8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DE6AF-BBAD-5DF3-8C93-2B5666F01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2F0F8-0CAE-C6C0-ADDF-E652FADFE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FF6D8-0499-B0BD-CB79-6C2E78C6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C1C59-59D8-63B9-9D77-B32AD663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8F439-CD04-D44C-0829-A22A099B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0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F997-C142-B7F2-3A78-701B01E4F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C6B8-279C-9D34-B191-40842948E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683F4-243A-6375-395F-9C78A85D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51A5C-F58E-E844-EA7E-5CC7EB2DC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012CC-1819-7535-C2D5-068E29739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4126A-56A1-2D44-3F01-A38F9D25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95FFD-F75A-468E-FF3C-7EB01474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EE909-9D5B-A275-759D-C98AAB66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5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6E32-DE46-12F5-F76F-4CEF132C5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F7E9E-8853-D24B-0F5E-4BAC7576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39AB8-2547-868F-E8DB-8B218A31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A2F80-944B-F9E8-BC6A-D36C5BAC9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9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EC481-531B-A99E-01A8-13340C0F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276B0-EA55-D7A3-2878-202C8367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13439-DD9B-48EE-E4DA-EE829227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43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4604-5655-51F6-8945-8BAC7B937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618D4-D541-A47E-9809-87688E0A4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6E459-A3E1-F2FC-2372-E496ABE74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E236A-72DF-75F2-635A-543103B2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ED88A-ADAD-9324-98B0-3B43EC05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3C990-C82C-33E8-B051-F307E44E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5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803D3-8236-7AA6-820F-312541F3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76F91D-1BA0-756E-6B4A-325F13656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3DA-A352-0B21-339E-B202F36F7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3E9C7-F8E4-E46C-BD6F-907000A9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CD7AF-89BD-2075-B658-5EBFBD2E6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E20A5-9C42-2D1F-6EF4-6BE690C7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6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3AB8-CC94-8377-F67D-71BEAEE2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0697B-FAB3-DFF1-79E6-84798A979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77C58-B686-6CB7-D25C-37A4AE28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F0ACC-4292-0F0F-489C-E02B7F1B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D577-5545-F365-7703-4FBE23A5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2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89515C-0945-2F49-C678-E6064EC35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B6CAD-D87B-97C1-2A29-6620C3450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DCB77-0270-D3A2-0CB9-A241B048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D660-BCF5-6A53-D3E1-FF308A3B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47CE7-0FF2-439E-E536-CE20A413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4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46012-465F-B237-6BA8-9C2C68F7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4CC4C-28FA-8DBF-F4D6-F3B539834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91800-1FF8-E877-584E-EA53473DB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7068F-DACC-A446-B6E5-DEA52AC023D2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A732-6498-BFF5-CB10-013CCE562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402E4-C7CF-465B-46D5-A5F536EF0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5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10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59A9-6A1F-FC49-ABB3-75782B506E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SHIELD Meeting 6/25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20D29-7D2A-2CC2-1EA1-6326112F6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0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AC9B-6DAD-1D05-33EC-35EA2B0E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COVID/Flu/RSV SEIR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AAAC42-FC9D-3214-93C5-AFA2C7574731}"/>
              </a:ext>
            </a:extLst>
          </p:cNvPr>
          <p:cNvSpPr/>
          <p:nvPr/>
        </p:nvSpPr>
        <p:spPr>
          <a:xfrm>
            <a:off x="456981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C9E71-CA8A-CD2A-2A5F-3917B76504F3}"/>
              </a:ext>
            </a:extLst>
          </p:cNvPr>
          <p:cNvSpPr/>
          <p:nvPr/>
        </p:nvSpPr>
        <p:spPr>
          <a:xfrm>
            <a:off x="1912664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4DD325-5894-85CB-C054-F290FA4E0F3A}"/>
              </a:ext>
            </a:extLst>
          </p:cNvPr>
          <p:cNvSpPr/>
          <p:nvPr/>
        </p:nvSpPr>
        <p:spPr>
          <a:xfrm>
            <a:off x="3368347" y="1146735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716E1-3710-41C7-80F2-5F77C4384DC7}"/>
              </a:ext>
            </a:extLst>
          </p:cNvPr>
          <p:cNvSpPr/>
          <p:nvPr/>
        </p:nvSpPr>
        <p:spPr>
          <a:xfrm>
            <a:off x="4789214" y="1749082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D7A9DB-26E5-5746-C201-A70B6BFF0AEA}"/>
              </a:ext>
            </a:extLst>
          </p:cNvPr>
          <p:cNvSpPr/>
          <p:nvPr/>
        </p:nvSpPr>
        <p:spPr>
          <a:xfrm>
            <a:off x="3368347" y="2519453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A2A8EB-238E-6B69-D0AC-12DD962D8416}"/>
              </a:ext>
            </a:extLst>
          </p:cNvPr>
          <p:cNvSpPr/>
          <p:nvPr/>
        </p:nvSpPr>
        <p:spPr>
          <a:xfrm>
            <a:off x="4789214" y="2885047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866500-C36C-FACE-AFDD-E48E5107E55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269781" y="2156565"/>
            <a:ext cx="642883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EB57A0-E223-C824-A093-8CCA4791CB7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725464" y="1512329"/>
            <a:ext cx="642883" cy="64423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226F68-1DE9-1262-8F07-2C6EACBC9A8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725464" y="2156565"/>
            <a:ext cx="642883" cy="72848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CE52C4-243A-FA11-D9E9-A42792BFE337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4181147" y="2114676"/>
            <a:ext cx="608067" cy="770371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CFA289-6E9B-6650-9D59-E0523DBA959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4181147" y="2885047"/>
            <a:ext cx="608067" cy="36559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A34512A-D393-7FEE-4D26-3CD16EF2B2AA}"/>
              </a:ext>
            </a:extLst>
          </p:cNvPr>
          <p:cNvSpPr/>
          <p:nvPr/>
        </p:nvSpPr>
        <p:spPr>
          <a:xfrm>
            <a:off x="456981" y="442012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7AE006-453D-6F6B-B6BB-4B5A96C92CF6}"/>
              </a:ext>
            </a:extLst>
          </p:cNvPr>
          <p:cNvSpPr/>
          <p:nvPr/>
        </p:nvSpPr>
        <p:spPr>
          <a:xfrm>
            <a:off x="1912664" y="442012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423499-23FC-B08C-C9F7-288B701D3EF7}"/>
              </a:ext>
            </a:extLst>
          </p:cNvPr>
          <p:cNvSpPr/>
          <p:nvPr/>
        </p:nvSpPr>
        <p:spPr>
          <a:xfrm>
            <a:off x="3368347" y="3775888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7C4EF9-8994-0192-56CE-F7D5A2F718C8}"/>
              </a:ext>
            </a:extLst>
          </p:cNvPr>
          <p:cNvSpPr/>
          <p:nvPr/>
        </p:nvSpPr>
        <p:spPr>
          <a:xfrm>
            <a:off x="4789214" y="4280803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8E5D83-CBE8-A515-9586-5FA49ED33846}"/>
              </a:ext>
            </a:extLst>
          </p:cNvPr>
          <p:cNvSpPr/>
          <p:nvPr/>
        </p:nvSpPr>
        <p:spPr>
          <a:xfrm>
            <a:off x="3368347" y="5148606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C3378E-EF4B-6389-9340-29722348849A}"/>
              </a:ext>
            </a:extLst>
          </p:cNvPr>
          <p:cNvSpPr/>
          <p:nvPr/>
        </p:nvSpPr>
        <p:spPr>
          <a:xfrm>
            <a:off x="4789214" y="5514200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6999503-215F-B64B-4D45-DDA329CB3FE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1269781" y="4785718"/>
            <a:ext cx="642883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DA7759-D4FB-49F0-AABA-651001DD0CEB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725464" y="4141482"/>
            <a:ext cx="642883" cy="64423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7696044-2519-02E8-37C7-C2BBE1AF1D38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>
            <a:off x="2725464" y="4785718"/>
            <a:ext cx="642883" cy="72848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9025BF-60EC-9806-EB1B-5831E76C9694}"/>
              </a:ext>
            </a:extLst>
          </p:cNvPr>
          <p:cNvCxnSpPr>
            <a:cxnSpLocks/>
            <a:stCxn id="30" idx="3"/>
            <a:endCxn id="29" idx="1"/>
          </p:cNvCxnSpPr>
          <p:nvPr/>
        </p:nvCxnSpPr>
        <p:spPr>
          <a:xfrm flipV="1">
            <a:off x="4181147" y="4646397"/>
            <a:ext cx="608067" cy="867803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2FCE8FF-83F5-FD9A-610B-0344D9BBC8DD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4181147" y="5514200"/>
            <a:ext cx="608067" cy="36559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299EF93D-03BC-9EBC-1627-950C3E2F9F27}"/>
              </a:ext>
            </a:extLst>
          </p:cNvPr>
          <p:cNvCxnSpPr>
            <a:cxnSpLocks/>
            <a:stCxn id="29" idx="3"/>
            <a:endCxn id="26" idx="2"/>
          </p:cNvCxnSpPr>
          <p:nvPr/>
        </p:nvCxnSpPr>
        <p:spPr>
          <a:xfrm flipH="1">
            <a:off x="863381" y="4646397"/>
            <a:ext cx="4738633" cy="504915"/>
          </a:xfrm>
          <a:prstGeom prst="bentConnector4">
            <a:avLst>
              <a:gd name="adj1" fmla="val -4824"/>
              <a:gd name="adj2" fmla="val 374252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ACF4EBB-793D-7579-16B6-E23BE45D7D51}"/>
                  </a:ext>
                </a:extLst>
              </p:cNvPr>
              <p:cNvSpPr txBox="1"/>
              <p:nvPr/>
            </p:nvSpPr>
            <p:spPr>
              <a:xfrm>
                <a:off x="1402757" y="1805998"/>
                <a:ext cx="1224548" cy="359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73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33" dirty="0"/>
                  <a:t> 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ACF4EBB-793D-7579-16B6-E23BE45D7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57" y="1805998"/>
                <a:ext cx="1224548" cy="3590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6C6EBA-3FB8-55FC-73ED-AD8D89FFF52D}"/>
                  </a:ext>
                </a:extLst>
              </p:cNvPr>
              <p:cNvSpPr txBox="1"/>
              <p:nvPr/>
            </p:nvSpPr>
            <p:spPr>
              <a:xfrm>
                <a:off x="2349833" y="1348402"/>
                <a:ext cx="1428961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r>
                  <a:rPr lang="en-US" sz="1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sz="1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6C6EBA-3FB8-55FC-73ED-AD8D89FFF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833" y="1348402"/>
                <a:ext cx="1428961" cy="630942"/>
              </a:xfrm>
              <a:prstGeom prst="rect">
                <a:avLst/>
              </a:prstGeom>
              <a:blipFill>
                <a:blip r:embed="rId3"/>
                <a:stretch>
                  <a:fillRect l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20800E-F9AA-EC96-0722-C1044F4ED22E}"/>
                  </a:ext>
                </a:extLst>
              </p:cNvPr>
              <p:cNvSpPr txBox="1"/>
              <p:nvPr/>
            </p:nvSpPr>
            <p:spPr>
              <a:xfrm>
                <a:off x="2167886" y="5278775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20800E-F9AA-EC96-0722-C1044F4E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886" y="5278775"/>
                <a:ext cx="1521464" cy="630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7D557C-6C02-1A4E-E96F-5B7806B836B0}"/>
                  </a:ext>
                </a:extLst>
              </p:cNvPr>
              <p:cNvSpPr txBox="1"/>
              <p:nvPr/>
            </p:nvSpPr>
            <p:spPr>
              <a:xfrm>
                <a:off x="4493147" y="1396154"/>
                <a:ext cx="198772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7D557C-6C02-1A4E-E96F-5B7806B83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147" y="1396154"/>
                <a:ext cx="198772" cy="261610"/>
              </a:xfrm>
              <a:prstGeom prst="rect">
                <a:avLst/>
              </a:prstGeom>
              <a:blipFill>
                <a:blip r:embed="rId5"/>
                <a:stretch>
                  <a:fillRect l="-11765" r="-11765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E191C27-1FEB-40FD-0F56-502E23B4005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181147" y="1512329"/>
            <a:ext cx="608067" cy="60234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BD23DFC-6730-E9D4-9D71-293D47947FF4}"/>
              </a:ext>
            </a:extLst>
          </p:cNvPr>
          <p:cNvCxnSpPr>
            <a:cxnSpLocks/>
          </p:cNvCxnSpPr>
          <p:nvPr/>
        </p:nvCxnSpPr>
        <p:spPr>
          <a:xfrm>
            <a:off x="4181147" y="4062289"/>
            <a:ext cx="608067" cy="60234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544ACAD-1BFF-737A-DC2F-0CE1E007433F}"/>
                  </a:ext>
                </a:extLst>
              </p:cNvPr>
              <p:cNvSpPr txBox="1"/>
              <p:nvPr/>
            </p:nvSpPr>
            <p:spPr>
              <a:xfrm>
                <a:off x="4307951" y="3046967"/>
                <a:ext cx="216727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7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544ACAD-1BFF-737A-DC2F-0CE1E0074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951" y="3046967"/>
                <a:ext cx="216727" cy="630942"/>
              </a:xfrm>
              <a:prstGeom prst="rect">
                <a:avLst/>
              </a:prstGeom>
              <a:blipFill>
                <a:blip r:embed="rId6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458BBD-5BB5-7410-7688-B2C844F05733}"/>
                  </a:ext>
                </a:extLst>
              </p:cNvPr>
              <p:cNvSpPr txBox="1"/>
              <p:nvPr/>
            </p:nvSpPr>
            <p:spPr>
              <a:xfrm>
                <a:off x="3672877" y="2162853"/>
                <a:ext cx="91313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458BBD-5BB5-7410-7688-B2C844F05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77" y="2162853"/>
                <a:ext cx="913137" cy="261610"/>
              </a:xfrm>
              <a:prstGeom prst="rect">
                <a:avLst/>
              </a:prstGeom>
              <a:blipFill>
                <a:blip r:embed="rId7"/>
                <a:stretch>
                  <a:fillRect l="-11111" t="-4545" r="-6944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5616426-0E77-52E6-DABE-A5B3CDA6137E}"/>
                  </a:ext>
                </a:extLst>
              </p:cNvPr>
              <p:cNvSpPr txBox="1"/>
              <p:nvPr/>
            </p:nvSpPr>
            <p:spPr>
              <a:xfrm>
                <a:off x="3230615" y="3432377"/>
                <a:ext cx="244683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5616426-0E77-52E6-DABE-A5B3CDA61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15" y="3432377"/>
                <a:ext cx="244683" cy="261610"/>
              </a:xfrm>
              <a:prstGeom prst="rect">
                <a:avLst/>
              </a:prstGeom>
              <a:blipFill>
                <a:blip r:embed="rId8"/>
                <a:stretch>
                  <a:fillRect l="-5000"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EA75D79-A890-0823-5FF1-61CCBD0D9259}"/>
                  </a:ext>
                </a:extLst>
              </p:cNvPr>
              <p:cNvSpPr txBox="1"/>
              <p:nvPr/>
            </p:nvSpPr>
            <p:spPr>
              <a:xfrm>
                <a:off x="2924911" y="6179098"/>
                <a:ext cx="125623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EA75D79-A890-0823-5FF1-61CCBD0D9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911" y="6179098"/>
                <a:ext cx="1256236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C1BAB33-419B-2A0A-B760-10AB90562F72}"/>
                  </a:ext>
                </a:extLst>
              </p:cNvPr>
              <p:cNvSpPr txBox="1"/>
              <p:nvPr/>
            </p:nvSpPr>
            <p:spPr>
              <a:xfrm>
                <a:off x="6689849" y="1396617"/>
                <a:ext cx="4860690" cy="3693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Separate infections into 2 compartments: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 – Non-Severe Infection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H – Severe Infection (Hospitalization)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force of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p: probability of severe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vaccination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latent period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recovery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death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waning of immunity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susceptibility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immunity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aging rate</a:t>
                </a: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C1BAB33-419B-2A0A-B760-10AB90562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849" y="1396617"/>
                <a:ext cx="4860690" cy="3693319"/>
              </a:xfrm>
              <a:prstGeom prst="rect">
                <a:avLst/>
              </a:prstGeom>
              <a:blipFill>
                <a:blip r:embed="rId10"/>
                <a:stretch>
                  <a:fillRect l="-781" t="-342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F6BF6458-0A41-744C-49D1-4C03C3EBF7D3}"/>
              </a:ext>
            </a:extLst>
          </p:cNvPr>
          <p:cNvCxnSpPr>
            <a:cxnSpLocks/>
            <a:stCxn id="8" idx="3"/>
            <a:endCxn id="26" idx="0"/>
          </p:cNvCxnSpPr>
          <p:nvPr/>
        </p:nvCxnSpPr>
        <p:spPr>
          <a:xfrm flipH="1">
            <a:off x="863381" y="2114676"/>
            <a:ext cx="4738633" cy="2305448"/>
          </a:xfrm>
          <a:prstGeom prst="bentConnector4">
            <a:avLst>
              <a:gd name="adj1" fmla="val -4824"/>
              <a:gd name="adj2" fmla="val 68415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80E7624-A321-EE1E-BFBE-28515F5B7EE7}"/>
                  </a:ext>
                </a:extLst>
              </p:cNvPr>
              <p:cNvSpPr txBox="1"/>
              <p:nvPr/>
            </p:nvSpPr>
            <p:spPr>
              <a:xfrm>
                <a:off x="1227492" y="4439283"/>
                <a:ext cx="1224548" cy="359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733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  <m:r>
                      <a:rPr lang="en-US" sz="1733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73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33" dirty="0"/>
                  <a:t> </a:t>
                </a: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80E7624-A321-EE1E-BFBE-28515F5B7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92" y="4439283"/>
                <a:ext cx="1224548" cy="3590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4595D3B-696F-CE9C-FE22-B94F5E436FE1}"/>
                  </a:ext>
                </a:extLst>
              </p:cNvPr>
              <p:cNvSpPr txBox="1"/>
              <p:nvPr/>
            </p:nvSpPr>
            <p:spPr>
              <a:xfrm>
                <a:off x="2297907" y="3982961"/>
                <a:ext cx="1428961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r>
                  <a:rPr lang="en-US" sz="1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sz="1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4595D3B-696F-CE9C-FE22-B94F5E436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907" y="3982961"/>
                <a:ext cx="1428961" cy="630942"/>
              </a:xfrm>
              <a:prstGeom prst="rect">
                <a:avLst/>
              </a:prstGeom>
              <a:blipFill>
                <a:blip r:embed="rId12"/>
                <a:stretch>
                  <a:fillRect l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8090FC2-0917-8002-B5BA-242569468E50}"/>
                  </a:ext>
                </a:extLst>
              </p:cNvPr>
              <p:cNvSpPr txBox="1"/>
              <p:nvPr/>
            </p:nvSpPr>
            <p:spPr>
              <a:xfrm>
                <a:off x="4393761" y="4030955"/>
                <a:ext cx="198772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8090FC2-0917-8002-B5BA-242569468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761" y="4030955"/>
                <a:ext cx="198772" cy="261610"/>
              </a:xfrm>
              <a:prstGeom prst="rect">
                <a:avLst/>
              </a:prstGeom>
              <a:blipFill>
                <a:blip r:embed="rId13"/>
                <a:stretch>
                  <a:fillRect l="-18750" r="-12500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3F7E6B5-5941-A240-6375-FBC5E94E3BAB}"/>
                  </a:ext>
                </a:extLst>
              </p:cNvPr>
              <p:cNvSpPr txBox="1"/>
              <p:nvPr/>
            </p:nvSpPr>
            <p:spPr>
              <a:xfrm>
                <a:off x="3583138" y="4773860"/>
                <a:ext cx="91313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3F7E6B5-5941-A240-6375-FBC5E94E3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138" y="4773860"/>
                <a:ext cx="913137" cy="261610"/>
              </a:xfrm>
              <a:prstGeom prst="rect">
                <a:avLst/>
              </a:prstGeom>
              <a:blipFill>
                <a:blip r:embed="rId14"/>
                <a:stretch>
                  <a:fillRect l="-10959" r="-6849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68FD539-2FC5-B4E0-13E2-24E60D5D5BF6}"/>
                  </a:ext>
                </a:extLst>
              </p:cNvPr>
              <p:cNvSpPr txBox="1"/>
              <p:nvPr/>
            </p:nvSpPr>
            <p:spPr>
              <a:xfrm>
                <a:off x="4359459" y="5721314"/>
                <a:ext cx="216727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7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68FD539-2FC5-B4E0-13E2-24E60D5D5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459" y="5721314"/>
                <a:ext cx="216727" cy="630942"/>
              </a:xfrm>
              <a:prstGeom prst="rect">
                <a:avLst/>
              </a:prstGeom>
              <a:blipFill>
                <a:blip r:embed="rId15"/>
                <a:stretch>
                  <a:fillRect l="-27778" r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92B2856-310C-8FAA-7C2B-A617FBEDA48D}"/>
                  </a:ext>
                </a:extLst>
              </p:cNvPr>
              <p:cNvSpPr txBox="1"/>
              <p:nvPr/>
            </p:nvSpPr>
            <p:spPr>
              <a:xfrm>
                <a:off x="2263181" y="2731475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92B2856-310C-8FAA-7C2B-A617FBEDA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181" y="2731475"/>
                <a:ext cx="1521464" cy="63094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78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53ED9-C001-4E1E-4787-258BDE72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A9D-C280-5C3B-51FF-17136F0C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0973"/>
            <a:ext cx="10515600" cy="1325563"/>
          </a:xfrm>
        </p:spPr>
        <p:txBody>
          <a:bodyPr/>
          <a:lstStyle/>
          <a:p>
            <a:r>
              <a:rPr lang="en-US" dirty="0"/>
              <a:t>Pertussis SEIR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85BDA8-E7DA-1897-3027-3F261C2A5C23}"/>
              </a:ext>
            </a:extLst>
          </p:cNvPr>
          <p:cNvSpPr/>
          <p:nvPr/>
        </p:nvSpPr>
        <p:spPr>
          <a:xfrm>
            <a:off x="456981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42FC1-6B6A-0E49-5CF4-4D271A6D0F49}"/>
              </a:ext>
            </a:extLst>
          </p:cNvPr>
          <p:cNvSpPr/>
          <p:nvPr/>
        </p:nvSpPr>
        <p:spPr>
          <a:xfrm>
            <a:off x="1912664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F04F2-706E-3EA9-65FC-B8F86685570B}"/>
              </a:ext>
            </a:extLst>
          </p:cNvPr>
          <p:cNvSpPr/>
          <p:nvPr/>
        </p:nvSpPr>
        <p:spPr>
          <a:xfrm>
            <a:off x="4696404" y="1152893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1FC02E-5C1E-FEE7-A1CE-E32713C499BC}"/>
              </a:ext>
            </a:extLst>
          </p:cNvPr>
          <p:cNvSpPr/>
          <p:nvPr/>
        </p:nvSpPr>
        <p:spPr>
          <a:xfrm>
            <a:off x="6117271" y="1755240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280D6B-A493-B50D-6102-60F01F48D8A0}"/>
              </a:ext>
            </a:extLst>
          </p:cNvPr>
          <p:cNvSpPr/>
          <p:nvPr/>
        </p:nvSpPr>
        <p:spPr>
          <a:xfrm>
            <a:off x="4696404" y="252561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1647AD-5264-3752-FF91-059E5BCA3708}"/>
              </a:ext>
            </a:extLst>
          </p:cNvPr>
          <p:cNvSpPr/>
          <p:nvPr/>
        </p:nvSpPr>
        <p:spPr>
          <a:xfrm>
            <a:off x="6117271" y="2891205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4A4E52-5CC0-E26E-BB4B-1284EC401A2D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69781" y="2156565"/>
            <a:ext cx="642883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E0EDC7-D54D-86FD-E73A-2B673422E132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053521" y="1518487"/>
            <a:ext cx="642883" cy="64423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6F639B-CEF2-AD1A-1905-EC330712E31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053521" y="2162723"/>
            <a:ext cx="642883" cy="72848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4D540E-D974-4C58-2F02-C324EC3D9415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 flipV="1">
            <a:off x="5509204" y="2120834"/>
            <a:ext cx="608067" cy="770371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004772-701D-7DA4-3F46-77B19AC359B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509204" y="2891205"/>
            <a:ext cx="608067" cy="36559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16743-3703-55E0-B393-1DBB56F45F67}"/>
              </a:ext>
            </a:extLst>
          </p:cNvPr>
          <p:cNvSpPr/>
          <p:nvPr/>
        </p:nvSpPr>
        <p:spPr>
          <a:xfrm>
            <a:off x="456981" y="442012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D4181B-D546-5C5A-0D53-C022F36D103C}"/>
              </a:ext>
            </a:extLst>
          </p:cNvPr>
          <p:cNvSpPr/>
          <p:nvPr/>
        </p:nvSpPr>
        <p:spPr>
          <a:xfrm>
            <a:off x="1912664" y="442012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CAAF12-7832-737E-0C39-164065D21AE6}"/>
              </a:ext>
            </a:extLst>
          </p:cNvPr>
          <p:cNvSpPr/>
          <p:nvPr/>
        </p:nvSpPr>
        <p:spPr>
          <a:xfrm>
            <a:off x="4696404" y="3782046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15BEF5-3CF6-7096-EA49-DC6E81136CAB}"/>
              </a:ext>
            </a:extLst>
          </p:cNvPr>
          <p:cNvSpPr/>
          <p:nvPr/>
        </p:nvSpPr>
        <p:spPr>
          <a:xfrm>
            <a:off x="6117271" y="428696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B6B595-DCA9-531E-21FA-9C910FCEE97A}"/>
              </a:ext>
            </a:extLst>
          </p:cNvPr>
          <p:cNvSpPr/>
          <p:nvPr/>
        </p:nvSpPr>
        <p:spPr>
          <a:xfrm>
            <a:off x="4696404" y="515476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0D4B81-B036-4B1C-4FEA-29DFFB1819C6}"/>
              </a:ext>
            </a:extLst>
          </p:cNvPr>
          <p:cNvSpPr/>
          <p:nvPr/>
        </p:nvSpPr>
        <p:spPr>
          <a:xfrm>
            <a:off x="6117271" y="5520358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23C1F8-218A-D7EB-F8A1-DE95418203B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269781" y="4785718"/>
            <a:ext cx="642883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1E695E-2CD6-11C6-3647-49109DFEDC81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053521" y="4147640"/>
            <a:ext cx="642883" cy="64423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1E6184-65E6-94E0-705D-61C00297F89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053521" y="4791876"/>
            <a:ext cx="642883" cy="72848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7A1C92-B6BD-9092-1612-2032EC680FB9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 flipV="1">
            <a:off x="5509204" y="4652555"/>
            <a:ext cx="608067" cy="867803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608006-7476-E865-04A6-CB7734246C1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5509204" y="5520358"/>
            <a:ext cx="608067" cy="36559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D9CB31D-154D-DE68-561C-384781CA1FF8}"/>
              </a:ext>
            </a:extLst>
          </p:cNvPr>
          <p:cNvCxnSpPr>
            <a:cxnSpLocks/>
            <a:stCxn id="18" idx="3"/>
            <a:endCxn id="15" idx="2"/>
          </p:cNvCxnSpPr>
          <p:nvPr/>
        </p:nvCxnSpPr>
        <p:spPr>
          <a:xfrm flipH="1">
            <a:off x="863381" y="4652555"/>
            <a:ext cx="6066690" cy="498757"/>
          </a:xfrm>
          <a:prstGeom prst="bentConnector4">
            <a:avLst>
              <a:gd name="adj1" fmla="val -3768"/>
              <a:gd name="adj2" fmla="val 366273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8565B3-3060-664C-12B5-133810D6D26D}"/>
                  </a:ext>
                </a:extLst>
              </p:cNvPr>
              <p:cNvSpPr txBox="1"/>
              <p:nvPr/>
            </p:nvSpPr>
            <p:spPr>
              <a:xfrm>
                <a:off x="1402757" y="1805998"/>
                <a:ext cx="1224548" cy="359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73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33" dirty="0"/>
                  <a:t> 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8565B3-3060-664C-12B5-133810D6D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57" y="1805998"/>
                <a:ext cx="1224548" cy="3590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A7E30E-6749-7DE1-BF25-FC768CA850D2}"/>
                  </a:ext>
                </a:extLst>
              </p:cNvPr>
              <p:cNvSpPr txBox="1"/>
              <p:nvPr/>
            </p:nvSpPr>
            <p:spPr>
              <a:xfrm>
                <a:off x="3677890" y="1354560"/>
                <a:ext cx="1428961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r>
                  <a:rPr lang="en-US" sz="1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sz="1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A7E30E-6749-7DE1-BF25-FC768CA85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890" y="1354560"/>
                <a:ext cx="1428961" cy="630942"/>
              </a:xfrm>
              <a:prstGeom prst="rect">
                <a:avLst/>
              </a:prstGeom>
              <a:blipFill>
                <a:blip r:embed="rId3"/>
                <a:stretch>
                  <a:fillRect l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7710DC-C611-48F0-A0B5-D34598EE74D9}"/>
                  </a:ext>
                </a:extLst>
              </p:cNvPr>
              <p:cNvSpPr txBox="1"/>
              <p:nvPr/>
            </p:nvSpPr>
            <p:spPr>
              <a:xfrm>
                <a:off x="3495943" y="5284933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7710DC-C611-48F0-A0B5-D34598EE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943" y="5284933"/>
                <a:ext cx="1521464" cy="630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1DADB9-EEBB-4C42-6AE5-D661F3505454}"/>
                  </a:ext>
                </a:extLst>
              </p:cNvPr>
              <p:cNvSpPr txBox="1"/>
              <p:nvPr/>
            </p:nvSpPr>
            <p:spPr>
              <a:xfrm>
                <a:off x="5821204" y="1402312"/>
                <a:ext cx="198772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1DADB9-EEBB-4C42-6AE5-D661F3505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204" y="1402312"/>
                <a:ext cx="198772" cy="261610"/>
              </a:xfrm>
              <a:prstGeom prst="rect">
                <a:avLst/>
              </a:prstGeom>
              <a:blipFill>
                <a:blip r:embed="rId5"/>
                <a:stretch>
                  <a:fillRect l="-11765" r="-11765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E9142C-2791-6776-F6E4-153858212D8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509204" y="1518487"/>
            <a:ext cx="608067" cy="60234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FB07DD0-EB2D-5CEE-30E7-3B1BE5AA12B0}"/>
              </a:ext>
            </a:extLst>
          </p:cNvPr>
          <p:cNvCxnSpPr>
            <a:cxnSpLocks/>
          </p:cNvCxnSpPr>
          <p:nvPr/>
        </p:nvCxnSpPr>
        <p:spPr>
          <a:xfrm>
            <a:off x="5509204" y="4068447"/>
            <a:ext cx="608067" cy="60234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C28921B-8A7F-0A0F-04DD-9B2C2489C7A8}"/>
                  </a:ext>
                </a:extLst>
              </p:cNvPr>
              <p:cNvSpPr txBox="1"/>
              <p:nvPr/>
            </p:nvSpPr>
            <p:spPr>
              <a:xfrm>
                <a:off x="5636008" y="3053125"/>
                <a:ext cx="216727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7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C28921B-8A7F-0A0F-04DD-9B2C2489C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008" y="3053125"/>
                <a:ext cx="216727" cy="630942"/>
              </a:xfrm>
              <a:prstGeom prst="rect">
                <a:avLst/>
              </a:prstGeom>
              <a:blipFill>
                <a:blip r:embed="rId6"/>
                <a:stretch>
                  <a:fillRect l="-29412" r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021F0B-3CFF-4D77-0F7C-078EA87DEA12}"/>
                  </a:ext>
                </a:extLst>
              </p:cNvPr>
              <p:cNvSpPr txBox="1"/>
              <p:nvPr/>
            </p:nvSpPr>
            <p:spPr>
              <a:xfrm>
                <a:off x="5000934" y="2169011"/>
                <a:ext cx="91313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021F0B-3CFF-4D77-0F7C-078EA87DE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934" y="2169011"/>
                <a:ext cx="913137" cy="261610"/>
              </a:xfrm>
              <a:prstGeom prst="rect">
                <a:avLst/>
              </a:prstGeom>
              <a:blipFill>
                <a:blip r:embed="rId7"/>
                <a:stretch>
                  <a:fillRect l="-10959" r="-6849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37075B-03FC-B0C0-9CB1-C69E5CD8B656}"/>
                  </a:ext>
                </a:extLst>
              </p:cNvPr>
              <p:cNvSpPr txBox="1"/>
              <p:nvPr/>
            </p:nvSpPr>
            <p:spPr>
              <a:xfrm>
                <a:off x="3726094" y="3479763"/>
                <a:ext cx="244683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37075B-03FC-B0C0-9CB1-C69E5CD8B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094" y="3479763"/>
                <a:ext cx="244683" cy="261610"/>
              </a:xfrm>
              <a:prstGeom prst="rect">
                <a:avLst/>
              </a:prstGeom>
              <a:blipFill>
                <a:blip r:embed="rId8"/>
                <a:stretch>
                  <a:fillRect l="-5000"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F72CFE-780E-0D90-86FA-0C24B2A0425B}"/>
                  </a:ext>
                </a:extLst>
              </p:cNvPr>
              <p:cNvSpPr txBox="1"/>
              <p:nvPr/>
            </p:nvSpPr>
            <p:spPr>
              <a:xfrm>
                <a:off x="3342659" y="6227609"/>
                <a:ext cx="1256236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</m:t>
                      </m:r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F72CFE-780E-0D90-86FA-0C24B2A04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59" y="6227609"/>
                <a:ext cx="1256236" cy="261610"/>
              </a:xfrm>
              <a:prstGeom prst="rect">
                <a:avLst/>
              </a:prstGeom>
              <a:blipFill>
                <a:blip r:embed="rId9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B143697B-34EB-BF30-0C92-C1A9D5BB7284}"/>
              </a:ext>
            </a:extLst>
          </p:cNvPr>
          <p:cNvCxnSpPr>
            <a:cxnSpLocks/>
            <a:stCxn id="7" idx="3"/>
            <a:endCxn id="15" idx="0"/>
          </p:cNvCxnSpPr>
          <p:nvPr/>
        </p:nvCxnSpPr>
        <p:spPr>
          <a:xfrm flipH="1">
            <a:off x="863381" y="2120834"/>
            <a:ext cx="6066690" cy="2299290"/>
          </a:xfrm>
          <a:prstGeom prst="bentConnector4">
            <a:avLst>
              <a:gd name="adj1" fmla="val -3768"/>
              <a:gd name="adj2" fmla="val 69313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7C7D4E-9030-6A1A-F482-9166D4F894E2}"/>
                  </a:ext>
                </a:extLst>
              </p:cNvPr>
              <p:cNvSpPr txBox="1"/>
              <p:nvPr/>
            </p:nvSpPr>
            <p:spPr>
              <a:xfrm>
                <a:off x="1227492" y="4439283"/>
                <a:ext cx="1224548" cy="359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733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  <m:r>
                      <a:rPr lang="en-US" sz="1733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73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33" dirty="0"/>
                  <a:t> </a:t>
                </a: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7C7D4E-9030-6A1A-F482-9166D4F89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92" y="4439283"/>
                <a:ext cx="1224548" cy="3590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D554BC4-80FA-5FD0-EFB0-929A0247A547}"/>
                  </a:ext>
                </a:extLst>
              </p:cNvPr>
              <p:cNvSpPr txBox="1"/>
              <p:nvPr/>
            </p:nvSpPr>
            <p:spPr>
              <a:xfrm>
                <a:off x="3625964" y="3989119"/>
                <a:ext cx="1428961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r>
                  <a:rPr lang="en-US" sz="1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sz="1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D554BC4-80FA-5FD0-EFB0-929A0247A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964" y="3989119"/>
                <a:ext cx="1428961" cy="630942"/>
              </a:xfrm>
              <a:prstGeom prst="rect">
                <a:avLst/>
              </a:prstGeom>
              <a:blipFill>
                <a:blip r:embed="rId11"/>
                <a:stretch>
                  <a:fillRect l="-4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E19EB1C-E598-FDD5-286B-433E74FAB114}"/>
                  </a:ext>
                </a:extLst>
              </p:cNvPr>
              <p:cNvSpPr txBox="1"/>
              <p:nvPr/>
            </p:nvSpPr>
            <p:spPr>
              <a:xfrm>
                <a:off x="5721818" y="4037113"/>
                <a:ext cx="198772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E19EB1C-E598-FDD5-286B-433E74FAB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818" y="4037113"/>
                <a:ext cx="198772" cy="261610"/>
              </a:xfrm>
              <a:prstGeom prst="rect">
                <a:avLst/>
              </a:prstGeom>
              <a:blipFill>
                <a:blip r:embed="rId12"/>
                <a:stretch>
                  <a:fillRect l="-17647" r="-11765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4DBE2C-BC44-A452-7041-7BE6F1274BF8}"/>
                  </a:ext>
                </a:extLst>
              </p:cNvPr>
              <p:cNvSpPr txBox="1"/>
              <p:nvPr/>
            </p:nvSpPr>
            <p:spPr>
              <a:xfrm>
                <a:off x="4911195" y="4780018"/>
                <a:ext cx="91313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4DBE2C-BC44-A452-7041-7BE6F1274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195" y="4780018"/>
                <a:ext cx="913137" cy="261610"/>
              </a:xfrm>
              <a:prstGeom prst="rect">
                <a:avLst/>
              </a:prstGeom>
              <a:blipFill>
                <a:blip r:embed="rId13"/>
                <a:stretch>
                  <a:fillRect l="-10959" r="-6849" b="-38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8B141A2-F077-57DD-DF8E-8522928604C7}"/>
                  </a:ext>
                </a:extLst>
              </p:cNvPr>
              <p:cNvSpPr txBox="1"/>
              <p:nvPr/>
            </p:nvSpPr>
            <p:spPr>
              <a:xfrm>
                <a:off x="5687516" y="5727472"/>
                <a:ext cx="216727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7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8B141A2-F077-57DD-DF8E-852292860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516" y="5727472"/>
                <a:ext cx="216727" cy="630942"/>
              </a:xfrm>
              <a:prstGeom prst="rect">
                <a:avLst/>
              </a:prstGeom>
              <a:blipFill>
                <a:blip r:embed="rId14"/>
                <a:stretch>
                  <a:fillRect l="-21053" r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420F0D-334D-D40B-2FBA-C1B74ABE33CC}"/>
                  </a:ext>
                </a:extLst>
              </p:cNvPr>
              <p:cNvSpPr txBox="1"/>
              <p:nvPr/>
            </p:nvSpPr>
            <p:spPr>
              <a:xfrm>
                <a:off x="3591238" y="2737633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420F0D-334D-D40B-2FBA-C1B74ABE3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238" y="2737633"/>
                <a:ext cx="1521464" cy="63094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725F73B2-0590-2801-9355-F27E6BD2802D}"/>
              </a:ext>
            </a:extLst>
          </p:cNvPr>
          <p:cNvSpPr/>
          <p:nvPr/>
        </p:nvSpPr>
        <p:spPr>
          <a:xfrm>
            <a:off x="3240721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713BFB-87FF-CEEC-322C-13CD539DD721}"/>
              </a:ext>
            </a:extLst>
          </p:cNvPr>
          <p:cNvSpPr/>
          <p:nvPr/>
        </p:nvSpPr>
        <p:spPr>
          <a:xfrm>
            <a:off x="3240721" y="4432698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079CB2F-F24C-3B12-4DE1-15F082BC5031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2736162" y="4798292"/>
            <a:ext cx="504559" cy="447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3052295-E415-3EA4-355D-93B0B94DA9E2}"/>
              </a:ext>
            </a:extLst>
          </p:cNvPr>
          <p:cNvCxnSpPr>
            <a:cxnSpLocks/>
            <a:stCxn id="5" idx="3"/>
            <a:endCxn id="46" idx="1"/>
          </p:cNvCxnSpPr>
          <p:nvPr/>
        </p:nvCxnSpPr>
        <p:spPr>
          <a:xfrm>
            <a:off x="2725464" y="2156565"/>
            <a:ext cx="515257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921A6F3-F89F-A4F2-1E35-CDBB016691F3}"/>
                  </a:ext>
                </a:extLst>
              </p:cNvPr>
              <p:cNvSpPr txBox="1"/>
              <p:nvPr/>
            </p:nvSpPr>
            <p:spPr>
              <a:xfrm>
                <a:off x="2188015" y="1886951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921A6F3-F89F-A4F2-1E35-CDBB0166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15" y="1886951"/>
                <a:ext cx="1521464" cy="63094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29A23A5-F71A-A9CD-CA3C-1E3B5923871B}"/>
                  </a:ext>
                </a:extLst>
              </p:cNvPr>
              <p:cNvSpPr txBox="1"/>
              <p:nvPr/>
            </p:nvSpPr>
            <p:spPr>
              <a:xfrm>
                <a:off x="2221587" y="4489108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29A23A5-F71A-A9CD-CA3C-1E3B59238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587" y="4489108"/>
                <a:ext cx="1521464" cy="63094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583C73C-0AF1-874C-6E1E-F54A397F1C11}"/>
                  </a:ext>
                </a:extLst>
              </p:cNvPr>
              <p:cNvSpPr txBox="1"/>
              <p:nvPr/>
            </p:nvSpPr>
            <p:spPr>
              <a:xfrm>
                <a:off x="7357628" y="1584181"/>
                <a:ext cx="4860690" cy="4247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Separate infections into 2 compartments: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 – Non-Severe Infection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H – Severe Infection (Hospitalization)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Add Catarrhal Phase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force of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incubation period to catarrhal phase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p: probability of severe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vaccination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latent period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recovery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death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waning of immunity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susceptibility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immunity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aging rate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583C73C-0AF1-874C-6E1E-F54A397F1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628" y="1584181"/>
                <a:ext cx="4860690" cy="4247317"/>
              </a:xfrm>
              <a:prstGeom prst="rect">
                <a:avLst/>
              </a:prstGeom>
              <a:blipFill>
                <a:blip r:embed="rId18"/>
                <a:stretch>
                  <a:fillRect l="-783" t="-595" r="-261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629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F432A-0B51-44E1-E188-F4937ABF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73931"/>
            <a:ext cx="10515600" cy="1325563"/>
          </a:xfrm>
        </p:spPr>
        <p:txBody>
          <a:bodyPr/>
          <a:lstStyle/>
          <a:p>
            <a:r>
              <a:rPr lang="en-US" dirty="0"/>
              <a:t>Current Goals: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E06C-4F57-39E1-6F28-33AC04F05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2" y="1085397"/>
            <a:ext cx="10515600" cy="4351338"/>
          </a:xfrm>
        </p:spPr>
        <p:txBody>
          <a:bodyPr/>
          <a:lstStyle/>
          <a:p>
            <a:r>
              <a:rPr lang="en-US" dirty="0"/>
              <a:t>Add Seasonality into Model </a:t>
            </a:r>
          </a:p>
          <a:p>
            <a:pPr lvl="1"/>
            <a:r>
              <a:rPr lang="en-US" dirty="0"/>
              <a:t>Calibrate seasonality on Illinois mortality data</a:t>
            </a:r>
          </a:p>
          <a:p>
            <a:r>
              <a:rPr lang="en-US" dirty="0"/>
              <a:t>Adapt code to updated SEIR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120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280</Words>
  <Application>Microsoft Macintosh PowerPoint</Application>
  <PresentationFormat>Widescreen</PresentationFormat>
  <Paragraphs>91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Office Theme</vt:lpstr>
      <vt:lpstr>SHIELD Meeting 6/25</vt:lpstr>
      <vt:lpstr>COVID/Flu/RSV SEIR Model</vt:lpstr>
      <vt:lpstr>Pertussis SEIR Model</vt:lpstr>
      <vt:lpstr>Current Goals: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Anastasi, Alyssa Rose</dc:creator>
  <cp:lastModifiedBy>Anastasi, Alyssa Rose</cp:lastModifiedBy>
  <cp:revision>4</cp:revision>
  <dcterms:created xsi:type="dcterms:W3CDTF">2025-06-25T20:14:24Z</dcterms:created>
  <dcterms:modified xsi:type="dcterms:W3CDTF">2025-06-26T01:11:40Z</dcterms:modified>
</cp:coreProperties>
</file>