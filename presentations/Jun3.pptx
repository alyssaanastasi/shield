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318" r:id="rId3"/>
    <p:sldId id="309" r:id="rId4"/>
    <p:sldId id="316" r:id="rId5"/>
    <p:sldId id="302" r:id="rId6"/>
    <p:sldId id="319" r:id="rId7"/>
    <p:sldId id="317" r:id="rId8"/>
    <p:sldId id="320" r:id="rId9"/>
    <p:sldId id="321" r:id="rId10"/>
    <p:sldId id="322" r:id="rId11"/>
    <p:sldId id="323" r:id="rId12"/>
    <p:sldId id="324" r:id="rId13"/>
    <p:sldId id="325" r:id="rId14"/>
    <p:sldId id="32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60"/>
    <p:restoredTop sz="94660"/>
  </p:normalViewPr>
  <p:slideViewPr>
    <p:cSldViewPr snapToGrid="0">
      <p:cViewPr>
        <p:scale>
          <a:sx n="133" d="100"/>
          <a:sy n="133" d="100"/>
        </p:scale>
        <p:origin x="32" y="-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48FDD1-4BDF-AF43-8971-15A377758461}" type="datetimeFigureOut">
              <a:rPr lang="en-US" smtClean="0"/>
              <a:t>6/25/25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18428F-AA95-5B49-AD2B-EB1CB77C1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472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A302998A-B73D-04F5-EB20-1A3C765E1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54dda1946d_6_322:notes">
            <a:extLst>
              <a:ext uri="{FF2B5EF4-FFF2-40B4-BE49-F238E27FC236}">
                <a16:creationId xmlns:a16="http://schemas.microsoft.com/office/drawing/2014/main" id="{3B25BCE6-C26E-C492-29F8-576BD214A2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54dda1946d_6_322:notes">
            <a:extLst>
              <a:ext uri="{FF2B5EF4-FFF2-40B4-BE49-F238E27FC236}">
                <a16:creationId xmlns:a16="http://schemas.microsoft.com/office/drawing/2014/main" id="{C4B1164F-8891-7B5D-6D57-C665F16E81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Walk through flow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Explain 2</a:t>
            </a:r>
            <a:r>
              <a:rPr lang="en-US" baseline="30000" dirty="0"/>
              <a:t>nd</a:t>
            </a:r>
            <a:r>
              <a:rPr lang="en-US" dirty="0"/>
              <a:t> group : base immunity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45168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6ADCFB8B-5932-4472-B899-6F7E9A3CB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54dda1946d_6_322:notes">
            <a:extLst>
              <a:ext uri="{FF2B5EF4-FFF2-40B4-BE49-F238E27FC236}">
                <a16:creationId xmlns:a16="http://schemas.microsoft.com/office/drawing/2014/main" id="{9FC4781C-4B27-2A13-F898-3ECEA3BACB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54dda1946d_6_322:notes">
            <a:extLst>
              <a:ext uri="{FF2B5EF4-FFF2-40B4-BE49-F238E27FC236}">
                <a16:creationId xmlns:a16="http://schemas.microsoft.com/office/drawing/2014/main" id="{82EFEB6A-E8CA-CB8E-A94F-DF4F53281A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Walk through flow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Explain 2</a:t>
            </a:r>
            <a:r>
              <a:rPr lang="en-US" baseline="30000" dirty="0"/>
              <a:t>nd</a:t>
            </a:r>
            <a:r>
              <a:rPr lang="en-US" dirty="0"/>
              <a:t> group : base immunity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28572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FC038043-F5C0-0617-D27C-BB0E623B8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54dda1946d_6_322:notes">
            <a:extLst>
              <a:ext uri="{FF2B5EF4-FFF2-40B4-BE49-F238E27FC236}">
                <a16:creationId xmlns:a16="http://schemas.microsoft.com/office/drawing/2014/main" id="{9CE78ABB-96F2-AC38-0FA0-A0885F659E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54dda1946d_6_322:notes">
            <a:extLst>
              <a:ext uri="{FF2B5EF4-FFF2-40B4-BE49-F238E27FC236}">
                <a16:creationId xmlns:a16="http://schemas.microsoft.com/office/drawing/2014/main" id="{5985C0CB-660D-9AD6-F1BE-39E054788C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Key Points: High exposed group, especially in children </a:t>
            </a:r>
          </a:p>
        </p:txBody>
      </p:sp>
    </p:spTree>
    <p:extLst>
      <p:ext uri="{BB962C8B-B14F-4D97-AF65-F5344CB8AC3E}">
        <p14:creationId xmlns:p14="http://schemas.microsoft.com/office/powerpoint/2010/main" val="28528120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E797CF6C-C111-ACE3-F0E0-74F7528DE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54dda1946d_6_322:notes">
            <a:extLst>
              <a:ext uri="{FF2B5EF4-FFF2-40B4-BE49-F238E27FC236}">
                <a16:creationId xmlns:a16="http://schemas.microsoft.com/office/drawing/2014/main" id="{C5CDFE08-33FA-8981-B43B-358EEB3D8A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54dda1946d_6_322:notes">
            <a:extLst>
              <a:ext uri="{FF2B5EF4-FFF2-40B4-BE49-F238E27FC236}">
                <a16:creationId xmlns:a16="http://schemas.microsoft.com/office/drawing/2014/main" id="{A5C52161-F368-69E0-4F07-979418BEC5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Key Points: High exposed group, especially in children </a:t>
            </a:r>
          </a:p>
        </p:txBody>
      </p:sp>
    </p:spTree>
    <p:extLst>
      <p:ext uri="{BB962C8B-B14F-4D97-AF65-F5344CB8AC3E}">
        <p14:creationId xmlns:p14="http://schemas.microsoft.com/office/powerpoint/2010/main" val="18092101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DB0339E6-CA7A-DA71-4EB8-9F72C82DA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54dda1946d_6_322:notes">
            <a:extLst>
              <a:ext uri="{FF2B5EF4-FFF2-40B4-BE49-F238E27FC236}">
                <a16:creationId xmlns:a16="http://schemas.microsoft.com/office/drawing/2014/main" id="{323C5C29-894D-0625-C48A-04625FA66D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54dda1946d_6_322:notes">
            <a:extLst>
              <a:ext uri="{FF2B5EF4-FFF2-40B4-BE49-F238E27FC236}">
                <a16:creationId xmlns:a16="http://schemas.microsoft.com/office/drawing/2014/main" id="{74B7BADB-D1C9-9CDB-BC17-D465E0CF03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Key Points: High exposed group, especially in children </a:t>
            </a:r>
          </a:p>
        </p:txBody>
      </p:sp>
    </p:spTree>
    <p:extLst>
      <p:ext uri="{BB962C8B-B14F-4D97-AF65-F5344CB8AC3E}">
        <p14:creationId xmlns:p14="http://schemas.microsoft.com/office/powerpoint/2010/main" val="25606823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87D16CB2-8452-DAFB-6D9A-332DCD157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54dda1946d_6_322:notes">
            <a:extLst>
              <a:ext uri="{FF2B5EF4-FFF2-40B4-BE49-F238E27FC236}">
                <a16:creationId xmlns:a16="http://schemas.microsoft.com/office/drawing/2014/main" id="{025759F7-4A82-9AE3-1EAE-855EDDCA92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54dda1946d_6_322:notes">
            <a:extLst>
              <a:ext uri="{FF2B5EF4-FFF2-40B4-BE49-F238E27FC236}">
                <a16:creationId xmlns:a16="http://schemas.microsoft.com/office/drawing/2014/main" id="{964D33F9-7D87-1CFA-70CB-B46528684E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Key Points: High exposed group, especially in children </a:t>
            </a:r>
          </a:p>
        </p:txBody>
      </p:sp>
    </p:spTree>
    <p:extLst>
      <p:ext uri="{BB962C8B-B14F-4D97-AF65-F5344CB8AC3E}">
        <p14:creationId xmlns:p14="http://schemas.microsoft.com/office/powerpoint/2010/main" val="15440364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0AFC4FEE-9C57-D61C-835C-EBFC1855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54dda1946d_6_322:notes">
            <a:extLst>
              <a:ext uri="{FF2B5EF4-FFF2-40B4-BE49-F238E27FC236}">
                <a16:creationId xmlns:a16="http://schemas.microsoft.com/office/drawing/2014/main" id="{20CE4D0C-7FE5-2B52-DA6E-0C589ECA15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54dda1946d_6_322:notes">
            <a:extLst>
              <a:ext uri="{FF2B5EF4-FFF2-40B4-BE49-F238E27FC236}">
                <a16:creationId xmlns:a16="http://schemas.microsoft.com/office/drawing/2014/main" id="{502F6CEE-684D-FFF8-89FE-563A3E232A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Key Points: High exposed group, especially in children </a:t>
            </a:r>
          </a:p>
        </p:txBody>
      </p:sp>
    </p:spTree>
    <p:extLst>
      <p:ext uri="{BB962C8B-B14F-4D97-AF65-F5344CB8AC3E}">
        <p14:creationId xmlns:p14="http://schemas.microsoft.com/office/powerpoint/2010/main" val="35051234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5075235F-4FA7-8141-2CF9-71183E89A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54dda1946d_6_322:notes">
            <a:extLst>
              <a:ext uri="{FF2B5EF4-FFF2-40B4-BE49-F238E27FC236}">
                <a16:creationId xmlns:a16="http://schemas.microsoft.com/office/drawing/2014/main" id="{CF0D084F-049B-75EC-2B41-1F6EEA173B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54dda1946d_6_322:notes">
            <a:extLst>
              <a:ext uri="{FF2B5EF4-FFF2-40B4-BE49-F238E27FC236}">
                <a16:creationId xmlns:a16="http://schemas.microsoft.com/office/drawing/2014/main" id="{68C9E05E-C74A-7FBA-E909-4121E502FD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Key Points: High exposed group, especially in children </a:t>
            </a:r>
          </a:p>
        </p:txBody>
      </p:sp>
    </p:spTree>
    <p:extLst>
      <p:ext uri="{BB962C8B-B14F-4D97-AF65-F5344CB8AC3E}">
        <p14:creationId xmlns:p14="http://schemas.microsoft.com/office/powerpoint/2010/main" val="6388043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C8AE68A9-F953-0D5D-0759-3DDB8C910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54dda1946d_6_322:notes">
            <a:extLst>
              <a:ext uri="{FF2B5EF4-FFF2-40B4-BE49-F238E27FC236}">
                <a16:creationId xmlns:a16="http://schemas.microsoft.com/office/drawing/2014/main" id="{1A309E96-CE17-9490-C035-BCA00F0AEA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54dda1946d_6_322:notes">
            <a:extLst>
              <a:ext uri="{FF2B5EF4-FFF2-40B4-BE49-F238E27FC236}">
                <a16:creationId xmlns:a16="http://schemas.microsoft.com/office/drawing/2014/main" id="{654AAFD9-9029-535A-2AE7-3091632EF0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Key Points: High exposed group, especially in children </a:t>
            </a:r>
          </a:p>
        </p:txBody>
      </p:sp>
    </p:spTree>
    <p:extLst>
      <p:ext uri="{BB962C8B-B14F-4D97-AF65-F5344CB8AC3E}">
        <p14:creationId xmlns:p14="http://schemas.microsoft.com/office/powerpoint/2010/main" val="9446918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E73B9E8A-D7E2-25B2-6838-C3A12E424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54dda1946d_6_322:notes">
            <a:extLst>
              <a:ext uri="{FF2B5EF4-FFF2-40B4-BE49-F238E27FC236}">
                <a16:creationId xmlns:a16="http://schemas.microsoft.com/office/drawing/2014/main" id="{C8C39D9D-2D2C-E623-1116-8C89677BE5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54dda1946d_6_322:notes">
            <a:extLst>
              <a:ext uri="{FF2B5EF4-FFF2-40B4-BE49-F238E27FC236}">
                <a16:creationId xmlns:a16="http://schemas.microsoft.com/office/drawing/2014/main" id="{456ACA4B-F290-AB97-DAB1-8DE46D0999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Key Points: High exposed group, especially in children </a:t>
            </a:r>
          </a:p>
        </p:txBody>
      </p:sp>
    </p:spTree>
    <p:extLst>
      <p:ext uri="{BB962C8B-B14F-4D97-AF65-F5344CB8AC3E}">
        <p14:creationId xmlns:p14="http://schemas.microsoft.com/office/powerpoint/2010/main" val="39214937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F67983A3-5509-CBC5-FEDA-669BD9AD1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54dda1946d_6_322:notes">
            <a:extLst>
              <a:ext uri="{FF2B5EF4-FFF2-40B4-BE49-F238E27FC236}">
                <a16:creationId xmlns:a16="http://schemas.microsoft.com/office/drawing/2014/main" id="{92BCA23F-D1B8-C162-E71D-6359C10A33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54dda1946d_6_322:notes">
            <a:extLst>
              <a:ext uri="{FF2B5EF4-FFF2-40B4-BE49-F238E27FC236}">
                <a16:creationId xmlns:a16="http://schemas.microsoft.com/office/drawing/2014/main" id="{D4ADFE3A-0981-D297-1616-32162929D8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Key Points: High exposed group, especially in children </a:t>
            </a:r>
          </a:p>
        </p:txBody>
      </p:sp>
    </p:spTree>
    <p:extLst>
      <p:ext uri="{BB962C8B-B14F-4D97-AF65-F5344CB8AC3E}">
        <p14:creationId xmlns:p14="http://schemas.microsoft.com/office/powerpoint/2010/main" val="35607220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410D2095-445D-8542-062B-BEA6CE3E1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54dda1946d_6_322:notes">
            <a:extLst>
              <a:ext uri="{FF2B5EF4-FFF2-40B4-BE49-F238E27FC236}">
                <a16:creationId xmlns:a16="http://schemas.microsoft.com/office/drawing/2014/main" id="{647DF5BC-F19D-E886-4E5D-F0B390E117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54dda1946d_6_322:notes">
            <a:extLst>
              <a:ext uri="{FF2B5EF4-FFF2-40B4-BE49-F238E27FC236}">
                <a16:creationId xmlns:a16="http://schemas.microsoft.com/office/drawing/2014/main" id="{886B7E47-CFA5-01BF-12F2-02E0A43310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Key Points: High exposed group, especially in children </a:t>
            </a:r>
          </a:p>
        </p:txBody>
      </p:sp>
    </p:spTree>
    <p:extLst>
      <p:ext uri="{BB962C8B-B14F-4D97-AF65-F5344CB8AC3E}">
        <p14:creationId xmlns:p14="http://schemas.microsoft.com/office/powerpoint/2010/main" val="13737857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57DC6B6C-57DF-4093-AFD9-77E507DAE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54dda1946d_6_322:notes">
            <a:extLst>
              <a:ext uri="{FF2B5EF4-FFF2-40B4-BE49-F238E27FC236}">
                <a16:creationId xmlns:a16="http://schemas.microsoft.com/office/drawing/2014/main" id="{87044475-75D5-0CE9-3E43-2BE45B2FDE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54dda1946d_6_322:notes">
            <a:extLst>
              <a:ext uri="{FF2B5EF4-FFF2-40B4-BE49-F238E27FC236}">
                <a16:creationId xmlns:a16="http://schemas.microsoft.com/office/drawing/2014/main" id="{49EA5D78-0F34-BAB9-D366-DFFA2F4301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Key Points: High exposed group, especially in children </a:t>
            </a:r>
          </a:p>
        </p:txBody>
      </p:sp>
    </p:spTree>
    <p:extLst>
      <p:ext uri="{BB962C8B-B14F-4D97-AF65-F5344CB8AC3E}">
        <p14:creationId xmlns:p14="http://schemas.microsoft.com/office/powerpoint/2010/main" val="615641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5FA30-6144-98F6-6288-79805A5B11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F70FFE-FC0F-8724-00A0-ECC3902726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AFAB83-151F-4430-4577-3F63D44B2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F123F-B623-EC41-830C-DA402D59E38C}" type="datetimeFigureOut">
              <a:rPr lang="en-US" smtClean="0"/>
              <a:t>6/25/25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7768A8-5145-74A9-CDC2-69084AD02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99711-2ABE-4DB9-C2DE-ABEE2BC5B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4C741-A90A-5641-96A0-6D4F4AB43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316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6B04A-EC81-15E6-C0CC-7170AECEB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E95D5-C41E-199E-6CAF-287B8D068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B0AE4-A1CB-2BDF-A1CE-653966D87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F123F-B623-EC41-830C-DA402D59E38C}" type="datetimeFigureOut">
              <a:rPr lang="en-US" smtClean="0"/>
              <a:t>6/25/25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DD961-3918-2DAA-1240-BC61FC4BE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AA927-6676-4576-850D-35A089635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4C741-A90A-5641-96A0-6D4F4AB43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817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7BB13-49F6-5413-4B95-979338EB7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4C93E-F6B2-E80F-141E-2B6479405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4B108-CA62-188F-5978-157AE834A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F123F-B623-EC41-830C-DA402D59E38C}" type="datetimeFigureOut">
              <a:rPr lang="en-US" smtClean="0"/>
              <a:t>6/25/25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430E3-6275-7D98-49AE-AF6E6893F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AB39B-DB13-AD2A-1FE4-211520243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4C741-A90A-5641-96A0-6D4F4AB43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120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AF48F-EC7A-C12D-8B2F-C7E8048B0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53BF0-91C4-1A4D-865E-4662743FD3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46CC66-10F0-4787-8D06-CAC4E2CCD5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49534A-9A32-760A-74F9-095AF3D1F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F123F-B623-EC41-830C-DA402D59E38C}" type="datetimeFigureOut">
              <a:rPr lang="en-US" smtClean="0"/>
              <a:t>6/25/25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4DF40D-66FF-E9DB-28F7-ED5B75FB1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889364-2130-0011-7CDA-624B54217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4C741-A90A-5641-96A0-6D4F4AB43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702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D0EC5-CA69-08B7-E456-2FB806A01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D34890-C8AD-E74E-C313-21CFB6AB74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7A865B-C2E2-F9DA-D650-98BEE0CA60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DE2948-46BB-6233-FB63-FB719907E6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937EED-866F-4F49-F6B3-AB895E27D8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36B594-6CDA-FF9C-5EC9-2EFD9D6D3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F123F-B623-EC41-830C-DA402D59E38C}" type="datetimeFigureOut">
              <a:rPr lang="en-US" smtClean="0"/>
              <a:t>6/25/25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EE526C-4E71-FA0A-42F3-B7A4499A2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EEC1EC-5B0D-3370-18F1-D82B2EE85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4C741-A90A-5641-96A0-6D4F4AB43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21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0BD0B-209D-5664-E1B2-98A7B9AF3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774322-1296-EDD3-2836-78F4FEDC5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F123F-B623-EC41-830C-DA402D59E38C}" type="datetimeFigureOut">
              <a:rPr lang="en-US" smtClean="0"/>
              <a:t>6/25/25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0222B9-87C6-0FBF-08A4-D08FC7B25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8704BD-2ADE-5B02-8EFD-313A5BFFA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4C741-A90A-5641-96A0-6D4F4AB43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091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9F219D-DD20-FEA1-73B4-7FDC3BE8A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F123F-B623-EC41-830C-DA402D59E38C}" type="datetimeFigureOut">
              <a:rPr lang="en-US" smtClean="0"/>
              <a:t>6/25/25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D07B2A-85C1-7AF2-35A2-068FB2C14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732527-26AB-68E1-1BC7-506B10903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4C741-A90A-5641-96A0-6D4F4AB43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376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46076-3CDA-0B57-529D-868737A3C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02668-1E6A-145A-D68C-41BC78442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FABE3-075B-E2B0-26C9-342BF86FB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09FFA1-06DB-CB0F-092F-0EF8485F3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F123F-B623-EC41-830C-DA402D59E38C}" type="datetimeFigureOut">
              <a:rPr lang="en-US" smtClean="0"/>
              <a:t>6/25/25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3D41D7-61EE-2B06-E6E7-A060FDBE4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527F0E-14EA-5445-F09F-5244FA4A1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4C741-A90A-5641-96A0-6D4F4AB43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50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B9A04-CB5D-55FD-3225-268D2D47B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7D2181-87CD-190F-C097-457FFBFCE0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2CC7F4-34CA-A1F7-DBF0-FB3BAC7334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950DC9-05B8-BD5B-B49B-4EA5C5F60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F123F-B623-EC41-830C-DA402D59E38C}" type="datetimeFigureOut">
              <a:rPr lang="en-US" smtClean="0"/>
              <a:t>6/25/25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F44005-CFAA-FFAE-C5B3-488D3C12A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4E3131-376B-C64A-7FBA-04D1A07A4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4C741-A90A-5641-96A0-6D4F4AB43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318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559FD-8C6F-095D-2DF8-059FB5115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B7DE5F-AD98-36D9-6F83-E97F65F129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3AB01-9C86-8F4C-4C5B-20486D92D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F123F-B623-EC41-830C-DA402D59E38C}" type="datetimeFigureOut">
              <a:rPr lang="en-US" smtClean="0"/>
              <a:t>6/25/25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8E668-DEA4-C3B2-A667-3ED3F561B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A0A5D-6241-D28D-48B6-E2241905C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4C741-A90A-5641-96A0-6D4F4AB43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692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ABC813-4A50-1BA8-678D-0F61124AB7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34A2AB-0A4A-72E6-EED9-222212049E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B0AD4-B4B4-00BA-2C3D-64FFC2FE4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F123F-B623-EC41-830C-DA402D59E38C}" type="datetimeFigureOut">
              <a:rPr lang="en-US" smtClean="0"/>
              <a:t>6/25/25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FB9CA-7B82-865F-6AD8-6EE988D0F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FD89E-5054-961D-DAE0-4E2E4BA03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4C741-A90A-5641-96A0-6D4F4AB43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2512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950967" y="979633"/>
            <a:ext cx="4983200" cy="1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ubTitle" idx="1"/>
          </p:nvPr>
        </p:nvSpPr>
        <p:spPr>
          <a:xfrm>
            <a:off x="950967" y="2504000"/>
            <a:ext cx="5783200" cy="337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rgbClr val="E76A28"/>
              </a:buClr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E76A28"/>
              </a:buClr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E76A28"/>
              </a:buClr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E76A28"/>
              </a:buClr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999999"/>
              </a:buClr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rgbClr val="999999"/>
              </a:buClr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>
            <a:spLocks noGrp="1"/>
          </p:cNvSpPr>
          <p:nvPr>
            <p:ph type="pic" idx="2"/>
          </p:nvPr>
        </p:nvSpPr>
        <p:spPr>
          <a:xfrm>
            <a:off x="7742467" y="877884"/>
            <a:ext cx="3498400" cy="51024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40" name="Google Shape;40;p7"/>
          <p:cNvCxnSpPr/>
          <p:nvPr/>
        </p:nvCxnSpPr>
        <p:spPr>
          <a:xfrm>
            <a:off x="9548067" y="404000"/>
            <a:ext cx="2771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" name="Google Shape;41;p7"/>
          <p:cNvCxnSpPr/>
          <p:nvPr/>
        </p:nvCxnSpPr>
        <p:spPr>
          <a:xfrm rot="10800000">
            <a:off x="11691500" y="-37749"/>
            <a:ext cx="0" cy="617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948606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E78C31-508A-9800-811F-36BBC48E4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9953B-7F5B-2E24-920D-9A9CFB3173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BD378-E866-BB45-A903-B9D9D8FC77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AF123F-B623-EC41-830C-DA402D59E38C}" type="datetimeFigureOut">
              <a:rPr lang="en-US" smtClean="0"/>
              <a:t>6/25/25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BB0617-FC17-D7C6-B801-1EF41973FC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0218E-B6FA-C63D-82CA-0F4F49DA60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34C741-A90A-5641-96A0-6D4F4AB43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123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8B7F1-09CB-E108-3D2C-B50BC65EDA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SHIELD Meeting 6/3/25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4AD5EE-367A-80D0-DCBD-252A47E950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980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>
          <a:extLst>
            <a:ext uri="{FF2B5EF4-FFF2-40B4-BE49-F238E27FC236}">
              <a16:creationId xmlns:a16="http://schemas.microsoft.com/office/drawing/2014/main" id="{5CA9D55F-990A-B3AB-53B0-7FBC74449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>
            <a:extLst>
              <a:ext uri="{FF2B5EF4-FFF2-40B4-BE49-F238E27FC236}">
                <a16:creationId xmlns:a16="http://schemas.microsoft.com/office/drawing/2014/main" id="{CEAFC843-CCC2-8F37-F072-6CF565398D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967" y="466728"/>
            <a:ext cx="10728128" cy="141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>
                <a:latin typeface="Georgia Pro" panose="02040502050405020303" pitchFamily="18" charset="0"/>
              </a:rPr>
              <a:t>Age-Stratified SEIRD Model </a:t>
            </a:r>
            <a:endParaRPr i="1" dirty="0">
              <a:latin typeface="Georgia Pro" panose="020405020504050203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582ECD-C60B-1CF7-DD27-A2A6AF999981}"/>
              </a:ext>
            </a:extLst>
          </p:cNvPr>
          <p:cNvSpPr/>
          <p:nvPr/>
        </p:nvSpPr>
        <p:spPr>
          <a:xfrm>
            <a:off x="3137575" y="1692632"/>
            <a:ext cx="2186608" cy="7190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Children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8D22D9-B0AF-644A-8B10-3E23A6D979D7}"/>
              </a:ext>
            </a:extLst>
          </p:cNvPr>
          <p:cNvSpPr/>
          <p:nvPr/>
        </p:nvSpPr>
        <p:spPr>
          <a:xfrm>
            <a:off x="950967" y="3160479"/>
            <a:ext cx="2186608" cy="7190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Adults without Children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B88AB86-238B-2B65-5671-D02217251F06}"/>
              </a:ext>
            </a:extLst>
          </p:cNvPr>
          <p:cNvSpPr/>
          <p:nvPr/>
        </p:nvSpPr>
        <p:spPr>
          <a:xfrm>
            <a:off x="5366151" y="3160479"/>
            <a:ext cx="2715168" cy="7190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Adults with Children (Parents)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2D37A1C-8AAA-51EF-7DBF-A6875E1B944B}"/>
              </a:ext>
            </a:extLst>
          </p:cNvPr>
          <p:cNvSpPr/>
          <p:nvPr/>
        </p:nvSpPr>
        <p:spPr>
          <a:xfrm>
            <a:off x="3137575" y="4628325"/>
            <a:ext cx="2186608" cy="7190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Adults (50+)</a:t>
            </a:r>
          </a:p>
        </p:txBody>
      </p:sp>
      <p:cxnSp>
        <p:nvCxnSpPr>
          <p:cNvPr id="38" name="Curved Connector 37">
            <a:extLst>
              <a:ext uri="{FF2B5EF4-FFF2-40B4-BE49-F238E27FC236}">
                <a16:creationId xmlns:a16="http://schemas.microsoft.com/office/drawing/2014/main" id="{54BD9D61-7403-C551-CE8C-25166F8FB0CB}"/>
              </a:ext>
            </a:extLst>
          </p:cNvPr>
          <p:cNvCxnSpPr>
            <a:stCxn id="3" idx="1"/>
            <a:endCxn id="9" idx="0"/>
          </p:cNvCxnSpPr>
          <p:nvPr/>
        </p:nvCxnSpPr>
        <p:spPr>
          <a:xfrm rot="10800000" flipV="1">
            <a:off x="2044271" y="2052181"/>
            <a:ext cx="1093304" cy="1108297"/>
          </a:xfrm>
          <a:prstGeom prst="curvedConnector2">
            <a:avLst/>
          </a:prstGeom>
          <a:ln w="25400">
            <a:solidFill>
              <a:schemeClr val="bg1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urved Connector 38">
            <a:extLst>
              <a:ext uri="{FF2B5EF4-FFF2-40B4-BE49-F238E27FC236}">
                <a16:creationId xmlns:a16="http://schemas.microsoft.com/office/drawing/2014/main" id="{AB874985-94E2-1B15-394A-10C74E684CF2}"/>
              </a:ext>
            </a:extLst>
          </p:cNvPr>
          <p:cNvCxnSpPr>
            <a:cxnSpLocks/>
            <a:stCxn id="9" idx="2"/>
            <a:endCxn id="33" idx="1"/>
          </p:cNvCxnSpPr>
          <p:nvPr/>
        </p:nvCxnSpPr>
        <p:spPr>
          <a:xfrm rot="16200000" flipH="1">
            <a:off x="2036776" y="3887073"/>
            <a:ext cx="1108297" cy="1093304"/>
          </a:xfrm>
          <a:prstGeom prst="curvedConnector2">
            <a:avLst/>
          </a:prstGeom>
          <a:ln w="25400">
            <a:solidFill>
              <a:schemeClr val="bg1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urved Connector 41">
            <a:extLst>
              <a:ext uri="{FF2B5EF4-FFF2-40B4-BE49-F238E27FC236}">
                <a16:creationId xmlns:a16="http://schemas.microsoft.com/office/drawing/2014/main" id="{E2574EAB-9B1C-8E1F-E387-FB9384B0F709}"/>
              </a:ext>
            </a:extLst>
          </p:cNvPr>
          <p:cNvCxnSpPr>
            <a:cxnSpLocks/>
            <a:stCxn id="3" idx="3"/>
            <a:endCxn id="31" idx="0"/>
          </p:cNvCxnSpPr>
          <p:nvPr/>
        </p:nvCxnSpPr>
        <p:spPr>
          <a:xfrm>
            <a:off x="5324183" y="2052182"/>
            <a:ext cx="1399552" cy="1108297"/>
          </a:xfrm>
          <a:prstGeom prst="curvedConnector2">
            <a:avLst/>
          </a:prstGeom>
          <a:ln w="25400">
            <a:solidFill>
              <a:schemeClr val="bg1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urved Connector 44">
            <a:extLst>
              <a:ext uri="{FF2B5EF4-FFF2-40B4-BE49-F238E27FC236}">
                <a16:creationId xmlns:a16="http://schemas.microsoft.com/office/drawing/2014/main" id="{8A22C03A-CB59-57C4-617B-1C91E502219A}"/>
              </a:ext>
            </a:extLst>
          </p:cNvPr>
          <p:cNvCxnSpPr>
            <a:cxnSpLocks/>
            <a:stCxn id="31" idx="2"/>
            <a:endCxn id="33" idx="3"/>
          </p:cNvCxnSpPr>
          <p:nvPr/>
        </p:nvCxnSpPr>
        <p:spPr>
          <a:xfrm rot="5400000">
            <a:off x="5469811" y="3733950"/>
            <a:ext cx="1108297" cy="1399552"/>
          </a:xfrm>
          <a:prstGeom prst="curvedConnector2">
            <a:avLst/>
          </a:prstGeom>
          <a:ln w="25400">
            <a:solidFill>
              <a:schemeClr val="bg1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F560783-B4C4-D39C-01CA-9E667D480057}"/>
                  </a:ext>
                </a:extLst>
              </p:cNvPr>
              <p:cNvSpPr txBox="1"/>
              <p:nvPr/>
            </p:nvSpPr>
            <p:spPr>
              <a:xfrm>
                <a:off x="1779106" y="1980843"/>
                <a:ext cx="639342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𝐶𝐴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F560783-B4C4-D39C-01CA-9E667D4800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9106" y="1980843"/>
                <a:ext cx="639342" cy="1107996"/>
              </a:xfrm>
              <a:prstGeom prst="rect">
                <a:avLst/>
              </a:prstGeom>
              <a:blipFill>
                <a:blip r:embed="rId3"/>
                <a:stretch>
                  <a:fillRect l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F81B2A1-0202-C99B-3168-A8A97CF4CA10}"/>
                  </a:ext>
                </a:extLst>
              </p:cNvPr>
              <p:cNvSpPr txBox="1"/>
              <p:nvPr/>
            </p:nvSpPr>
            <p:spPr>
              <a:xfrm>
                <a:off x="7970549" y="2231720"/>
                <a:ext cx="3574089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aging rate</a:t>
                </a:r>
              </a:p>
              <a:p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F81B2A1-0202-C99B-3168-A8A97CF4C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0549" y="2231720"/>
                <a:ext cx="3574089" cy="2308324"/>
              </a:xfrm>
              <a:prstGeom prst="rect">
                <a:avLst/>
              </a:prstGeom>
              <a:blipFill>
                <a:blip r:embed="rId4"/>
                <a:stretch>
                  <a:fillRect l="-707" t="-21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56C1A1D-CD9F-E05E-7EF9-CE2E968E6670}"/>
                  </a:ext>
                </a:extLst>
              </p:cNvPr>
              <p:cNvSpPr txBox="1"/>
              <p:nvPr/>
            </p:nvSpPr>
            <p:spPr>
              <a:xfrm>
                <a:off x="6248799" y="1980843"/>
                <a:ext cx="421312" cy="11079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56C1A1D-CD9F-E05E-7EF9-CE2E968E66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799" y="1980843"/>
                <a:ext cx="421312" cy="1107996"/>
              </a:xfrm>
              <a:prstGeom prst="rect">
                <a:avLst/>
              </a:prstGeom>
              <a:blipFill>
                <a:blip r:embed="rId5"/>
                <a:stretch>
                  <a:fillRect l="-14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F7CE7E7-F977-6DB8-C8F1-9CF59FE3AF72}"/>
                  </a:ext>
                </a:extLst>
              </p:cNvPr>
              <p:cNvSpPr txBox="1"/>
              <p:nvPr/>
            </p:nvSpPr>
            <p:spPr>
              <a:xfrm>
                <a:off x="1779105" y="4628325"/>
                <a:ext cx="470578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F7CE7E7-F977-6DB8-C8F1-9CF59FE3A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9105" y="4628325"/>
                <a:ext cx="470578" cy="1107996"/>
              </a:xfrm>
              <a:prstGeom prst="rect">
                <a:avLst/>
              </a:prstGeom>
              <a:blipFill>
                <a:blip r:embed="rId6"/>
                <a:stretch>
                  <a:fillRect l="-7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1CE356D-5947-D9FA-E055-A343D3A9A091}"/>
                  </a:ext>
                </a:extLst>
              </p:cNvPr>
              <p:cNvSpPr txBox="1"/>
              <p:nvPr/>
            </p:nvSpPr>
            <p:spPr>
              <a:xfrm>
                <a:off x="6259315" y="4598675"/>
                <a:ext cx="461729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1CE356D-5947-D9FA-E055-A343D3A9A0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9315" y="4598675"/>
                <a:ext cx="461729" cy="1107996"/>
              </a:xfrm>
              <a:prstGeom prst="rect">
                <a:avLst/>
              </a:prstGeom>
              <a:blipFill>
                <a:blip r:embed="rId7"/>
                <a:stretch>
                  <a:fillRect l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6183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>
          <a:extLst>
            <a:ext uri="{FF2B5EF4-FFF2-40B4-BE49-F238E27FC236}">
              <a16:creationId xmlns:a16="http://schemas.microsoft.com/office/drawing/2014/main" id="{C1EE6B80-7861-5AA2-749F-888E03943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>
            <a:extLst>
              <a:ext uri="{FF2B5EF4-FFF2-40B4-BE49-F238E27FC236}">
                <a16:creationId xmlns:a16="http://schemas.microsoft.com/office/drawing/2014/main" id="{FBB75043-C0A1-BDC8-E76D-4511CCBBFD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967" y="466728"/>
            <a:ext cx="10728128" cy="141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>
                <a:latin typeface="Georgia Pro" panose="02040502050405020303" pitchFamily="18" charset="0"/>
              </a:rPr>
              <a:t>Age-Stratified SEIRD Model </a:t>
            </a:r>
            <a:endParaRPr i="1" dirty="0">
              <a:latin typeface="Georgia Pro" panose="020405020504050203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8D81EB-9056-08E0-1A8E-0AF150D49C68}"/>
              </a:ext>
            </a:extLst>
          </p:cNvPr>
          <p:cNvSpPr/>
          <p:nvPr/>
        </p:nvSpPr>
        <p:spPr>
          <a:xfrm>
            <a:off x="950967" y="1969330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C5ECFD-8EB2-26FD-A802-4C62446254BE}"/>
              </a:ext>
            </a:extLst>
          </p:cNvPr>
          <p:cNvSpPr/>
          <p:nvPr/>
        </p:nvSpPr>
        <p:spPr>
          <a:xfrm>
            <a:off x="2612192" y="1969330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2D76AA-B39F-80DA-4BD6-5DAD27DEB289}"/>
              </a:ext>
            </a:extLst>
          </p:cNvPr>
          <p:cNvSpPr/>
          <p:nvPr/>
        </p:nvSpPr>
        <p:spPr>
          <a:xfrm>
            <a:off x="4237792" y="1990350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9401F7-096F-A1B7-E859-290B89731DD3}"/>
              </a:ext>
            </a:extLst>
          </p:cNvPr>
          <p:cNvSpPr/>
          <p:nvPr/>
        </p:nvSpPr>
        <p:spPr>
          <a:xfrm>
            <a:off x="5908715" y="2638677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3FD87F-2DA1-625A-5BAA-4C9DD94FEEA9}"/>
              </a:ext>
            </a:extLst>
          </p:cNvPr>
          <p:cNvSpPr/>
          <p:nvPr/>
        </p:nvSpPr>
        <p:spPr>
          <a:xfrm>
            <a:off x="5903077" y="1491310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19728C8-54E8-F791-5767-F7D86FB9B017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1763767" y="2334924"/>
            <a:ext cx="847687" cy="0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B2D1E11-B0A9-6970-F93B-9BD693AE9190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3424992" y="2355920"/>
            <a:ext cx="812800" cy="24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D9B3CF1-93C1-9A63-13EF-78EA558B2A02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5050592" y="2355945"/>
            <a:ext cx="858123" cy="648327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1CA1C4D-D923-3E33-2353-40F434DE5EE5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5050592" y="1856904"/>
            <a:ext cx="852485" cy="499040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A6E6913-DF1C-1167-3195-E70BEEBEB928}"/>
                  </a:ext>
                </a:extLst>
              </p:cNvPr>
              <p:cNvSpPr txBox="1"/>
              <p:nvPr/>
            </p:nvSpPr>
            <p:spPr>
              <a:xfrm>
                <a:off x="2014414" y="1922199"/>
                <a:ext cx="1224548" cy="3590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733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733" dirty="0"/>
                  <a:t>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A6E6913-DF1C-1167-3195-E70BEEBEB9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4414" y="1922199"/>
                <a:ext cx="1224548" cy="3590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CD0E673-A5FB-1350-681E-3E33FBB36780}"/>
                  </a:ext>
                </a:extLst>
              </p:cNvPr>
              <p:cNvSpPr txBox="1"/>
              <p:nvPr/>
            </p:nvSpPr>
            <p:spPr>
              <a:xfrm>
                <a:off x="3725171" y="1982274"/>
                <a:ext cx="218864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i="1">
                          <a:latin typeface="Cambria Math" panose="02040503050406030204" pitchFamily="18" charset="0"/>
                        </a:rPr>
                        <m:t>ϵ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CD0E673-A5FB-1350-681E-3E33FBB367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5171" y="1982274"/>
                <a:ext cx="218864" cy="738664"/>
              </a:xfrm>
              <a:prstGeom prst="rect">
                <a:avLst/>
              </a:prstGeom>
              <a:blipFill>
                <a:blip r:embed="rId4"/>
                <a:stretch>
                  <a:fillRect l="-16667" r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0581380-027F-7E39-C34C-B27D3FDD0F58}"/>
                  </a:ext>
                </a:extLst>
              </p:cNvPr>
              <p:cNvSpPr txBox="1"/>
              <p:nvPr/>
            </p:nvSpPr>
            <p:spPr>
              <a:xfrm>
                <a:off x="5476835" y="2384623"/>
                <a:ext cx="198772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0581380-027F-7E39-C34C-B27D3FDD0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6835" y="2384623"/>
                <a:ext cx="198772" cy="369332"/>
              </a:xfrm>
              <a:prstGeom prst="rect">
                <a:avLst/>
              </a:prstGeom>
              <a:blipFill>
                <a:blip r:embed="rId5"/>
                <a:stretch>
                  <a:fillRect l="-43750" r="-43750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810191C-FCEC-C524-5A2F-A7ACF4430BD2}"/>
                  </a:ext>
                </a:extLst>
              </p:cNvPr>
              <p:cNvSpPr txBox="1"/>
              <p:nvPr/>
            </p:nvSpPr>
            <p:spPr>
              <a:xfrm>
                <a:off x="5438239" y="1647982"/>
                <a:ext cx="216727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810191C-FCEC-C524-5A2F-A7ACF4430B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8239" y="1647982"/>
                <a:ext cx="216727" cy="738664"/>
              </a:xfrm>
              <a:prstGeom prst="rect">
                <a:avLst/>
              </a:prstGeom>
              <a:blipFill>
                <a:blip r:embed="rId6"/>
                <a:stretch>
                  <a:fillRect l="-33333" r="-6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D32A1BD5-F851-867A-41ED-B40DEB472BAF}"/>
              </a:ext>
            </a:extLst>
          </p:cNvPr>
          <p:cNvSpPr/>
          <p:nvPr/>
        </p:nvSpPr>
        <p:spPr>
          <a:xfrm>
            <a:off x="954844" y="4330805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A5C8CC-5A7A-EB00-9965-20C64148F50C}"/>
              </a:ext>
            </a:extLst>
          </p:cNvPr>
          <p:cNvSpPr/>
          <p:nvPr/>
        </p:nvSpPr>
        <p:spPr>
          <a:xfrm>
            <a:off x="2611453" y="4328306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BA5E36E-FE81-730F-ECC3-21F5D061E179}"/>
              </a:ext>
            </a:extLst>
          </p:cNvPr>
          <p:cNvSpPr/>
          <p:nvPr/>
        </p:nvSpPr>
        <p:spPr>
          <a:xfrm>
            <a:off x="4230423" y="4328023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I2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A9407C4-A322-5B86-5740-D190647D584D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1767645" y="4696399"/>
            <a:ext cx="843809" cy="0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CA1A47E-BE7E-F7EE-3CAF-AD007DB0EC62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 flipV="1">
            <a:off x="3424254" y="4693617"/>
            <a:ext cx="806169" cy="283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71F05FA-1B92-0B3F-F3B8-64B5BE94FC92}"/>
                  </a:ext>
                </a:extLst>
              </p:cNvPr>
              <p:cNvSpPr txBox="1"/>
              <p:nvPr/>
            </p:nvSpPr>
            <p:spPr>
              <a:xfrm>
                <a:off x="1765530" y="4328024"/>
                <a:ext cx="843809" cy="8224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𝑠𝑠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∙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71F05FA-1B92-0B3F-F3B8-64B5BE94FC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5530" y="4328024"/>
                <a:ext cx="843809" cy="82246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D5F548C-46CA-507B-E052-BE18A76F0D28}"/>
                  </a:ext>
                </a:extLst>
              </p:cNvPr>
              <p:cNvSpPr txBox="1"/>
              <p:nvPr/>
            </p:nvSpPr>
            <p:spPr>
              <a:xfrm>
                <a:off x="3725171" y="4368582"/>
                <a:ext cx="218864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i="1">
                          <a:latin typeface="Cambria Math" panose="02040503050406030204" pitchFamily="18" charset="0"/>
                        </a:rPr>
                        <m:t>ϵ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D5F548C-46CA-507B-E052-BE18A76F0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5171" y="4368582"/>
                <a:ext cx="218864" cy="738664"/>
              </a:xfrm>
              <a:prstGeom prst="rect">
                <a:avLst/>
              </a:prstGeom>
              <a:blipFill>
                <a:blip r:embed="rId4"/>
                <a:stretch>
                  <a:fillRect l="-16667" r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912DBB58-2721-0236-2F55-1FD7E794B785}"/>
              </a:ext>
            </a:extLst>
          </p:cNvPr>
          <p:cNvCxnSpPr>
            <a:cxnSpLocks/>
            <a:stCxn id="7" idx="2"/>
            <a:endCxn id="18" idx="0"/>
          </p:cNvCxnSpPr>
          <p:nvPr/>
        </p:nvCxnSpPr>
        <p:spPr>
          <a:xfrm rot="5400000">
            <a:off x="3357711" y="1373399"/>
            <a:ext cx="960940" cy="4953871"/>
          </a:xfrm>
          <a:prstGeom prst="bentConnector3">
            <a:avLst>
              <a:gd name="adj1" fmla="val 40132"/>
            </a:avLst>
          </a:prstGeom>
          <a:ln>
            <a:solidFill>
              <a:schemeClr val="bg1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E112607-289C-7F49-12FB-050F315ADAD4}"/>
                  </a:ext>
                </a:extLst>
              </p:cNvPr>
              <p:cNvSpPr txBox="1"/>
              <p:nvPr/>
            </p:nvSpPr>
            <p:spPr>
              <a:xfrm>
                <a:off x="4286040" y="3464440"/>
                <a:ext cx="244683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E112607-289C-7F49-12FB-050F315ADA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040" y="3464440"/>
                <a:ext cx="244683" cy="369332"/>
              </a:xfrm>
              <a:prstGeom prst="rect">
                <a:avLst/>
              </a:prstGeom>
              <a:blipFill>
                <a:blip r:embed="rId8"/>
                <a:stretch>
                  <a:fillRect l="-25000" r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7B002C33-0E3A-2C3F-2962-E8576CD66350}"/>
              </a:ext>
            </a:extLst>
          </p:cNvPr>
          <p:cNvCxnSpPr>
            <a:cxnSpLocks/>
            <a:stCxn id="55" idx="2"/>
            <a:endCxn id="18" idx="2"/>
          </p:cNvCxnSpPr>
          <p:nvPr/>
        </p:nvCxnSpPr>
        <p:spPr>
          <a:xfrm rot="5400000" flipH="1">
            <a:off x="3505484" y="2917753"/>
            <a:ext cx="679777" cy="4968256"/>
          </a:xfrm>
          <a:prstGeom prst="bentConnector3">
            <a:avLst>
              <a:gd name="adj1" fmla="val -72738"/>
            </a:avLst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1EF9962-1FE1-3958-B845-2ABE5E856A9B}"/>
                  </a:ext>
                </a:extLst>
              </p:cNvPr>
              <p:cNvSpPr txBox="1"/>
              <p:nvPr/>
            </p:nvSpPr>
            <p:spPr>
              <a:xfrm>
                <a:off x="3781561" y="5913044"/>
                <a:ext cx="1256236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𝑠𝑖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1EF9962-1FE1-3958-B845-2ABE5E856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1561" y="5913044"/>
                <a:ext cx="1256236" cy="369332"/>
              </a:xfrm>
              <a:prstGeom prst="rect">
                <a:avLst/>
              </a:prstGeom>
              <a:blipFill>
                <a:blip r:embed="rId9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6CC042A1-0473-499C-D273-30A30C53A6E1}"/>
              </a:ext>
            </a:extLst>
          </p:cNvPr>
          <p:cNvCxnSpPr>
            <a:cxnSpLocks/>
            <a:stCxn id="2" idx="2"/>
          </p:cNvCxnSpPr>
          <p:nvPr/>
        </p:nvCxnSpPr>
        <p:spPr>
          <a:xfrm flipH="1">
            <a:off x="972318" y="2700517"/>
            <a:ext cx="385049" cy="340571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234362A0-3F3A-6719-C429-A59A04F8E0DD}"/>
                  </a:ext>
                </a:extLst>
              </p:cNvPr>
              <p:cNvSpPr txBox="1"/>
              <p:nvPr/>
            </p:nvSpPr>
            <p:spPr>
              <a:xfrm>
                <a:off x="1090954" y="2765134"/>
                <a:ext cx="440548" cy="2974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33" i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1333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234362A0-3F3A-6719-C429-A59A04F8E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954" y="2765134"/>
                <a:ext cx="440548" cy="2974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DA514A1A-C292-2664-B90C-C42ADF414023}"/>
              </a:ext>
            </a:extLst>
          </p:cNvPr>
          <p:cNvCxnSpPr>
            <a:cxnSpLocks/>
          </p:cNvCxnSpPr>
          <p:nvPr/>
        </p:nvCxnSpPr>
        <p:spPr>
          <a:xfrm flipH="1">
            <a:off x="2650924" y="2713356"/>
            <a:ext cx="385049" cy="340571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F73C6C1C-4057-7A7C-7D7F-3C3DD10121E6}"/>
                  </a:ext>
                </a:extLst>
              </p:cNvPr>
              <p:cNvSpPr txBox="1"/>
              <p:nvPr/>
            </p:nvSpPr>
            <p:spPr>
              <a:xfrm>
                <a:off x="2769559" y="2777972"/>
                <a:ext cx="440548" cy="2974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33" i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1333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F73C6C1C-4057-7A7C-7D7F-3C3DD10121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9559" y="2777972"/>
                <a:ext cx="440548" cy="2974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57EBDD8C-8510-43DA-99D2-5394E8AAE3CB}"/>
              </a:ext>
            </a:extLst>
          </p:cNvPr>
          <p:cNvCxnSpPr>
            <a:cxnSpLocks/>
          </p:cNvCxnSpPr>
          <p:nvPr/>
        </p:nvCxnSpPr>
        <p:spPr>
          <a:xfrm flipH="1">
            <a:off x="4248228" y="2737387"/>
            <a:ext cx="385049" cy="340571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F98CC100-445B-0385-D097-0FBC3BDBCD8C}"/>
                  </a:ext>
                </a:extLst>
              </p:cNvPr>
              <p:cNvSpPr txBox="1"/>
              <p:nvPr/>
            </p:nvSpPr>
            <p:spPr>
              <a:xfrm>
                <a:off x="4366863" y="2802003"/>
                <a:ext cx="440548" cy="2974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33" i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1333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F98CC100-445B-0385-D097-0FBC3BDBCD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6863" y="2802003"/>
                <a:ext cx="440548" cy="2974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6" name="Straight Arrow Connector 225">
            <a:extLst>
              <a:ext uri="{FF2B5EF4-FFF2-40B4-BE49-F238E27FC236}">
                <a16:creationId xmlns:a16="http://schemas.microsoft.com/office/drawing/2014/main" id="{B5A9B7E2-74FD-DBEA-34AA-5554CDFF60AE}"/>
              </a:ext>
            </a:extLst>
          </p:cNvPr>
          <p:cNvCxnSpPr>
            <a:cxnSpLocks/>
          </p:cNvCxnSpPr>
          <p:nvPr/>
        </p:nvCxnSpPr>
        <p:spPr>
          <a:xfrm flipH="1">
            <a:off x="972318" y="5072679"/>
            <a:ext cx="385049" cy="340571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6EB01434-97CD-48BF-A9BB-906D900BD28E}"/>
                  </a:ext>
                </a:extLst>
              </p:cNvPr>
              <p:cNvSpPr txBox="1"/>
              <p:nvPr/>
            </p:nvSpPr>
            <p:spPr>
              <a:xfrm>
                <a:off x="1023218" y="5137295"/>
                <a:ext cx="440548" cy="2974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33" i="1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1333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6EB01434-97CD-48BF-A9BB-906D900BD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218" y="5137295"/>
                <a:ext cx="440548" cy="2974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24263181-6436-DFD0-151E-FFB58228D9E9}"/>
              </a:ext>
            </a:extLst>
          </p:cNvPr>
          <p:cNvCxnSpPr>
            <a:cxnSpLocks/>
          </p:cNvCxnSpPr>
          <p:nvPr/>
        </p:nvCxnSpPr>
        <p:spPr>
          <a:xfrm flipH="1">
            <a:off x="2650924" y="5065972"/>
            <a:ext cx="385049" cy="340571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BEF01057-1353-7B0A-3B61-FF27CFF9A310}"/>
                  </a:ext>
                </a:extLst>
              </p:cNvPr>
              <p:cNvSpPr txBox="1"/>
              <p:nvPr/>
            </p:nvSpPr>
            <p:spPr>
              <a:xfrm>
                <a:off x="2769559" y="5130588"/>
                <a:ext cx="440548" cy="2974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33" i="1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1333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BEF01057-1353-7B0A-3B61-FF27CFF9A3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9559" y="5130588"/>
                <a:ext cx="440548" cy="2974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11854936-912C-19B9-0EDA-2DAF557F989A}"/>
              </a:ext>
            </a:extLst>
          </p:cNvPr>
          <p:cNvCxnSpPr>
            <a:cxnSpLocks/>
          </p:cNvCxnSpPr>
          <p:nvPr/>
        </p:nvCxnSpPr>
        <p:spPr>
          <a:xfrm flipH="1">
            <a:off x="4248228" y="5060907"/>
            <a:ext cx="385049" cy="340571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TextBox 230">
                <a:extLst>
                  <a:ext uri="{FF2B5EF4-FFF2-40B4-BE49-F238E27FC236}">
                    <a16:creationId xmlns:a16="http://schemas.microsoft.com/office/drawing/2014/main" id="{75081138-AD91-88C7-C7F0-73AB2D44DD3E}"/>
                  </a:ext>
                </a:extLst>
              </p:cNvPr>
              <p:cNvSpPr txBox="1"/>
              <p:nvPr/>
            </p:nvSpPr>
            <p:spPr>
              <a:xfrm>
                <a:off x="4366863" y="5125523"/>
                <a:ext cx="440548" cy="2974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33" i="1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1333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31" name="TextBox 230">
                <a:extLst>
                  <a:ext uri="{FF2B5EF4-FFF2-40B4-BE49-F238E27FC236}">
                    <a16:creationId xmlns:a16="http://schemas.microsoft.com/office/drawing/2014/main" id="{75081138-AD91-88C7-C7F0-73AB2D44DD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6863" y="5125523"/>
                <a:ext cx="440548" cy="29745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C5ECAB-1D67-A3C8-2B09-37583778D8F8}"/>
                  </a:ext>
                </a:extLst>
              </p:cNvPr>
              <p:cNvSpPr txBox="1"/>
              <p:nvPr/>
            </p:nvSpPr>
            <p:spPr>
              <a:xfrm>
                <a:off x="7845953" y="1937301"/>
                <a:ext cx="3560911" cy="60016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force of infection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vaccination function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latent period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recovery rate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death rate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waning of immunity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𝑠𝑠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scale susceptibility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𝑠𝑖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scale immunity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aging rate</a:t>
                </a:r>
              </a:p>
              <a:p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C5ECAB-1D67-A3C8-2B09-37583778D8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5953" y="1937301"/>
                <a:ext cx="3560911" cy="6001643"/>
              </a:xfrm>
              <a:prstGeom prst="rect">
                <a:avLst/>
              </a:prstGeom>
              <a:blipFill>
                <a:blip r:embed="rId15"/>
                <a:stretch>
                  <a:fillRect l="-355" t="-846" r="-14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Rectangle 54">
            <a:extLst>
              <a:ext uri="{FF2B5EF4-FFF2-40B4-BE49-F238E27FC236}">
                <a16:creationId xmlns:a16="http://schemas.microsoft.com/office/drawing/2014/main" id="{67DD3F58-4A67-430E-19B8-DAA392FF1A1D}"/>
              </a:ext>
            </a:extLst>
          </p:cNvPr>
          <p:cNvSpPr/>
          <p:nvPr/>
        </p:nvSpPr>
        <p:spPr>
          <a:xfrm>
            <a:off x="5923100" y="5010582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R2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33A5D67-55DD-96DE-D54C-8B576E6AD987}"/>
              </a:ext>
            </a:extLst>
          </p:cNvPr>
          <p:cNvSpPr/>
          <p:nvPr/>
        </p:nvSpPr>
        <p:spPr>
          <a:xfrm>
            <a:off x="5917463" y="3863215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FEBB31D-B72C-3A11-9D6F-CCD10D1148B4}"/>
              </a:ext>
            </a:extLst>
          </p:cNvPr>
          <p:cNvCxnSpPr>
            <a:cxnSpLocks/>
            <a:endCxn id="55" idx="1"/>
          </p:cNvCxnSpPr>
          <p:nvPr/>
        </p:nvCxnSpPr>
        <p:spPr>
          <a:xfrm>
            <a:off x="5064977" y="4727850"/>
            <a:ext cx="858123" cy="648327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C07D3E03-AFE1-697E-C19E-0827E2712453}"/>
              </a:ext>
            </a:extLst>
          </p:cNvPr>
          <p:cNvCxnSpPr>
            <a:cxnSpLocks/>
            <a:endCxn id="56" idx="1"/>
          </p:cNvCxnSpPr>
          <p:nvPr/>
        </p:nvCxnSpPr>
        <p:spPr>
          <a:xfrm flipV="1">
            <a:off x="5064978" y="4228809"/>
            <a:ext cx="852485" cy="499040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50D6FF5-FF6E-CC3C-162E-0884660E4A99}"/>
                  </a:ext>
                </a:extLst>
              </p:cNvPr>
              <p:cNvSpPr txBox="1"/>
              <p:nvPr/>
            </p:nvSpPr>
            <p:spPr>
              <a:xfrm>
                <a:off x="5491221" y="4756528"/>
                <a:ext cx="198772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50D6FF5-FF6E-CC3C-162E-0884660E4A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1221" y="4756528"/>
                <a:ext cx="198772" cy="369332"/>
              </a:xfrm>
              <a:prstGeom prst="rect">
                <a:avLst/>
              </a:prstGeom>
              <a:blipFill>
                <a:blip r:embed="rId16"/>
                <a:stretch>
                  <a:fillRect l="-43750" r="-4375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8541F6B9-71A4-2B98-5EBB-D4191C771823}"/>
                  </a:ext>
                </a:extLst>
              </p:cNvPr>
              <p:cNvSpPr txBox="1"/>
              <p:nvPr/>
            </p:nvSpPr>
            <p:spPr>
              <a:xfrm>
                <a:off x="5452625" y="4019887"/>
                <a:ext cx="216727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8541F6B9-71A4-2B98-5EBB-D4191C7718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2625" y="4019887"/>
                <a:ext cx="216727" cy="738664"/>
              </a:xfrm>
              <a:prstGeom prst="rect">
                <a:avLst/>
              </a:prstGeom>
              <a:blipFill>
                <a:blip r:embed="rId17"/>
                <a:stretch>
                  <a:fillRect l="-33333" r="-7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FD72DED-1BCB-3CE5-071B-34786BBF717A}"/>
              </a:ext>
            </a:extLst>
          </p:cNvPr>
          <p:cNvCxnSpPr>
            <a:cxnSpLocks/>
          </p:cNvCxnSpPr>
          <p:nvPr/>
        </p:nvCxnSpPr>
        <p:spPr>
          <a:xfrm flipH="1">
            <a:off x="5914637" y="3388128"/>
            <a:ext cx="385049" cy="340571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AD32AD20-B02E-8C94-6892-29A4A21A9EFF}"/>
                  </a:ext>
                </a:extLst>
              </p:cNvPr>
              <p:cNvSpPr txBox="1"/>
              <p:nvPr/>
            </p:nvSpPr>
            <p:spPr>
              <a:xfrm>
                <a:off x="5992633" y="3452744"/>
                <a:ext cx="440548" cy="2974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33" i="1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1333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AD32AD20-B02E-8C94-6892-29A4A21A9E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2633" y="3452744"/>
                <a:ext cx="440548" cy="29745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F4425441-8E09-73C2-F340-79AF8B2DA140}"/>
              </a:ext>
            </a:extLst>
          </p:cNvPr>
          <p:cNvCxnSpPr>
            <a:cxnSpLocks/>
          </p:cNvCxnSpPr>
          <p:nvPr/>
        </p:nvCxnSpPr>
        <p:spPr>
          <a:xfrm flipH="1">
            <a:off x="5939098" y="5742759"/>
            <a:ext cx="385049" cy="340571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BD22BD41-8BE0-38B3-C426-9A2667FEDE6D}"/>
                  </a:ext>
                </a:extLst>
              </p:cNvPr>
              <p:cNvSpPr txBox="1"/>
              <p:nvPr/>
            </p:nvSpPr>
            <p:spPr>
              <a:xfrm>
                <a:off x="6003547" y="5820922"/>
                <a:ext cx="440548" cy="2974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33" i="1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1333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BD22BD41-8BE0-38B3-C426-9A2667FEDE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3547" y="5820922"/>
                <a:ext cx="440548" cy="2974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7112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>
          <a:extLst>
            <a:ext uri="{FF2B5EF4-FFF2-40B4-BE49-F238E27FC236}">
              <a16:creationId xmlns:a16="http://schemas.microsoft.com/office/drawing/2014/main" id="{5C3EE616-0E3B-0308-88AC-741449ED1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>
            <a:extLst>
              <a:ext uri="{FF2B5EF4-FFF2-40B4-BE49-F238E27FC236}">
                <a16:creationId xmlns:a16="http://schemas.microsoft.com/office/drawing/2014/main" id="{C407BBA6-A2A5-CED8-FB94-5E1945203A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967" y="466728"/>
            <a:ext cx="10728128" cy="141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>
                <a:latin typeface="Georgia Pro" panose="02040502050405020303" pitchFamily="18" charset="0"/>
              </a:rPr>
              <a:t>COVID-19</a:t>
            </a:r>
            <a:endParaRPr i="1" dirty="0">
              <a:latin typeface="Georgia Pro" panose="02040502050405020303" pitchFamily="18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85AA7705-9529-90E4-B1E7-BF6381E0A52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92800" y="3225800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3F68147-A5D2-84CC-C382-2ACAC4F583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0392042"/>
              </p:ext>
            </p:extLst>
          </p:nvPr>
        </p:nvGraphicFramePr>
        <p:xfrm>
          <a:off x="4219388" y="2362200"/>
          <a:ext cx="3346824" cy="2539999"/>
        </p:xfrm>
        <a:graphic>
          <a:graphicData uri="http://schemas.openxmlformats.org/drawingml/2006/table">
            <a:tbl>
              <a:tblPr firstRow="1" bandRow="1"/>
              <a:tblGrid>
                <a:gridCol w="1500872">
                  <a:extLst>
                    <a:ext uri="{9D8B030D-6E8A-4147-A177-3AD203B41FA5}">
                      <a16:colId xmlns:a16="http://schemas.microsoft.com/office/drawing/2014/main" val="3416288035"/>
                    </a:ext>
                  </a:extLst>
                </a:gridCol>
                <a:gridCol w="1845952">
                  <a:extLst>
                    <a:ext uri="{9D8B030D-6E8A-4147-A177-3AD203B41FA5}">
                      <a16:colId xmlns:a16="http://schemas.microsoft.com/office/drawing/2014/main" val="1083668707"/>
                    </a:ext>
                  </a:extLst>
                </a:gridCol>
              </a:tblGrid>
              <a:tr h="494453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Age Group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Vaccination Coverage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632374414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Children (0-18)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64.23%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542642978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Childless Adults (19-50)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69.73%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078675039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Adults with Children (19-50)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69.73%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932920719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Adults (50+) 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86.28%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458848354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DCCB58A-ECF2-0E8B-B384-6D03434B737C}"/>
              </a:ext>
            </a:extLst>
          </p:cNvPr>
          <p:cNvGraphicFramePr>
            <a:graphicFrameLocks noGrp="1"/>
          </p:cNvGraphicFramePr>
          <p:nvPr/>
        </p:nvGraphicFramePr>
        <p:xfrm>
          <a:off x="327665" y="2362200"/>
          <a:ext cx="3346824" cy="2539999"/>
        </p:xfrm>
        <a:graphic>
          <a:graphicData uri="http://schemas.openxmlformats.org/drawingml/2006/table">
            <a:tbl>
              <a:tblPr firstRow="1" bandRow="1"/>
              <a:tblGrid>
                <a:gridCol w="1500872">
                  <a:extLst>
                    <a:ext uri="{9D8B030D-6E8A-4147-A177-3AD203B41FA5}">
                      <a16:colId xmlns:a16="http://schemas.microsoft.com/office/drawing/2014/main" val="3416288035"/>
                    </a:ext>
                  </a:extLst>
                </a:gridCol>
                <a:gridCol w="1845952">
                  <a:extLst>
                    <a:ext uri="{9D8B030D-6E8A-4147-A177-3AD203B41FA5}">
                      <a16:colId xmlns:a16="http://schemas.microsoft.com/office/drawing/2014/main" val="1083668707"/>
                    </a:ext>
                  </a:extLst>
                </a:gridCol>
              </a:tblGrid>
              <a:tr h="494453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Age Group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Vaccination Coverage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632374414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Children (0-18)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0%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542642978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Childless Adults (19-50)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0%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078675039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Adults with Children (19-50)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0%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932920719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Adults (50+) 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0%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45884835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E931A36-D980-0A64-086B-2C0E8E24B8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709622"/>
              </p:ext>
            </p:extLst>
          </p:nvPr>
        </p:nvGraphicFramePr>
        <p:xfrm>
          <a:off x="8111111" y="2362200"/>
          <a:ext cx="3346824" cy="2539999"/>
        </p:xfrm>
        <a:graphic>
          <a:graphicData uri="http://schemas.openxmlformats.org/drawingml/2006/table">
            <a:tbl>
              <a:tblPr firstRow="1" bandRow="1"/>
              <a:tblGrid>
                <a:gridCol w="1500872">
                  <a:extLst>
                    <a:ext uri="{9D8B030D-6E8A-4147-A177-3AD203B41FA5}">
                      <a16:colId xmlns:a16="http://schemas.microsoft.com/office/drawing/2014/main" val="3416288035"/>
                    </a:ext>
                  </a:extLst>
                </a:gridCol>
                <a:gridCol w="1845952">
                  <a:extLst>
                    <a:ext uri="{9D8B030D-6E8A-4147-A177-3AD203B41FA5}">
                      <a16:colId xmlns:a16="http://schemas.microsoft.com/office/drawing/2014/main" val="1083668707"/>
                    </a:ext>
                  </a:extLst>
                </a:gridCol>
              </a:tblGrid>
              <a:tr h="494453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Age Group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Vaccination Coverage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632374414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Children (0-18)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69.73%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542642978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Childless Adults (19-50)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69.73%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078675039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Adults with Children (19-50)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69.73%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932920719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Adults (50+) 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86.28%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4588483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3348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>
          <a:extLst>
            <a:ext uri="{FF2B5EF4-FFF2-40B4-BE49-F238E27FC236}">
              <a16:creationId xmlns:a16="http://schemas.microsoft.com/office/drawing/2014/main" id="{1636EB81-623E-C4BD-326F-B2C30244F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C2D31E2-4CED-60FB-798F-02A718EA27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92800" y="3225800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pic>
        <p:nvPicPr>
          <p:cNvPr id="5" name="Picture 4" descr="A graph of a normal distribution&#10;&#10;AI-generated content may be incorrect.">
            <a:extLst>
              <a:ext uri="{FF2B5EF4-FFF2-40B4-BE49-F238E27FC236}">
                <a16:creationId xmlns:a16="http://schemas.microsoft.com/office/drawing/2014/main" id="{DE765648-864A-07FD-62FB-82939CE41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3839" y="574040"/>
            <a:ext cx="8512629" cy="595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641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>
          <a:extLst>
            <a:ext uri="{FF2B5EF4-FFF2-40B4-BE49-F238E27FC236}">
              <a16:creationId xmlns:a16="http://schemas.microsoft.com/office/drawing/2014/main" id="{53985A8E-8134-C550-33D5-0055867E9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C1B01AB-9BE7-F86B-43BE-811C57B350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92800" y="3225800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8F35768A-73CD-C8BF-B125-ACA0917BC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20" y="490728"/>
            <a:ext cx="8747760" cy="6123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355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>
          <a:extLst>
            <a:ext uri="{FF2B5EF4-FFF2-40B4-BE49-F238E27FC236}">
              <a16:creationId xmlns:a16="http://schemas.microsoft.com/office/drawing/2014/main" id="{A85C9449-67C1-B3EB-DD29-F762DFBDC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>
            <a:extLst>
              <a:ext uri="{FF2B5EF4-FFF2-40B4-BE49-F238E27FC236}">
                <a16:creationId xmlns:a16="http://schemas.microsoft.com/office/drawing/2014/main" id="{F92D25DB-C9C5-43E3-4F38-4AFCC81F54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967" y="466728"/>
            <a:ext cx="10728128" cy="141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>
                <a:latin typeface="Georgia Pro" panose="02040502050405020303" pitchFamily="18" charset="0"/>
              </a:rPr>
              <a:t>Flu</a:t>
            </a:r>
            <a:endParaRPr i="1" dirty="0">
              <a:latin typeface="Georgia Pro" panose="02040502050405020303" pitchFamily="18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6C23F530-FE17-468C-B198-C2C57062F5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92800" y="3225800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1A3BC3E-0B14-D3B6-009E-4DB2404073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084974"/>
              </p:ext>
            </p:extLst>
          </p:nvPr>
        </p:nvGraphicFramePr>
        <p:xfrm>
          <a:off x="4219388" y="2362200"/>
          <a:ext cx="3346824" cy="2539999"/>
        </p:xfrm>
        <a:graphic>
          <a:graphicData uri="http://schemas.openxmlformats.org/drawingml/2006/table">
            <a:tbl>
              <a:tblPr firstRow="1" bandRow="1"/>
              <a:tblGrid>
                <a:gridCol w="1500872">
                  <a:extLst>
                    <a:ext uri="{9D8B030D-6E8A-4147-A177-3AD203B41FA5}">
                      <a16:colId xmlns:a16="http://schemas.microsoft.com/office/drawing/2014/main" val="3416288035"/>
                    </a:ext>
                  </a:extLst>
                </a:gridCol>
                <a:gridCol w="1845952">
                  <a:extLst>
                    <a:ext uri="{9D8B030D-6E8A-4147-A177-3AD203B41FA5}">
                      <a16:colId xmlns:a16="http://schemas.microsoft.com/office/drawing/2014/main" val="1083668707"/>
                    </a:ext>
                  </a:extLst>
                </a:gridCol>
              </a:tblGrid>
              <a:tr h="494453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Age Group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Vaccination Coverage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632374414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Children (0-18)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59.76%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542642978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Childless Adults (19-50)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36.69%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078675039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Adults with Children (19-50)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49.09%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932920719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Adults (50+) 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61.29%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458848354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CD2E31F-5498-44DC-1174-9F581DA12103}"/>
              </a:ext>
            </a:extLst>
          </p:cNvPr>
          <p:cNvGraphicFramePr>
            <a:graphicFrameLocks noGrp="1"/>
          </p:cNvGraphicFramePr>
          <p:nvPr/>
        </p:nvGraphicFramePr>
        <p:xfrm>
          <a:off x="327665" y="2362200"/>
          <a:ext cx="3346824" cy="2539999"/>
        </p:xfrm>
        <a:graphic>
          <a:graphicData uri="http://schemas.openxmlformats.org/drawingml/2006/table">
            <a:tbl>
              <a:tblPr firstRow="1" bandRow="1"/>
              <a:tblGrid>
                <a:gridCol w="1500872">
                  <a:extLst>
                    <a:ext uri="{9D8B030D-6E8A-4147-A177-3AD203B41FA5}">
                      <a16:colId xmlns:a16="http://schemas.microsoft.com/office/drawing/2014/main" val="3416288035"/>
                    </a:ext>
                  </a:extLst>
                </a:gridCol>
                <a:gridCol w="1845952">
                  <a:extLst>
                    <a:ext uri="{9D8B030D-6E8A-4147-A177-3AD203B41FA5}">
                      <a16:colId xmlns:a16="http://schemas.microsoft.com/office/drawing/2014/main" val="1083668707"/>
                    </a:ext>
                  </a:extLst>
                </a:gridCol>
              </a:tblGrid>
              <a:tr h="494453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Age Group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Vaccination Coverage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632374414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Children (0-18)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0%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542642978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Childless Adults (19-50)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0%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078675039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Adults with Children (19-50)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0%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932920719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Adults (50+) 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0%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45884835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CC9FB65-7132-2E8B-D9C5-0161615F6C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4840992"/>
              </p:ext>
            </p:extLst>
          </p:nvPr>
        </p:nvGraphicFramePr>
        <p:xfrm>
          <a:off x="8111111" y="2362200"/>
          <a:ext cx="3346824" cy="2539999"/>
        </p:xfrm>
        <a:graphic>
          <a:graphicData uri="http://schemas.openxmlformats.org/drawingml/2006/table">
            <a:tbl>
              <a:tblPr firstRow="1" bandRow="1"/>
              <a:tblGrid>
                <a:gridCol w="1500872">
                  <a:extLst>
                    <a:ext uri="{9D8B030D-6E8A-4147-A177-3AD203B41FA5}">
                      <a16:colId xmlns:a16="http://schemas.microsoft.com/office/drawing/2014/main" val="3416288035"/>
                    </a:ext>
                  </a:extLst>
                </a:gridCol>
                <a:gridCol w="1845952">
                  <a:extLst>
                    <a:ext uri="{9D8B030D-6E8A-4147-A177-3AD203B41FA5}">
                      <a16:colId xmlns:a16="http://schemas.microsoft.com/office/drawing/2014/main" val="1083668707"/>
                    </a:ext>
                  </a:extLst>
                </a:gridCol>
              </a:tblGrid>
              <a:tr h="494453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Age Group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Vaccination Coverage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632374414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Children (0-18)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59.76%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542642978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Childless Adults (19-50)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59.76%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078675039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Adults with Children (19-50)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59.76%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932920719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Adults (50+) 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61.29%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4588483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25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>
          <a:extLst>
            <a:ext uri="{FF2B5EF4-FFF2-40B4-BE49-F238E27FC236}">
              <a16:creationId xmlns:a16="http://schemas.microsoft.com/office/drawing/2014/main" id="{0230AAA0-E857-E792-FCCB-517015962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C580722-C35A-5ACE-7D24-F2363D2C31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92800" y="3225800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pic>
        <p:nvPicPr>
          <p:cNvPr id="4" name="Picture 3" descr="A graph of a normal distribution&#10;&#10;AI-generated content may be incorrect.">
            <a:extLst>
              <a:ext uri="{FF2B5EF4-FFF2-40B4-BE49-F238E27FC236}">
                <a16:creationId xmlns:a16="http://schemas.microsoft.com/office/drawing/2014/main" id="{EC789263-1584-6A8A-E043-3F043F6F9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396" y="420177"/>
            <a:ext cx="9177209" cy="6424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016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>
          <a:extLst>
            <a:ext uri="{FF2B5EF4-FFF2-40B4-BE49-F238E27FC236}">
              <a16:creationId xmlns:a16="http://schemas.microsoft.com/office/drawing/2014/main" id="{1560F92C-8FA8-E1E4-DFC6-F5524BCBE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C3D101F-E075-133F-A114-70D68776DA2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92800" y="3225800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5660F88D-DD0C-7186-8A68-82E126667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2736" y="435675"/>
            <a:ext cx="9132929" cy="6393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631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>
          <a:extLst>
            <a:ext uri="{FF2B5EF4-FFF2-40B4-BE49-F238E27FC236}">
              <a16:creationId xmlns:a16="http://schemas.microsoft.com/office/drawing/2014/main" id="{475A14D0-9199-071A-D21B-9BED8AD43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>
            <a:extLst>
              <a:ext uri="{FF2B5EF4-FFF2-40B4-BE49-F238E27FC236}">
                <a16:creationId xmlns:a16="http://schemas.microsoft.com/office/drawing/2014/main" id="{3C8740A7-F24C-BC94-5C56-E017E74F47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967" y="466728"/>
            <a:ext cx="10728128" cy="141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>
                <a:latin typeface="Georgia Pro" panose="02040502050405020303" pitchFamily="18" charset="0"/>
              </a:rPr>
              <a:t>RSV</a:t>
            </a:r>
            <a:endParaRPr i="1" dirty="0">
              <a:latin typeface="Georgia Pro" panose="02040502050405020303" pitchFamily="18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687977AE-CBF0-4CAD-B3DB-0B2B9A7D13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92800" y="3225800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1BAD9AF-3662-CADA-8513-120E4CEE6D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309396"/>
              </p:ext>
            </p:extLst>
          </p:nvPr>
        </p:nvGraphicFramePr>
        <p:xfrm>
          <a:off x="4219388" y="2362200"/>
          <a:ext cx="3346824" cy="2539999"/>
        </p:xfrm>
        <a:graphic>
          <a:graphicData uri="http://schemas.openxmlformats.org/drawingml/2006/table">
            <a:tbl>
              <a:tblPr firstRow="1" bandRow="1"/>
              <a:tblGrid>
                <a:gridCol w="1500872">
                  <a:extLst>
                    <a:ext uri="{9D8B030D-6E8A-4147-A177-3AD203B41FA5}">
                      <a16:colId xmlns:a16="http://schemas.microsoft.com/office/drawing/2014/main" val="3416288035"/>
                    </a:ext>
                  </a:extLst>
                </a:gridCol>
                <a:gridCol w="1845952">
                  <a:extLst>
                    <a:ext uri="{9D8B030D-6E8A-4147-A177-3AD203B41FA5}">
                      <a16:colId xmlns:a16="http://schemas.microsoft.com/office/drawing/2014/main" val="1083668707"/>
                    </a:ext>
                  </a:extLst>
                </a:gridCol>
              </a:tblGrid>
              <a:tr h="494453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Age Group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Vaccination Coverage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632374414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Children (0-18)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46.8%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542642978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Childless Adults (19-50)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NA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078675039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Adults with Children (19-50)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NA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932920719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Adults (50+) 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NA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458848354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8264258-2261-0598-ED83-44D6B062FFE0}"/>
              </a:ext>
            </a:extLst>
          </p:cNvPr>
          <p:cNvGraphicFramePr>
            <a:graphicFrameLocks noGrp="1"/>
          </p:cNvGraphicFramePr>
          <p:nvPr/>
        </p:nvGraphicFramePr>
        <p:xfrm>
          <a:off x="327665" y="2362200"/>
          <a:ext cx="3346824" cy="2539999"/>
        </p:xfrm>
        <a:graphic>
          <a:graphicData uri="http://schemas.openxmlformats.org/drawingml/2006/table">
            <a:tbl>
              <a:tblPr firstRow="1" bandRow="1"/>
              <a:tblGrid>
                <a:gridCol w="1500872">
                  <a:extLst>
                    <a:ext uri="{9D8B030D-6E8A-4147-A177-3AD203B41FA5}">
                      <a16:colId xmlns:a16="http://schemas.microsoft.com/office/drawing/2014/main" val="3416288035"/>
                    </a:ext>
                  </a:extLst>
                </a:gridCol>
                <a:gridCol w="1845952">
                  <a:extLst>
                    <a:ext uri="{9D8B030D-6E8A-4147-A177-3AD203B41FA5}">
                      <a16:colId xmlns:a16="http://schemas.microsoft.com/office/drawing/2014/main" val="1083668707"/>
                    </a:ext>
                  </a:extLst>
                </a:gridCol>
              </a:tblGrid>
              <a:tr h="494453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Age Group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Vaccination Coverage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632374414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Children (0-18)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0%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542642978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Childless Adults (19-50)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0%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078675039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Adults with Children (19-50)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0%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932920719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Adults (50+) 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0%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45884835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AC1BFF-7D9A-5C7F-5487-EF6561D441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3526530"/>
              </p:ext>
            </p:extLst>
          </p:nvPr>
        </p:nvGraphicFramePr>
        <p:xfrm>
          <a:off x="8111111" y="2362200"/>
          <a:ext cx="3346824" cy="2539999"/>
        </p:xfrm>
        <a:graphic>
          <a:graphicData uri="http://schemas.openxmlformats.org/drawingml/2006/table">
            <a:tbl>
              <a:tblPr firstRow="1" bandRow="1"/>
              <a:tblGrid>
                <a:gridCol w="1500872">
                  <a:extLst>
                    <a:ext uri="{9D8B030D-6E8A-4147-A177-3AD203B41FA5}">
                      <a16:colId xmlns:a16="http://schemas.microsoft.com/office/drawing/2014/main" val="3416288035"/>
                    </a:ext>
                  </a:extLst>
                </a:gridCol>
                <a:gridCol w="1845952">
                  <a:extLst>
                    <a:ext uri="{9D8B030D-6E8A-4147-A177-3AD203B41FA5}">
                      <a16:colId xmlns:a16="http://schemas.microsoft.com/office/drawing/2014/main" val="1083668707"/>
                    </a:ext>
                  </a:extLst>
                </a:gridCol>
              </a:tblGrid>
              <a:tr h="494453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Age Group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Vaccination Coverage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632374414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Children (0-18)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46.8%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542642978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Childless Adults (19-50)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46.8%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078675039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Adults with Children (19-50)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46.8%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932920719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Adults (50+) 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46.8%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4588483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9385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>
          <a:extLst>
            <a:ext uri="{FF2B5EF4-FFF2-40B4-BE49-F238E27FC236}">
              <a16:creationId xmlns:a16="http://schemas.microsoft.com/office/drawing/2014/main" id="{EB163B61-35F3-583E-69D8-B38EF9AEF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B15D2B7-11CC-E7C8-E023-59A017630B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92800" y="3225800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pic>
        <p:nvPicPr>
          <p:cNvPr id="5" name="Picture 4" descr="A graph of a number of children&#10;&#10;AI-generated content may be incorrect.">
            <a:extLst>
              <a:ext uri="{FF2B5EF4-FFF2-40B4-BE49-F238E27FC236}">
                <a16:creationId xmlns:a16="http://schemas.microsoft.com/office/drawing/2014/main" id="{A87613A6-FB96-9CBC-B36C-0173F1C1D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270" y="558074"/>
            <a:ext cx="8783216" cy="6148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885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>
          <a:extLst>
            <a:ext uri="{FF2B5EF4-FFF2-40B4-BE49-F238E27FC236}">
              <a16:creationId xmlns:a16="http://schemas.microsoft.com/office/drawing/2014/main" id="{2ECC0F46-990D-0834-56E9-D21AF0D78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C7A805D-9E3A-AE33-846A-D46131EEFDE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92800" y="3225800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pic>
        <p:nvPicPr>
          <p:cNvPr id="5" name="Picture 4" descr="A graph of a number of children&#10;&#10;AI-generated content may be incorrect.">
            <a:extLst>
              <a:ext uri="{FF2B5EF4-FFF2-40B4-BE49-F238E27FC236}">
                <a16:creationId xmlns:a16="http://schemas.microsoft.com/office/drawing/2014/main" id="{E15FE8AD-CB67-D28F-4256-75B39ED918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2303" y="563606"/>
            <a:ext cx="8499389" cy="5949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429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>
          <a:extLst>
            <a:ext uri="{FF2B5EF4-FFF2-40B4-BE49-F238E27FC236}">
              <a16:creationId xmlns:a16="http://schemas.microsoft.com/office/drawing/2014/main" id="{94CC68CF-6A3A-C130-1553-71D27A59B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>
            <a:extLst>
              <a:ext uri="{FF2B5EF4-FFF2-40B4-BE49-F238E27FC236}">
                <a16:creationId xmlns:a16="http://schemas.microsoft.com/office/drawing/2014/main" id="{FD20F774-3BEA-3292-BB43-64FB6BB346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967" y="466728"/>
            <a:ext cx="10728128" cy="141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>
                <a:latin typeface="Georgia Pro" panose="02040502050405020303" pitchFamily="18" charset="0"/>
              </a:rPr>
              <a:t>Pertussis</a:t>
            </a:r>
            <a:endParaRPr i="1" dirty="0">
              <a:latin typeface="Georgia Pro" panose="02040502050405020303" pitchFamily="18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0E0C81B3-F3C4-EE0C-EE08-907DAB52C1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92800" y="3225800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AD2F51D-C189-CE2C-902C-29772C6377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695743"/>
              </p:ext>
            </p:extLst>
          </p:nvPr>
        </p:nvGraphicFramePr>
        <p:xfrm>
          <a:off x="4219388" y="2362200"/>
          <a:ext cx="3346824" cy="2539999"/>
        </p:xfrm>
        <a:graphic>
          <a:graphicData uri="http://schemas.openxmlformats.org/drawingml/2006/table">
            <a:tbl>
              <a:tblPr firstRow="1" bandRow="1"/>
              <a:tblGrid>
                <a:gridCol w="1500872">
                  <a:extLst>
                    <a:ext uri="{9D8B030D-6E8A-4147-A177-3AD203B41FA5}">
                      <a16:colId xmlns:a16="http://schemas.microsoft.com/office/drawing/2014/main" val="3416288035"/>
                    </a:ext>
                  </a:extLst>
                </a:gridCol>
                <a:gridCol w="1845952">
                  <a:extLst>
                    <a:ext uri="{9D8B030D-6E8A-4147-A177-3AD203B41FA5}">
                      <a16:colId xmlns:a16="http://schemas.microsoft.com/office/drawing/2014/main" val="1083668707"/>
                    </a:ext>
                  </a:extLst>
                </a:gridCol>
              </a:tblGrid>
              <a:tr h="494453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Age Group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Vaccination Coverage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632374414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Children (0-18)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86%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542642978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Childless Adults (19-50)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NA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078675039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Adults with Children (19-50)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NA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932920719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Adults (50+) 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NA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458848354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6E5603C-F9F8-811C-D6E1-27A9B3987EC0}"/>
              </a:ext>
            </a:extLst>
          </p:cNvPr>
          <p:cNvGraphicFramePr>
            <a:graphicFrameLocks noGrp="1"/>
          </p:cNvGraphicFramePr>
          <p:nvPr/>
        </p:nvGraphicFramePr>
        <p:xfrm>
          <a:off x="327665" y="2362200"/>
          <a:ext cx="3346824" cy="2539999"/>
        </p:xfrm>
        <a:graphic>
          <a:graphicData uri="http://schemas.openxmlformats.org/drawingml/2006/table">
            <a:tbl>
              <a:tblPr firstRow="1" bandRow="1"/>
              <a:tblGrid>
                <a:gridCol w="1500872">
                  <a:extLst>
                    <a:ext uri="{9D8B030D-6E8A-4147-A177-3AD203B41FA5}">
                      <a16:colId xmlns:a16="http://schemas.microsoft.com/office/drawing/2014/main" val="3416288035"/>
                    </a:ext>
                  </a:extLst>
                </a:gridCol>
                <a:gridCol w="1845952">
                  <a:extLst>
                    <a:ext uri="{9D8B030D-6E8A-4147-A177-3AD203B41FA5}">
                      <a16:colId xmlns:a16="http://schemas.microsoft.com/office/drawing/2014/main" val="1083668707"/>
                    </a:ext>
                  </a:extLst>
                </a:gridCol>
              </a:tblGrid>
              <a:tr h="494453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Age Group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Vaccination Coverage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632374414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Children (0-18)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0%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542642978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Childless Adults (19-50)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0%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078675039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Adults with Children (19-50)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0%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932920719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Adults (50+) 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0%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45884835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8A5A84A-7C35-92FF-DB28-1FD99F7178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286411"/>
              </p:ext>
            </p:extLst>
          </p:nvPr>
        </p:nvGraphicFramePr>
        <p:xfrm>
          <a:off x="8111111" y="2362200"/>
          <a:ext cx="3346824" cy="2539999"/>
        </p:xfrm>
        <a:graphic>
          <a:graphicData uri="http://schemas.openxmlformats.org/drawingml/2006/table">
            <a:tbl>
              <a:tblPr firstRow="1" bandRow="1"/>
              <a:tblGrid>
                <a:gridCol w="1500872">
                  <a:extLst>
                    <a:ext uri="{9D8B030D-6E8A-4147-A177-3AD203B41FA5}">
                      <a16:colId xmlns:a16="http://schemas.microsoft.com/office/drawing/2014/main" val="3416288035"/>
                    </a:ext>
                  </a:extLst>
                </a:gridCol>
                <a:gridCol w="1845952">
                  <a:extLst>
                    <a:ext uri="{9D8B030D-6E8A-4147-A177-3AD203B41FA5}">
                      <a16:colId xmlns:a16="http://schemas.microsoft.com/office/drawing/2014/main" val="1083668707"/>
                    </a:ext>
                  </a:extLst>
                </a:gridCol>
              </a:tblGrid>
              <a:tr h="494453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Age Group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Vaccination Coverage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632374414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Children (0-18)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86%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542642978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Childless Adults (19-50)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86%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078675039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Adults with Children (19-50)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86%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932920719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Adults (50+) 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86%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4588483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93527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>
          <a:extLst>
            <a:ext uri="{FF2B5EF4-FFF2-40B4-BE49-F238E27FC236}">
              <a16:creationId xmlns:a16="http://schemas.microsoft.com/office/drawing/2014/main" id="{953079C8-27DA-3F24-E6AE-E8DE6B4DA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61D5DC3-E40D-5479-509F-336CF116E4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92800" y="3225800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pic>
        <p:nvPicPr>
          <p:cNvPr id="4" name="Picture 3" descr="A graph of a patient&#10;&#10;AI-generated content may be incorrect.">
            <a:extLst>
              <a:ext uri="{FF2B5EF4-FFF2-40B4-BE49-F238E27FC236}">
                <a16:creationId xmlns:a16="http://schemas.microsoft.com/office/drawing/2014/main" id="{05BF822F-E3C9-7F65-92EF-3B0A8A7E3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5720" y="544246"/>
            <a:ext cx="8822724" cy="6175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731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685</TotalTime>
  <Words>601</Words>
  <Application>Microsoft Macintosh PowerPoint</Application>
  <PresentationFormat>Widescreen</PresentationFormat>
  <Paragraphs>196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Cambria Math</vt:lpstr>
      <vt:lpstr>Georgia Pro</vt:lpstr>
      <vt:lpstr>Times New Roman</vt:lpstr>
      <vt:lpstr>Office Theme</vt:lpstr>
      <vt:lpstr>SHIELD Meeting 6/3/25</vt:lpstr>
      <vt:lpstr>Age-Stratified SEIRD Model </vt:lpstr>
      <vt:lpstr>Age-Stratified SEIRD Model </vt:lpstr>
      <vt:lpstr>COVID-19</vt:lpstr>
      <vt:lpstr>PowerPoint Presentation</vt:lpstr>
      <vt:lpstr>PowerPoint Presentation</vt:lpstr>
      <vt:lpstr>Flu</vt:lpstr>
      <vt:lpstr>PowerPoint Presentation</vt:lpstr>
      <vt:lpstr>PowerPoint Presentation</vt:lpstr>
      <vt:lpstr>RSV</vt:lpstr>
      <vt:lpstr>PowerPoint Presentation</vt:lpstr>
      <vt:lpstr>PowerPoint Presentation</vt:lpstr>
      <vt:lpstr>Pertussis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Anastasi, Alyssa Rose</dc:creator>
  <cp:lastModifiedBy>Anastasi, Alyssa Rose</cp:lastModifiedBy>
  <cp:revision>3</cp:revision>
  <dcterms:created xsi:type="dcterms:W3CDTF">2025-06-03T16:51:01Z</dcterms:created>
  <dcterms:modified xsi:type="dcterms:W3CDTF">2025-06-25T20:35:09Z</dcterms:modified>
</cp:coreProperties>
</file>