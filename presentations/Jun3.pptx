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99" r:id="rId3"/>
    <p:sldId id="318" r:id="rId4"/>
    <p:sldId id="316" r:id="rId5"/>
    <p:sldId id="302" r:id="rId6"/>
    <p:sldId id="319" r:id="rId7"/>
    <p:sldId id="317" r:id="rId8"/>
    <p:sldId id="320" r:id="rId9"/>
    <p:sldId id="321" r:id="rId10"/>
    <p:sldId id="322" r:id="rId11"/>
    <p:sldId id="323" r:id="rId12"/>
    <p:sldId id="324" r:id="rId13"/>
    <p:sldId id="325" r:id="rId14"/>
    <p:sldId id="32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68"/>
    <p:restoredTop sz="94660"/>
  </p:normalViewPr>
  <p:slideViewPr>
    <p:cSldViewPr snapToGrid="0">
      <p:cViewPr>
        <p:scale>
          <a:sx n="103" d="100"/>
          <a:sy n="103" d="100"/>
        </p:scale>
        <p:origin x="1176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48FDD1-4BDF-AF43-8971-15A377758461}" type="datetimeFigureOut">
              <a:rPr lang="en-US" smtClean="0"/>
              <a:t>6/3/25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18428F-AA95-5B49-AD2B-EB1CB77C14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472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D2578813-EAC3-02BF-BB48-B5132D9F3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4dfce81f19_0_45:notes">
            <a:extLst>
              <a:ext uri="{FF2B5EF4-FFF2-40B4-BE49-F238E27FC236}">
                <a16:creationId xmlns:a16="http://schemas.microsoft.com/office/drawing/2014/main" id="{6FC93E91-4A71-A4A4-B4DC-FC364CC9A6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4dfce81f19_0_45:notes">
            <a:extLst>
              <a:ext uri="{FF2B5EF4-FFF2-40B4-BE49-F238E27FC236}">
                <a16:creationId xmlns:a16="http://schemas.microsoft.com/office/drawing/2014/main" id="{D2FFBABA-FBED-60A5-CA48-B453AE0FD5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2398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A302998A-B73D-04F5-EB20-1A3C765E1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3B25BCE6-C26E-C492-29F8-576BD214A2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C4B1164F-8891-7B5D-6D57-C665F16E81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Walk through flow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Explain 2</a:t>
            </a:r>
            <a:r>
              <a:rPr lang="en-US" baseline="30000" dirty="0"/>
              <a:t>nd</a:t>
            </a:r>
            <a:r>
              <a:rPr lang="en-US" dirty="0"/>
              <a:t> group : base immunity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51684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FC038043-F5C0-0617-D27C-BB0E623B8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9CE78ABB-96F2-AC38-0FA0-A0885F659E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5985C0CB-660D-9AD6-F1BE-39E054788C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2852812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E797CF6C-C111-ACE3-F0E0-74F7528DE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C5CDFE08-33FA-8981-B43B-358EEB3D8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A5C52161-F368-69E0-4F07-979418BEC5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18092101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DB0339E6-CA7A-DA71-4EB8-9F72C82DA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323C5C29-894D-0625-C48A-04625FA66D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74B7BADB-D1C9-9CDB-BC17-D465E0CF03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25606823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87D16CB2-8452-DAFB-6D9A-332DCD15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025759F7-4A82-9AE3-1EAE-855EDDCA92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964D33F9-7D87-1CFA-70CB-B46528684E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1544036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0AFC4FEE-9C57-D61C-835C-EBFC1855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20CE4D0C-7FE5-2B52-DA6E-0C589ECA15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502F6CEE-684D-FFF8-89FE-563A3E232A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3505123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5075235F-4FA7-8141-2CF9-71183E89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CF0D084F-049B-75EC-2B41-1F6EEA173B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68C9E05E-C74A-7FBA-E909-4121E502FD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6388043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C8AE68A9-F953-0D5D-0759-3DDB8C910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1A309E96-CE17-9490-C035-BCA00F0AEA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654AAFD9-9029-535A-2AE7-3091632EF0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944691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E73B9E8A-D7E2-25B2-6838-C3A12E424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C8C39D9D-2D2C-E623-1116-8C89677BE5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456ACA4B-F290-AB97-DAB1-8DE46D0999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3921493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F67983A3-5509-CBC5-FEDA-669BD9AD1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92BCA23F-D1B8-C162-E71D-6359C10A33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D4ADFE3A-0981-D297-1616-32162929D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3560722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410D2095-445D-8542-062B-BEA6CE3E1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647DF5BC-F19D-E886-4E5D-F0B390E117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886B7E47-CFA5-01BF-12F2-02E0A43310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13737857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57DC6B6C-57DF-4093-AFD9-77E507DAE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22:notes">
            <a:extLst>
              <a:ext uri="{FF2B5EF4-FFF2-40B4-BE49-F238E27FC236}">
                <a16:creationId xmlns:a16="http://schemas.microsoft.com/office/drawing/2014/main" id="{87044475-75D5-0CE9-3E43-2BE45B2FDE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22:notes">
            <a:extLst>
              <a:ext uri="{FF2B5EF4-FFF2-40B4-BE49-F238E27FC236}">
                <a16:creationId xmlns:a16="http://schemas.microsoft.com/office/drawing/2014/main" id="{49EA5D78-0F34-BAB9-D366-DFFA2F4301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Key Points: High exposed group, especially in children </a:t>
            </a:r>
          </a:p>
        </p:txBody>
      </p:sp>
    </p:spTree>
    <p:extLst>
      <p:ext uri="{BB962C8B-B14F-4D97-AF65-F5344CB8AC3E}">
        <p14:creationId xmlns:p14="http://schemas.microsoft.com/office/powerpoint/2010/main" val="6156414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5FA30-6144-98F6-6288-79805A5B1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F70FFE-FC0F-8724-00A0-ECC390272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FAB83-151F-4430-4577-3F63D44B2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768A8-5145-74A9-CDC2-69084AD02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99711-2ABE-4DB9-C2DE-ABEE2BC5B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316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6B04A-EC81-15E6-C0CC-7170AECEB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E95D5-C41E-199E-6CAF-287B8D06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B0AE4-A1CB-2BDF-A1CE-653966D87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DD961-3918-2DAA-1240-BC61FC4BE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AA927-6676-4576-850D-35A089635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17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7BB13-49F6-5413-4B95-979338EB7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64C93E-F6B2-E80F-141E-2B6479405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B4B108-CA62-188F-5978-157AE834A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430E3-6275-7D98-49AE-AF6E6893F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B39B-DB13-AD2A-1FE4-211520243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120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AF48F-EC7A-C12D-8B2F-C7E8048B0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53BF0-91C4-1A4D-865E-4662743FD3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46CC66-10F0-4787-8D06-CAC4E2CCD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49534A-9A32-760A-74F9-095AF3D1F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4DF40D-66FF-E9DB-28F7-ED5B75FB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889364-2130-0011-7CDA-624B54217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702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D0EC5-CA69-08B7-E456-2FB806A01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D34890-C8AD-E74E-C313-21CFB6AB74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865B-C2E2-F9DA-D650-98BEE0CA60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DE2948-46BB-6233-FB63-FB719907E6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937EED-866F-4F49-F6B3-AB895E27D8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36B594-6CDA-FF9C-5EC9-2EFD9D6D3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EE526C-4E71-FA0A-42F3-B7A4499A2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EC1EC-5B0D-3370-18F1-D82B2EE85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21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0BD0B-209D-5664-E1B2-98A7B9AF3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774322-1296-EDD3-2836-78F4FEDC5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0222B9-87C6-0FBF-08A4-D08FC7B25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8704BD-2ADE-5B02-8EFD-313A5BFFA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091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9F219D-DD20-FEA1-73B4-7FDC3BE8A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D07B2A-85C1-7AF2-35A2-068FB2C14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32527-26AB-68E1-1BC7-506B10903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376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46076-3CDA-0B57-529D-868737A3C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202668-1E6A-145A-D68C-41BC78442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3FABE3-075B-E2B0-26C9-342BF86FB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09FFA1-06DB-CB0F-092F-0EF8485F3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3D41D7-61EE-2B06-E6E7-A060FDBE4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27F0E-14EA-5445-F09F-5244FA4A1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50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B9A04-CB5D-55FD-3225-268D2D47B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7D2181-87CD-190F-C097-457FFBFCE0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2CC7F4-34CA-A1F7-DBF0-FB3BAC7334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50DC9-05B8-BD5B-B49B-4EA5C5F60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44005-CFAA-FFAE-C5B3-488D3C12A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E3131-376B-C64A-7FBA-04D1A07A4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318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559FD-8C6F-095D-2DF8-059FB5115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7DE5F-AD98-36D9-6F83-E97F65F12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3AB01-9C86-8F4C-4C5B-20486D92D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8E668-DEA4-C3B2-A667-3ED3F561B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A0A5D-6241-D28D-48B6-E2241905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92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ABC813-4A50-1BA8-678D-0F61124AB7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34A2AB-0A4A-72E6-EED9-222212049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AB0AD4-B4B4-00BA-2C3D-64FFC2FE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FB9CA-7B82-865F-6AD8-6EE988D0F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FD89E-5054-961D-DAE0-4E2E4BA03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512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950967" y="979633"/>
            <a:ext cx="49832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ubTitle" idx="1"/>
          </p:nvPr>
        </p:nvSpPr>
        <p:spPr>
          <a:xfrm>
            <a:off x="950967" y="2504000"/>
            <a:ext cx="5783200" cy="33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Clr>
                <a:srgbClr val="999999"/>
              </a:buClr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>
            <a:spLocks noGrp="1"/>
          </p:cNvSpPr>
          <p:nvPr>
            <p:ph type="pic" idx="2"/>
          </p:nvPr>
        </p:nvSpPr>
        <p:spPr>
          <a:xfrm>
            <a:off x="7742467" y="877884"/>
            <a:ext cx="3498400" cy="51024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0" name="Google Shape;40;p7"/>
          <p:cNvCxnSpPr/>
          <p:nvPr/>
        </p:nvCxnSpPr>
        <p:spPr>
          <a:xfrm>
            <a:off x="9548067" y="404000"/>
            <a:ext cx="2771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7"/>
          <p:cNvCxnSpPr/>
          <p:nvPr/>
        </p:nvCxnSpPr>
        <p:spPr>
          <a:xfrm rot="10800000">
            <a:off x="11691500" y="-37749"/>
            <a:ext cx="0" cy="617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4860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E78C31-508A-9800-811F-36BBC48E4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9953B-7F5B-2E24-920D-9A9CFB3173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BD378-E866-BB45-A903-B9D9D8FC77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AF123F-B623-EC41-830C-DA402D59E38C}" type="datetimeFigureOut">
              <a:rPr lang="en-US" smtClean="0"/>
              <a:t>6/3/25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BB0617-FC17-D7C6-B801-1EF41973FC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30218E-B6FA-C63D-82CA-0F4F49DA60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34C741-A90A-5641-96A0-6D4F4AB43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123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8B7F1-09CB-E108-3D2C-B50BC65EDA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SHIELD Meeting 6/3/25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4AD5EE-367A-80D0-DCBD-252A47E950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980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DDDA001C-6D09-507C-1DD9-54F6466BA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>
            <a:extLst>
              <a:ext uri="{FF2B5EF4-FFF2-40B4-BE49-F238E27FC236}">
                <a16:creationId xmlns:a16="http://schemas.microsoft.com/office/drawing/2014/main" id="{C2F26E90-2534-A434-1BCA-9374DCFA92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51932" y="1459803"/>
            <a:ext cx="9593843" cy="393839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4000" dirty="0">
                <a:latin typeface="Georgia Pro" panose="02040502050405020303" pitchFamily="18" charset="0"/>
              </a:rPr>
              <a:t>How do adults and children behave       differently with respect to vaccination behavior?</a:t>
            </a:r>
            <a:br>
              <a:rPr lang="en" sz="4000" dirty="0">
                <a:latin typeface="Georgia Pro" panose="02040502050405020303" pitchFamily="18" charset="0"/>
              </a:rPr>
            </a:br>
            <a:br>
              <a:rPr lang="en" sz="4000" dirty="0">
                <a:latin typeface="Georgia Pro" panose="02040502050405020303" pitchFamily="18" charset="0"/>
              </a:rPr>
            </a:br>
            <a:r>
              <a:rPr lang="en" sz="4000" dirty="0">
                <a:latin typeface="Georgia Pro" panose="02040502050405020303" pitchFamily="18" charset="0"/>
              </a:rPr>
              <a:t>Are these consistent across respiratory pathogens?</a:t>
            </a:r>
            <a:endParaRPr sz="4000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7076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5CA9D55F-990A-B3AB-53B0-7FBC74449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CEAFC843-CCC2-8F37-F072-6CF565398D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Age-Stratified SEIRD Model 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582ECD-C60B-1CF7-DD27-A2A6AF999981}"/>
              </a:ext>
            </a:extLst>
          </p:cNvPr>
          <p:cNvSpPr/>
          <p:nvPr/>
        </p:nvSpPr>
        <p:spPr>
          <a:xfrm>
            <a:off x="3137575" y="1692632"/>
            <a:ext cx="2186608" cy="7190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Children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8D22D9-B0AF-644A-8B10-3E23A6D979D7}"/>
              </a:ext>
            </a:extLst>
          </p:cNvPr>
          <p:cNvSpPr/>
          <p:nvPr/>
        </p:nvSpPr>
        <p:spPr>
          <a:xfrm>
            <a:off x="950967" y="3160479"/>
            <a:ext cx="2186608" cy="7190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Adults without Children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88AB86-238B-2B65-5671-D02217251F06}"/>
              </a:ext>
            </a:extLst>
          </p:cNvPr>
          <p:cNvSpPr/>
          <p:nvPr/>
        </p:nvSpPr>
        <p:spPr>
          <a:xfrm>
            <a:off x="5366151" y="3160479"/>
            <a:ext cx="2186608" cy="7190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Adults with Children (Parents)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2D37A1C-8AAA-51EF-7DBF-A6875E1B944B}"/>
              </a:ext>
            </a:extLst>
          </p:cNvPr>
          <p:cNvSpPr/>
          <p:nvPr/>
        </p:nvSpPr>
        <p:spPr>
          <a:xfrm>
            <a:off x="3137575" y="4628325"/>
            <a:ext cx="2186608" cy="7190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>
                    <a:lumMod val="10000"/>
                  </a:schemeClr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Adults (50+)</a:t>
            </a:r>
          </a:p>
        </p:txBody>
      </p: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54BD9D61-7403-C551-CE8C-25166F8FB0CB}"/>
              </a:ext>
            </a:extLst>
          </p:cNvPr>
          <p:cNvCxnSpPr>
            <a:stCxn id="3" idx="1"/>
            <a:endCxn id="9" idx="0"/>
          </p:cNvCxnSpPr>
          <p:nvPr/>
        </p:nvCxnSpPr>
        <p:spPr>
          <a:xfrm rot="10800000" flipV="1">
            <a:off x="2044271" y="2052181"/>
            <a:ext cx="1093304" cy="1108297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AB874985-94E2-1B15-394A-10C74E684CF2}"/>
              </a:ext>
            </a:extLst>
          </p:cNvPr>
          <p:cNvCxnSpPr>
            <a:cxnSpLocks/>
            <a:stCxn id="9" idx="2"/>
            <a:endCxn id="33" idx="1"/>
          </p:cNvCxnSpPr>
          <p:nvPr/>
        </p:nvCxnSpPr>
        <p:spPr>
          <a:xfrm rot="16200000" flipH="1">
            <a:off x="2036776" y="3887073"/>
            <a:ext cx="1108297" cy="1093304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E2574EAB-9B1C-8E1F-E387-FB9384B0F709}"/>
              </a:ext>
            </a:extLst>
          </p:cNvPr>
          <p:cNvCxnSpPr>
            <a:cxnSpLocks/>
            <a:stCxn id="3" idx="3"/>
            <a:endCxn id="31" idx="0"/>
          </p:cNvCxnSpPr>
          <p:nvPr/>
        </p:nvCxnSpPr>
        <p:spPr>
          <a:xfrm>
            <a:off x="5324183" y="2052182"/>
            <a:ext cx="1135272" cy="1108297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8A22C03A-CB59-57C4-617B-1C91E502219A}"/>
              </a:ext>
            </a:extLst>
          </p:cNvPr>
          <p:cNvCxnSpPr>
            <a:cxnSpLocks/>
            <a:stCxn id="31" idx="2"/>
            <a:endCxn id="33" idx="3"/>
          </p:cNvCxnSpPr>
          <p:nvPr/>
        </p:nvCxnSpPr>
        <p:spPr>
          <a:xfrm rot="5400000">
            <a:off x="5337672" y="3866089"/>
            <a:ext cx="1108297" cy="1135272"/>
          </a:xfrm>
          <a:prstGeom prst="curvedConnector2">
            <a:avLst/>
          </a:prstGeom>
          <a:ln w="25400">
            <a:solidFill>
              <a:schemeClr val="bg1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560783-B4C4-D39C-01CA-9E667D480057}"/>
                  </a:ext>
                </a:extLst>
              </p:cNvPr>
              <p:cNvSpPr txBox="1"/>
              <p:nvPr/>
            </p:nvSpPr>
            <p:spPr>
              <a:xfrm>
                <a:off x="1779106" y="1980843"/>
                <a:ext cx="63934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560783-B4C4-D39C-01CA-9E667D480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106" y="1980843"/>
                <a:ext cx="639342" cy="1107996"/>
              </a:xfrm>
              <a:prstGeom prst="rect">
                <a:avLst/>
              </a:prstGeom>
              <a:blipFill>
                <a:blip r:embed="rId3"/>
                <a:stretch>
                  <a:fillRect l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81B2A1-0202-C99B-3168-A8A97CF4CA10}"/>
                  </a:ext>
                </a:extLst>
              </p:cNvPr>
              <p:cNvSpPr txBox="1"/>
              <p:nvPr/>
            </p:nvSpPr>
            <p:spPr>
              <a:xfrm>
                <a:off x="7970549" y="2231720"/>
                <a:ext cx="3574089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 aging rate</a:t>
                </a: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4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F81B2A1-0202-C99B-3168-A8A97CF4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0549" y="2231720"/>
                <a:ext cx="3574089" cy="2308324"/>
              </a:xfrm>
              <a:prstGeom prst="rect">
                <a:avLst/>
              </a:prstGeom>
              <a:blipFill>
                <a:blip r:embed="rId4"/>
                <a:stretch>
                  <a:fillRect l="-707" t="-2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56C1A1D-CD9F-E05E-7EF9-CE2E968E6670}"/>
                  </a:ext>
                </a:extLst>
              </p:cNvPr>
              <p:cNvSpPr txBox="1"/>
              <p:nvPr/>
            </p:nvSpPr>
            <p:spPr>
              <a:xfrm>
                <a:off x="6248799" y="1980843"/>
                <a:ext cx="421312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56C1A1D-CD9F-E05E-7EF9-CE2E968E6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799" y="1980843"/>
                <a:ext cx="421312" cy="1107996"/>
              </a:xfrm>
              <a:prstGeom prst="rect">
                <a:avLst/>
              </a:prstGeom>
              <a:blipFill>
                <a:blip r:embed="rId5"/>
                <a:stretch>
                  <a:fillRect l="-1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7CE7E7-F977-6DB8-C8F1-9CF59FE3AF72}"/>
                  </a:ext>
                </a:extLst>
              </p:cNvPr>
              <p:cNvSpPr txBox="1"/>
              <p:nvPr/>
            </p:nvSpPr>
            <p:spPr>
              <a:xfrm>
                <a:off x="1779105" y="4628325"/>
                <a:ext cx="470578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7CE7E7-F977-6DB8-C8F1-9CF59FE3A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105" y="4628325"/>
                <a:ext cx="470578" cy="1107996"/>
              </a:xfrm>
              <a:prstGeom prst="rect">
                <a:avLst/>
              </a:prstGeom>
              <a:blipFill>
                <a:blip r:embed="rId6"/>
                <a:stretch>
                  <a:fillRect l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CE356D-5947-D9FA-E055-A343D3A9A091}"/>
                  </a:ext>
                </a:extLst>
              </p:cNvPr>
              <p:cNvSpPr txBox="1"/>
              <p:nvPr/>
            </p:nvSpPr>
            <p:spPr>
              <a:xfrm>
                <a:off x="6259315" y="4598675"/>
                <a:ext cx="46172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CE356D-5947-D9FA-E055-A343D3A9A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9315" y="4598675"/>
                <a:ext cx="461729" cy="1107996"/>
              </a:xfrm>
              <a:prstGeom prst="rect">
                <a:avLst/>
              </a:prstGeom>
              <a:blipFill>
                <a:blip r:embed="rId7"/>
                <a:stretch>
                  <a:fillRect l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6183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5C3EE616-0E3B-0308-88AC-741449ED1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C407BBA6-A2A5-CED8-FB94-5E1945203A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COVID-19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5AA7705-9529-90E4-B1E7-BF6381E0A5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3F68147-A5D2-84CC-C382-2ACAC4F58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392042"/>
              </p:ext>
            </p:extLst>
          </p:nvPr>
        </p:nvGraphicFramePr>
        <p:xfrm>
          <a:off x="4219388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64.23%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86.28%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DCCB58A-ECF2-0E8B-B384-6D03434B737C}"/>
              </a:ext>
            </a:extLst>
          </p:cNvPr>
          <p:cNvGraphicFramePr>
            <a:graphicFrameLocks noGrp="1"/>
          </p:cNvGraphicFramePr>
          <p:nvPr/>
        </p:nvGraphicFramePr>
        <p:xfrm>
          <a:off x="327665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931A36-D980-0A64-086B-2C0E8E24B8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709622"/>
              </p:ext>
            </p:extLst>
          </p:nvPr>
        </p:nvGraphicFramePr>
        <p:xfrm>
          <a:off x="8111111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69.73%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86.28%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348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1636EB81-623E-C4BD-326F-B2C30244F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C2D31E2-4CED-60FB-798F-02A718EA27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5" name="Picture 4" descr="A graph of a normal distribution&#10;&#10;AI-generated content may be incorrect.">
            <a:extLst>
              <a:ext uri="{FF2B5EF4-FFF2-40B4-BE49-F238E27FC236}">
                <a16:creationId xmlns:a16="http://schemas.microsoft.com/office/drawing/2014/main" id="{DE765648-864A-07FD-62FB-82939CE41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839" y="574040"/>
            <a:ext cx="8512629" cy="595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641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53985A8E-8134-C550-33D5-0055867E9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C1B01AB-9BE7-F86B-43BE-811C57B350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8F35768A-73CD-C8BF-B125-ACA0917BC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" y="490728"/>
            <a:ext cx="8747760" cy="612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55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A85C9449-67C1-B3EB-DD29-F762DFBDC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F92D25DB-C9C5-43E3-4F38-4AFCC81F54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Flu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6C23F530-FE17-468C-B198-C2C57062F5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A3BC3E-0B14-D3B6-009E-4DB2404073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084974"/>
              </p:ext>
            </p:extLst>
          </p:nvPr>
        </p:nvGraphicFramePr>
        <p:xfrm>
          <a:off x="4219388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59.76%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36.69%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49.09%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61.29%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CD2E31F-5498-44DC-1174-9F581DA12103}"/>
              </a:ext>
            </a:extLst>
          </p:cNvPr>
          <p:cNvGraphicFramePr>
            <a:graphicFrameLocks noGrp="1"/>
          </p:cNvGraphicFramePr>
          <p:nvPr/>
        </p:nvGraphicFramePr>
        <p:xfrm>
          <a:off x="327665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C9FB65-7132-2E8B-D9C5-0161615F6C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840992"/>
              </p:ext>
            </p:extLst>
          </p:nvPr>
        </p:nvGraphicFramePr>
        <p:xfrm>
          <a:off x="8111111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59.76%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59.76%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59.76%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61.29%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5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0230AAA0-E857-E792-FCCB-517015962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C580722-C35A-5ACE-7D24-F2363D2C31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4" name="Picture 3" descr="A graph of a normal distribution&#10;&#10;AI-generated content may be incorrect.">
            <a:extLst>
              <a:ext uri="{FF2B5EF4-FFF2-40B4-BE49-F238E27FC236}">
                <a16:creationId xmlns:a16="http://schemas.microsoft.com/office/drawing/2014/main" id="{EC789263-1584-6A8A-E043-3F043F6F9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7396" y="420177"/>
            <a:ext cx="9177209" cy="6424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016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1560F92C-8FA8-E1E4-DFC6-F5524BCBE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C3D101F-E075-133F-A114-70D68776DA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5660F88D-DD0C-7186-8A68-82E126667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736" y="435675"/>
            <a:ext cx="9132929" cy="639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6318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475A14D0-9199-071A-D21B-9BED8AD43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3C8740A7-F24C-BC94-5C56-E017E74F47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RSV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687977AE-CBF0-4CAD-B3DB-0B2B9A7D13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1BAD9AF-3662-CADA-8513-120E4CEE6D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309396"/>
              </p:ext>
            </p:extLst>
          </p:nvPr>
        </p:nvGraphicFramePr>
        <p:xfrm>
          <a:off x="4219388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46.8%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8264258-2261-0598-ED83-44D6B062FFE0}"/>
              </a:ext>
            </a:extLst>
          </p:cNvPr>
          <p:cNvGraphicFramePr>
            <a:graphicFrameLocks noGrp="1"/>
          </p:cNvGraphicFramePr>
          <p:nvPr/>
        </p:nvGraphicFramePr>
        <p:xfrm>
          <a:off x="327665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AC1BFF-7D9A-5C7F-5487-EF6561D441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26530"/>
              </p:ext>
            </p:extLst>
          </p:nvPr>
        </p:nvGraphicFramePr>
        <p:xfrm>
          <a:off x="8111111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46.8%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46.8%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46.8%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46.8%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9385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EB163B61-35F3-583E-69D8-B38EF9AE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B15D2B7-11CC-E7C8-E023-59A017630B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5" name="Picture 4" descr="A graph of a number of children&#10;&#10;AI-generated content may be incorrect.">
            <a:extLst>
              <a:ext uri="{FF2B5EF4-FFF2-40B4-BE49-F238E27FC236}">
                <a16:creationId xmlns:a16="http://schemas.microsoft.com/office/drawing/2014/main" id="{A87613A6-FB96-9CBC-B36C-0173F1C1D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270" y="558074"/>
            <a:ext cx="8783216" cy="6148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8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2ECC0F46-990D-0834-56E9-D21AF0D78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C7A805D-9E3A-AE33-846A-D46131EEFD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5" name="Picture 4" descr="A graph of a number of children&#10;&#10;AI-generated content may be incorrect.">
            <a:extLst>
              <a:ext uri="{FF2B5EF4-FFF2-40B4-BE49-F238E27FC236}">
                <a16:creationId xmlns:a16="http://schemas.microsoft.com/office/drawing/2014/main" id="{E15FE8AD-CB67-D28F-4256-75B39ED91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303" y="563606"/>
            <a:ext cx="8499389" cy="594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429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94CC68CF-6A3A-C130-1553-71D27A59B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>
            <a:extLst>
              <a:ext uri="{FF2B5EF4-FFF2-40B4-BE49-F238E27FC236}">
                <a16:creationId xmlns:a16="http://schemas.microsoft.com/office/drawing/2014/main" id="{FD20F774-3BEA-3292-BB43-64FB6BB346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0967" y="466728"/>
            <a:ext cx="10728128" cy="141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latin typeface="Georgia Pro" panose="02040502050405020303" pitchFamily="18" charset="0"/>
              </a:rPr>
              <a:t>Pertussis</a:t>
            </a:r>
            <a:endParaRPr i="1" dirty="0">
              <a:latin typeface="Georgia Pro" panose="02040502050405020303" pitchFamily="18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E0C81B3-F3C4-EE0C-EE08-907DAB52C1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AD2F51D-C189-CE2C-902C-29772C6377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4695743"/>
              </p:ext>
            </p:extLst>
          </p:nvPr>
        </p:nvGraphicFramePr>
        <p:xfrm>
          <a:off x="4219388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NA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6E5603C-F9F8-811C-D6E1-27A9B3987EC0}"/>
              </a:ext>
            </a:extLst>
          </p:cNvPr>
          <p:cNvGraphicFramePr>
            <a:graphicFrameLocks noGrp="1"/>
          </p:cNvGraphicFramePr>
          <p:nvPr/>
        </p:nvGraphicFramePr>
        <p:xfrm>
          <a:off x="327665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A5A84A-7C35-92FF-DB28-1FD99F7178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286411"/>
              </p:ext>
            </p:extLst>
          </p:nvPr>
        </p:nvGraphicFramePr>
        <p:xfrm>
          <a:off x="8111111" y="2362200"/>
          <a:ext cx="3346824" cy="2539999"/>
        </p:xfrm>
        <a:graphic>
          <a:graphicData uri="http://schemas.openxmlformats.org/drawingml/2006/table">
            <a:tbl>
              <a:tblPr firstRow="1" bandRow="1"/>
              <a:tblGrid>
                <a:gridCol w="1500872">
                  <a:extLst>
                    <a:ext uri="{9D8B030D-6E8A-4147-A177-3AD203B41FA5}">
                      <a16:colId xmlns:a16="http://schemas.microsoft.com/office/drawing/2014/main" val="3416288035"/>
                    </a:ext>
                  </a:extLst>
                </a:gridCol>
                <a:gridCol w="1845952">
                  <a:extLst>
                    <a:ext uri="{9D8B030D-6E8A-4147-A177-3AD203B41FA5}">
                      <a16:colId xmlns:a16="http://schemas.microsoft.com/office/drawing/2014/main" val="1083668707"/>
                    </a:ext>
                  </a:extLst>
                </a:gridCol>
              </a:tblGrid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Age Group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Vaccination Coverage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63237441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Children (0-18)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86%</a:t>
                      </a:r>
                      <a:endParaRPr kumimoji="0" 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542642978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Childless Adults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86%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078675039"/>
                  </a:ext>
                </a:extLst>
              </a:tr>
              <a:tr h="52832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with Children (19-50)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86%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932920719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Adults (50+) </a:t>
                      </a:r>
                    </a:p>
                  </a:txBody>
                  <a:tcPr marL="121920" marR="121920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86%</a:t>
                      </a: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3458848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352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953079C8-27DA-3F24-E6AE-E8DE6B4DA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61D5DC3-E40D-5479-509F-336CF116E4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/>
          </a:p>
        </p:txBody>
      </p:sp>
      <p:pic>
        <p:nvPicPr>
          <p:cNvPr id="4" name="Picture 3" descr="A graph of a patient&#10;&#10;AI-generated content may be incorrect.">
            <a:extLst>
              <a:ext uri="{FF2B5EF4-FFF2-40B4-BE49-F238E27FC236}">
                <a16:creationId xmlns:a16="http://schemas.microsoft.com/office/drawing/2014/main" id="{05BF822F-E3C9-7F65-92EF-3B0A8A7E3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720" y="544246"/>
            <a:ext cx="8822724" cy="6175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731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539</Words>
  <Application>Microsoft Macintosh PowerPoint</Application>
  <PresentationFormat>Widescreen</PresentationFormat>
  <Paragraphs>152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Georgia Pro</vt:lpstr>
      <vt:lpstr>Office Theme</vt:lpstr>
      <vt:lpstr>SHIELD Meeting 6/3/25</vt:lpstr>
      <vt:lpstr>How do adults and children behave       differently with respect to vaccination behavior?  Are these consistent across respiratory pathogens?</vt:lpstr>
      <vt:lpstr>Age-Stratified SEIRD Model </vt:lpstr>
      <vt:lpstr>COVID-19</vt:lpstr>
      <vt:lpstr>PowerPoint Presentation</vt:lpstr>
      <vt:lpstr>PowerPoint Presentation</vt:lpstr>
      <vt:lpstr>Flu</vt:lpstr>
      <vt:lpstr>PowerPoint Presentation</vt:lpstr>
      <vt:lpstr>PowerPoint Presentation</vt:lpstr>
      <vt:lpstr>RSV</vt:lpstr>
      <vt:lpstr>PowerPoint Presentation</vt:lpstr>
      <vt:lpstr>PowerPoint Presentation</vt:lpstr>
      <vt:lpstr>Pertussis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Anastasi, Alyssa Rose</dc:creator>
  <cp:lastModifiedBy>Anastasi, Alyssa Rose</cp:lastModifiedBy>
  <cp:revision>2</cp:revision>
  <dcterms:created xsi:type="dcterms:W3CDTF">2025-06-03T16:51:01Z</dcterms:created>
  <dcterms:modified xsi:type="dcterms:W3CDTF">2025-06-03T19:37:26Z</dcterms:modified>
</cp:coreProperties>
</file>