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9" r:id="rId4"/>
    <p:sldId id="269" r:id="rId5"/>
    <p:sldId id="270" r:id="rId6"/>
    <p:sldId id="272" r:id="rId7"/>
    <p:sldId id="273" r:id="rId8"/>
    <p:sldId id="266" r:id="rId9"/>
    <p:sldId id="274" r:id="rId10"/>
    <p:sldId id="268" r:id="rId11"/>
    <p:sldId id="276" r:id="rId12"/>
    <p:sldId id="271" r:id="rId13"/>
    <p:sldId id="275" r:id="rId14"/>
    <p:sldId id="261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726"/>
  </p:normalViewPr>
  <p:slideViewPr>
    <p:cSldViewPr snapToGrid="0">
      <p:cViewPr>
        <p:scale>
          <a:sx n="103" d="100"/>
          <a:sy n="103" d="100"/>
        </p:scale>
        <p:origin x="728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15483-F3D6-C841-9B6D-106F6F26AAE9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60517-4A88-A841-83D6-2391606F1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9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>
                <a:sym typeface="Wingdings" pitchFamily="2" charset="2"/>
              </a:rPr>
              <a:t> Delay R0, Add seasonality element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FC4BB-9DD1-164A-AC56-B73E42C5F0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52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60517-4A88-A841-83D6-2391606F1C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75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9EF3-849B-8A55-49D6-2D17FC4C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D40DE-DE72-B0DF-E635-6ACE85D0A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D9BC7-FE47-4D3D-6524-DDAC9EF09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  <a:p>
            <a:r>
              <a:rPr lang="en-US" dirty="0">
                <a:sym typeface="Wingdings" pitchFamily="2" charset="2"/>
              </a:rPr>
              <a:t> RSV overestimated, Flu underestimated?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520D2-73E8-E352-5A6F-4BAB48D99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FC4BB-9DD1-164A-AC56-B73E42C5F0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24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IDPH Vaccination Coverage Dashboard, defined as population who has the most recent booster</a:t>
            </a:r>
          </a:p>
          <a:p>
            <a:r>
              <a:rPr lang="en-US" dirty="0"/>
              <a:t>Opinions: Should these be any vaccine for COVID, or only current booster? </a:t>
            </a:r>
            <a:br>
              <a:rPr lang="en-US" dirty="0"/>
            </a:br>
            <a:r>
              <a:rPr lang="en-US" dirty="0"/>
              <a:t>What is the best way to look at RSV Vaccination for adults? Considering that  RSV vaccinations are not recommended for young adults, what rates would you recommend?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FC4BB-9DD1-164A-AC56-B73E42C5F0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167C-E43F-8C41-EFC1-91048832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77872-CD04-AB42-F810-DA8B3C0C6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891E4-8A1A-B060-FD5C-1EE3C1E0B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Overestimating/Underestimating? How to address?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8386-E514-EC05-4193-8F150857B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AFC4BB-9DD1-164A-AC56-B73E42C5F0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15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AC6C-7324-0B5B-BDAF-07A799B23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3164C-2855-0D89-DEA3-72C14D750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4405-8651-8CFD-4199-8DEED36E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A60A-520B-4FA9-3D47-030B1F85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B629-446E-CDC5-D527-2B0E2EAB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EAA5-3533-F120-4899-826EC353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ED7F-DEF4-682C-1470-C273EE4E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FB2FB-7A22-7BA8-47B9-47C1FE39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8137D-36FB-1FFC-E25E-56C46938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6E82E-2539-A8E7-5745-32268F4B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6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7182-E8BD-29B7-B498-8EE75302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98F02-6016-2CCC-3C97-731C91CFF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49FC-F40C-5C72-B019-B3F661C5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2DF73-ADCB-56DF-037B-8C6D0881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52D88-A52D-3C23-934E-02DEB7E9C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C858-0DE3-0B2D-2E06-F0C93DE3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78515-0504-43F3-FD4F-0FE55ECCC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DC509-24DC-B1A8-DC9C-E52380D794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7C122-C6FE-2096-4B6F-6E0FBDB2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FC0B3-CF8A-1017-E3D8-41207325D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E6C8F-D74B-D46C-44B1-3B772F6C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3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90FC-D7BE-E984-0AF6-872C44A1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4B38F-C99C-408D-2E5A-3B73C2759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2D768-C415-9B1B-2E48-DB697DF5E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345AF-567D-052B-7C78-9B508F3A7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19A06-3FB6-D830-F105-680A47CE8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2183CE-1C6F-021E-5FF8-6316234A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7A77B-D1E8-1375-8303-E331E313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A797E-3A02-8443-6C2B-6D7E98C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C9AB-D002-31D1-42E4-A81537C7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FBBFB-40D7-F504-E652-750A94B9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A8429-FE63-AC89-735D-7844FBE4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2F017-5BEE-1A30-E9EA-CA0BAD61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7382FE-D11F-05F5-867B-3AE9AC48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E040F-EEC4-B3EB-196C-C1E6A17D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06F1-71CC-884C-884C-D1D78353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30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131E-8EF0-5F31-6EF2-688D66D68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F3B8-5B91-D9C8-B2E8-89E2E03C2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310AD-3B9B-59B4-655E-09A273D7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93D45-95EA-A6DF-D170-FDDC2122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67979-EE1E-DB12-8893-E8D315E5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C43E-4722-AECC-F75F-147E0068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2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624C-9F7B-5EE2-4622-90B8F8FB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61B77-FAC3-1590-7F39-81759FEA4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5684D-CFC6-4C0E-B3D3-4090819BB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341A5-6D63-D1C5-807F-E97A010B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26717-932E-FC84-6A80-978FA8AC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67331-2F4E-48C5-A323-244F6D0C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C871B-7ADF-1F17-8227-430136EA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3159E-AD20-E43F-8409-2200F54E9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1AC89-04F9-E518-30DF-AD091305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BB71-9BE6-6CDA-1C26-E2736725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306E6-8FDB-C442-CC49-1160BE1D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94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664171-74F6-6992-BCB4-700C3A87E4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5C508-207C-9C9C-100B-00EC68755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D3956-4A39-B368-0AEB-17E33F69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A4B5D-3F3E-7C09-BC9E-50DBE9B8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CD9B3-FE60-1F3D-F3F1-9B9886DA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5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9AB0B-5A6A-2E79-C61C-0092D868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297BE-7024-0E57-D844-A594AA00B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6726-906C-A583-9A7A-A9AADF176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F56F0-AB53-D845-93A9-D02CFC68C41D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28B68-B09F-188E-C010-2B6B22B34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9E69C-4BF0-A83E-7CD7-31AE64A3D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68989-E0C7-EF40-AA74-067C6299C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2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0.png"/><Relationship Id="rId18" Type="http://schemas.openxmlformats.org/officeDocument/2006/relationships/image" Target="../media/image170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2.png"/><Relationship Id="rId7" Type="http://schemas.openxmlformats.org/officeDocument/2006/relationships/image" Target="../media/image60.png"/><Relationship Id="rId12" Type="http://schemas.openxmlformats.org/officeDocument/2006/relationships/image" Target="../media/image111.png"/><Relationship Id="rId17" Type="http://schemas.openxmlformats.org/officeDocument/2006/relationships/image" Target="../media/image160.png"/><Relationship Id="rId25" Type="http://schemas.openxmlformats.org/officeDocument/2006/relationships/image" Target="../media/image24.png"/><Relationship Id="rId33" Type="http://schemas.openxmlformats.org/officeDocument/2006/relationships/image" Target="../media/image31.png"/><Relationship Id="rId2" Type="http://schemas.openxmlformats.org/officeDocument/2006/relationships/image" Target="../media/image110.png"/><Relationship Id="rId16" Type="http://schemas.openxmlformats.org/officeDocument/2006/relationships/image" Target="../media/image150.png"/><Relationship Id="rId20" Type="http://schemas.openxmlformats.org/officeDocument/2006/relationships/image" Target="../media/image19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7.png"/><Relationship Id="rId24" Type="http://schemas.openxmlformats.org/officeDocument/2006/relationships/image" Target="../media/image23.png"/><Relationship Id="rId32" Type="http://schemas.openxmlformats.org/officeDocument/2006/relationships/image" Target="../media/image30.png"/><Relationship Id="rId37" Type="http://schemas.openxmlformats.org/officeDocument/2006/relationships/image" Target="../media/image37.png"/><Relationship Id="rId5" Type="http://schemas.openxmlformats.org/officeDocument/2006/relationships/image" Target="../media/image40.png"/><Relationship Id="rId15" Type="http://schemas.openxmlformats.org/officeDocument/2006/relationships/image" Target="../media/image141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6.png"/><Relationship Id="rId10" Type="http://schemas.openxmlformats.org/officeDocument/2006/relationships/image" Target="../media/image16.png"/><Relationship Id="rId19" Type="http://schemas.openxmlformats.org/officeDocument/2006/relationships/image" Target="../media/image18.png"/><Relationship Id="rId31" Type="http://schemas.openxmlformats.org/officeDocument/2006/relationships/image" Target="../media/image28.png"/><Relationship Id="rId4" Type="http://schemas.openxmlformats.org/officeDocument/2006/relationships/image" Target="../media/image34.png"/><Relationship Id="rId9" Type="http://schemas.openxmlformats.org/officeDocument/2006/relationships/image" Target="../media/image151.png"/><Relationship Id="rId14" Type="http://schemas.openxmlformats.org/officeDocument/2006/relationships/image" Target="../media/image130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5.png"/><Relationship Id="rId8" Type="http://schemas.openxmlformats.org/officeDocument/2006/relationships/image" Target="../media/image140.png"/><Relationship Id="rId3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F00B-8411-BB9C-D550-CED2C4465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SHIELD Meeting 11/7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1A598-7319-F97E-1866-66043C1D9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Tripledemic Modeling Updates</a:t>
            </a:r>
          </a:p>
        </p:txBody>
      </p:sp>
    </p:spTree>
    <p:extLst>
      <p:ext uri="{BB962C8B-B14F-4D97-AF65-F5344CB8AC3E}">
        <p14:creationId xmlns:p14="http://schemas.microsoft.com/office/powerpoint/2010/main" val="282439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9EBB-DF30-D460-7744-E335D48B7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1EF702-B4FD-500F-0BDC-B739D651A549}"/>
              </a:ext>
            </a:extLst>
          </p:cNvPr>
          <p:cNvSpPr/>
          <p:nvPr/>
        </p:nvSpPr>
        <p:spPr>
          <a:xfrm>
            <a:off x="508208" y="178792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63E9A-04D0-BF59-5C1D-A6489CB17097}"/>
              </a:ext>
            </a:extLst>
          </p:cNvPr>
          <p:cNvSpPr/>
          <p:nvPr/>
        </p:nvSpPr>
        <p:spPr>
          <a:xfrm>
            <a:off x="3065449" y="131563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E83E8-1114-3060-844D-3713FA799C7E}"/>
              </a:ext>
            </a:extLst>
          </p:cNvPr>
          <p:cNvSpPr/>
          <p:nvPr/>
        </p:nvSpPr>
        <p:spPr>
          <a:xfrm>
            <a:off x="3065449" y="234592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D48ABE-0071-436E-D580-0B8DBCD142AA}"/>
              </a:ext>
            </a:extLst>
          </p:cNvPr>
          <p:cNvSpPr/>
          <p:nvPr/>
        </p:nvSpPr>
        <p:spPr>
          <a:xfrm>
            <a:off x="4527834" y="131563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2D4657-34D2-0A55-FFC0-99DD6921C376}"/>
              </a:ext>
            </a:extLst>
          </p:cNvPr>
          <p:cNvSpPr/>
          <p:nvPr/>
        </p:nvSpPr>
        <p:spPr>
          <a:xfrm>
            <a:off x="4527834" y="234592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549824-4423-8A94-EAB5-64C27C9F0611}"/>
              </a:ext>
            </a:extLst>
          </p:cNvPr>
          <p:cNvSpPr/>
          <p:nvPr/>
        </p:nvSpPr>
        <p:spPr>
          <a:xfrm>
            <a:off x="6677417" y="104264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76C772-A229-D60F-B30F-1037FC29B4C1}"/>
              </a:ext>
            </a:extLst>
          </p:cNvPr>
          <p:cNvSpPr/>
          <p:nvPr/>
        </p:nvSpPr>
        <p:spPr>
          <a:xfrm>
            <a:off x="6677417" y="26535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B1B114-C6EF-0249-4896-DA95E2E4ED5D}"/>
              </a:ext>
            </a:extLst>
          </p:cNvPr>
          <p:cNvSpPr/>
          <p:nvPr/>
        </p:nvSpPr>
        <p:spPr>
          <a:xfrm>
            <a:off x="8990206" y="10284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A1CB5F-4E4E-C5CD-DCEF-528CFACCD311}"/>
              </a:ext>
            </a:extLst>
          </p:cNvPr>
          <p:cNvSpPr/>
          <p:nvPr/>
        </p:nvSpPr>
        <p:spPr>
          <a:xfrm>
            <a:off x="8984530" y="264257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FE8152-DA15-595F-EECF-205A75BEDF83}"/>
              </a:ext>
            </a:extLst>
          </p:cNvPr>
          <p:cNvSpPr/>
          <p:nvPr/>
        </p:nvSpPr>
        <p:spPr>
          <a:xfrm>
            <a:off x="10697642" y="204564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CF528A79-F8D9-3D27-84EF-D15DA2BC16E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1112642" y="1540361"/>
            <a:ext cx="1952807" cy="472291"/>
          </a:xfrm>
          <a:prstGeom prst="bentConnector3">
            <a:avLst>
              <a:gd name="adj1" fmla="val 1349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8E503E6-E264-01EA-8BD4-FB272870F4C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112642" y="2012652"/>
            <a:ext cx="1952807" cy="557999"/>
          </a:xfrm>
          <a:prstGeom prst="bentConnector3">
            <a:avLst>
              <a:gd name="adj1" fmla="val 1349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18B9147-B94C-4BAC-1B5E-1E4E245E50A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3669883" y="1540361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B1C1257-B239-5798-0F03-5216DDA74054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3669883" y="2570651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8BEEF6F-092D-0A14-3C3C-D5A7CEEB93E9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5132268" y="1267373"/>
            <a:ext cx="1545149" cy="27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0BFD729-4EA9-8388-C060-D15D6F5E3C2A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5132268" y="2570651"/>
            <a:ext cx="1545149" cy="30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EA407F6-7681-101B-0E0B-2F40020EC105}"/>
                  </a:ext>
                </a:extLst>
              </p:cNvPr>
              <p:cNvSpPr txBox="1"/>
              <p:nvPr/>
            </p:nvSpPr>
            <p:spPr>
              <a:xfrm>
                <a:off x="3816713" y="1233211"/>
                <a:ext cx="3520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EA407F6-7681-101B-0E0B-2F40020EC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713" y="1233211"/>
                <a:ext cx="35203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5FE3085-64B1-FFCB-2EE1-E420042D3458}"/>
                  </a:ext>
                </a:extLst>
              </p:cNvPr>
              <p:cNvSpPr txBox="1"/>
              <p:nvPr/>
            </p:nvSpPr>
            <p:spPr>
              <a:xfrm>
                <a:off x="3810644" y="2272048"/>
                <a:ext cx="35203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5FE3085-64B1-FFCB-2EE1-E420042D3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644" y="2272048"/>
                <a:ext cx="35203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D67BEC5-7215-A823-2CCB-C4DA9796192A}"/>
                  </a:ext>
                </a:extLst>
              </p:cNvPr>
              <p:cNvSpPr txBox="1"/>
              <p:nvPr/>
            </p:nvSpPr>
            <p:spPr>
              <a:xfrm>
                <a:off x="1736172" y="1287691"/>
                <a:ext cx="744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𝑉𝐸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D67BEC5-7215-A823-2CCB-C4DA97961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172" y="1287691"/>
                <a:ext cx="744371" cy="215444"/>
              </a:xfrm>
              <a:prstGeom prst="rect">
                <a:avLst/>
              </a:prstGeom>
              <a:blipFill>
                <a:blip r:embed="rId4"/>
                <a:stretch>
                  <a:fillRect l="-6667" r="-3333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0F4FB04-BF68-7428-AEB0-EE0FA0B3471E}"/>
                  </a:ext>
                </a:extLst>
              </p:cNvPr>
              <p:cNvSpPr txBox="1"/>
              <p:nvPr/>
            </p:nvSpPr>
            <p:spPr>
              <a:xfrm>
                <a:off x="1737476" y="2324630"/>
                <a:ext cx="8431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⋅(1−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A0F4FB04-BF68-7428-AEB0-EE0FA0B34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476" y="2324630"/>
                <a:ext cx="843180" cy="215444"/>
              </a:xfrm>
              <a:prstGeom prst="rect">
                <a:avLst/>
              </a:prstGeom>
              <a:blipFill>
                <a:blip r:embed="rId5"/>
                <a:stretch>
                  <a:fillRect l="-4412" r="-735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173CB08-1B88-A56F-5C0D-5F28C5C3A83E}"/>
                  </a:ext>
                </a:extLst>
              </p:cNvPr>
              <p:cNvSpPr txBox="1"/>
              <p:nvPr/>
            </p:nvSpPr>
            <p:spPr>
              <a:xfrm rot="21001621">
                <a:off x="5445072" y="1153420"/>
                <a:ext cx="9233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173CB08-1B88-A56F-5C0D-5F28C5C3A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5445072" y="1153420"/>
                <a:ext cx="923393" cy="184666"/>
              </a:xfrm>
              <a:prstGeom prst="rect">
                <a:avLst/>
              </a:prstGeom>
              <a:blipFill>
                <a:blip r:embed="rId6"/>
                <a:stretch>
                  <a:fillRect l="-2632" r="-1316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8F3BA73-2214-224A-ABB9-088786EA96BE}"/>
                  </a:ext>
                </a:extLst>
              </p:cNvPr>
              <p:cNvSpPr txBox="1"/>
              <p:nvPr/>
            </p:nvSpPr>
            <p:spPr>
              <a:xfrm rot="444678">
                <a:off x="5464366" y="2743648"/>
                <a:ext cx="7237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𝑃𝑟𝑜𝑏𝐻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F8F3BA73-2214-224A-ABB9-088786EA9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5464366" y="2743648"/>
                <a:ext cx="723723" cy="184666"/>
              </a:xfrm>
              <a:prstGeom prst="rect">
                <a:avLst/>
              </a:prstGeom>
              <a:blipFill>
                <a:blip r:embed="rId7"/>
                <a:stretch>
                  <a:fillRect l="-500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05E5543-38F4-D958-83BA-89141B077917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5132268" y="1540361"/>
            <a:ext cx="5565374" cy="730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AA59C66-95F1-271C-1D0C-6A507ADC0172}"/>
                  </a:ext>
                </a:extLst>
              </p:cNvPr>
              <p:cNvSpPr txBox="1"/>
              <p:nvPr/>
            </p:nvSpPr>
            <p:spPr>
              <a:xfrm rot="321211">
                <a:off x="5470217" y="1719461"/>
                <a:ext cx="125040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AA59C66-95F1-271C-1D0C-6A507ADC0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5470217" y="1719461"/>
                <a:ext cx="1250406" cy="184666"/>
              </a:xfrm>
              <a:prstGeom prst="rect">
                <a:avLst/>
              </a:prstGeom>
              <a:blipFill>
                <a:blip r:embed="rId8"/>
                <a:stretch>
                  <a:fillRect l="-3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59B2C75-01CA-51B5-5C62-360E5880DC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7281851" y="1253210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5F9197B-1476-872F-7FA1-D4AB86A51F65}"/>
                  </a:ext>
                </a:extLst>
              </p:cNvPr>
              <p:cNvSpPr txBox="1"/>
              <p:nvPr/>
            </p:nvSpPr>
            <p:spPr>
              <a:xfrm>
                <a:off x="7330603" y="997108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5F9197B-1476-872F-7FA1-D4AB86A5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03" y="997108"/>
                <a:ext cx="1553183" cy="184666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8DDA92-77CF-7499-ADDD-CA7B1626897B}"/>
              </a:ext>
            </a:extLst>
          </p:cNvPr>
          <p:cNvCxnSpPr>
            <a:cxnSpLocks/>
            <a:stCxn id="12" idx="3"/>
            <a:endCxn id="30" idx="1"/>
          </p:cNvCxnSpPr>
          <p:nvPr/>
        </p:nvCxnSpPr>
        <p:spPr>
          <a:xfrm flipV="1">
            <a:off x="5132268" y="2270370"/>
            <a:ext cx="5565374" cy="30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0F26588-8423-3586-547D-5CB8EE21A46D}"/>
                  </a:ext>
                </a:extLst>
              </p:cNvPr>
              <p:cNvSpPr txBox="1"/>
              <p:nvPr/>
            </p:nvSpPr>
            <p:spPr>
              <a:xfrm rot="21369235">
                <a:off x="5590890" y="2290401"/>
                <a:ext cx="10090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𝑃𝑟𝑜𝑏𝐻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0F26588-8423-3586-547D-5CB8EE21A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5590890" y="2290401"/>
                <a:ext cx="1009059" cy="184666"/>
              </a:xfrm>
              <a:prstGeom prst="rect">
                <a:avLst/>
              </a:prstGeom>
              <a:blipFill>
                <a:blip r:embed="rId10"/>
                <a:stretch>
                  <a:fillRect l="-4878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ABD00F4-F268-BE11-4B26-D2B597D6CB46}"/>
              </a:ext>
            </a:extLst>
          </p:cNvPr>
          <p:cNvCxnSpPr>
            <a:cxnSpLocks/>
          </p:cNvCxnSpPr>
          <p:nvPr/>
        </p:nvCxnSpPr>
        <p:spPr>
          <a:xfrm flipV="1">
            <a:off x="7274782" y="2865814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D36322F-62CF-F5B8-6379-84F74A094606}"/>
                  </a:ext>
                </a:extLst>
              </p:cNvPr>
              <p:cNvSpPr txBox="1"/>
              <p:nvPr/>
            </p:nvSpPr>
            <p:spPr>
              <a:xfrm>
                <a:off x="7352367" y="2887139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D36322F-62CF-F5B8-6379-84F74A094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367" y="2887139"/>
                <a:ext cx="1553183" cy="184666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itle 1">
            <a:extLst>
              <a:ext uri="{FF2B5EF4-FFF2-40B4-BE49-F238E27FC236}">
                <a16:creationId xmlns:a16="http://schemas.microsoft.com/office/drawing/2014/main" id="{ACF72257-993A-395C-6DD9-A3628522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14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Model Structure: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DB14E539-3656-BB6D-8BF4-2FA8EE4E5835}"/>
              </a:ext>
            </a:extLst>
          </p:cNvPr>
          <p:cNvCxnSpPr>
            <a:cxnSpLocks/>
            <a:stCxn id="12" idx="2"/>
            <a:endCxn id="24" idx="2"/>
          </p:cNvCxnSpPr>
          <p:nvPr/>
        </p:nvCxnSpPr>
        <p:spPr>
          <a:xfrm rot="16200000" flipH="1">
            <a:off x="6910073" y="715354"/>
            <a:ext cx="296653" cy="4456696"/>
          </a:xfrm>
          <a:prstGeom prst="curvedConnector3">
            <a:avLst>
              <a:gd name="adj1" fmla="val 213489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673F7ACB-F80B-E363-8466-5C04310738D1}"/>
              </a:ext>
            </a:extLst>
          </p:cNvPr>
          <p:cNvCxnSpPr>
            <a:cxnSpLocks/>
            <a:stCxn id="11" idx="0"/>
            <a:endCxn id="23" idx="0"/>
          </p:cNvCxnSpPr>
          <p:nvPr/>
        </p:nvCxnSpPr>
        <p:spPr>
          <a:xfrm rot="5400000" flipH="1" flipV="1">
            <a:off x="6917662" y="-1059125"/>
            <a:ext cx="287151" cy="4462372"/>
          </a:xfrm>
          <a:prstGeom prst="curvedConnector3">
            <a:avLst>
              <a:gd name="adj1" fmla="val 17961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97C09A1B-3919-3117-1521-2EBFC0784548}"/>
              </a:ext>
            </a:extLst>
          </p:cNvPr>
          <p:cNvCxnSpPr>
            <a:cxnSpLocks/>
            <a:stCxn id="30" idx="2"/>
          </p:cNvCxnSpPr>
          <p:nvPr/>
        </p:nvCxnSpPr>
        <p:spPr>
          <a:xfrm rot="5400000">
            <a:off x="9222163" y="3212865"/>
            <a:ext cx="2495466" cy="10599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DB6933BA-8270-1F58-D1FB-9948F76EE11C}"/>
              </a:ext>
            </a:extLst>
          </p:cNvPr>
          <p:cNvCxnSpPr>
            <a:cxnSpLocks/>
          </p:cNvCxnSpPr>
          <p:nvPr/>
        </p:nvCxnSpPr>
        <p:spPr>
          <a:xfrm rot="5400000">
            <a:off x="9576642" y="3567344"/>
            <a:ext cx="2495468" cy="3509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A5EE595-A3DB-0EA7-2117-8F867D1129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59301" y="3535653"/>
            <a:ext cx="2495466" cy="41435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6DE2B08E-CCF2-03B8-A161-EE93E32B836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10224611" y="3270342"/>
            <a:ext cx="2495466" cy="9449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ED71976C-E95C-75F9-0047-7FA0E3601D11}"/>
              </a:ext>
            </a:extLst>
          </p:cNvPr>
          <p:cNvCxnSpPr>
            <a:cxnSpLocks/>
            <a:stCxn id="30" idx="2"/>
            <a:endCxn id="4" idx="2"/>
          </p:cNvCxnSpPr>
          <p:nvPr/>
        </p:nvCxnSpPr>
        <p:spPr>
          <a:xfrm rot="5400000" flipH="1">
            <a:off x="5776283" y="-2728481"/>
            <a:ext cx="257718" cy="10189434"/>
          </a:xfrm>
          <a:prstGeom prst="curvedConnector3">
            <a:avLst>
              <a:gd name="adj1" fmla="val -48124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F777C86-E44E-46A4-C672-7D15FDBE189C}"/>
                  </a:ext>
                </a:extLst>
              </p:cNvPr>
              <p:cNvSpPr txBox="1"/>
              <p:nvPr/>
            </p:nvSpPr>
            <p:spPr>
              <a:xfrm>
                <a:off x="5650208" y="3779123"/>
                <a:ext cx="35203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F777C86-E44E-46A4-C672-7D15FDBE1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208" y="3779123"/>
                <a:ext cx="352038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>
            <a:extLst>
              <a:ext uri="{FF2B5EF4-FFF2-40B4-BE49-F238E27FC236}">
                <a16:creationId xmlns:a16="http://schemas.microsoft.com/office/drawing/2014/main" id="{662BA3C0-1985-E6A3-99AF-34BC1BBB6B56}"/>
              </a:ext>
            </a:extLst>
          </p:cNvPr>
          <p:cNvSpPr/>
          <p:nvPr/>
        </p:nvSpPr>
        <p:spPr>
          <a:xfrm>
            <a:off x="9824575" y="5023554"/>
            <a:ext cx="932240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COVID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143A09-EA2D-3E07-2558-56E119F1468A}"/>
              </a:ext>
            </a:extLst>
          </p:cNvPr>
          <p:cNvSpPr/>
          <p:nvPr/>
        </p:nvSpPr>
        <p:spPr>
          <a:xfrm>
            <a:off x="11162281" y="5021989"/>
            <a:ext cx="932240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RSV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3CB2F3-2780-9990-3430-BD1B5D305087}"/>
                  </a:ext>
                </a:extLst>
              </p:cNvPr>
              <p:cNvSpPr txBox="1"/>
              <p:nvPr/>
            </p:nvSpPr>
            <p:spPr>
              <a:xfrm>
                <a:off x="89706" y="4388202"/>
                <a:ext cx="609949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S: Pool of </a:t>
                </a:r>
                <a:r>
                  <a:rPr lang="en-US" b="0" dirty="0" err="1"/>
                  <a:t>susceptibles</a:t>
                </a:r>
                <a:r>
                  <a:rPr lang="en-US" b="0" dirty="0"/>
                  <a:t> for all diseases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: force of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vaccination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𝑉𝐸</m:t>
                    </m:r>
                  </m:oMath>
                </a14:m>
                <a:r>
                  <a:rPr lang="en-US" dirty="0"/>
                  <a:t>: vaccine efficacy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: rate from exposure to infection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𝑣𝑎𝑥</m:t>
                        </m:r>
                      </m:sub>
                    </m:sSub>
                  </m:oMath>
                </a14:m>
                <a:r>
                  <a:rPr lang="en-US" dirty="0"/>
                  <a:t>: probability of hospitalization with vaccination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𝑃𝑟𝑜𝑏𝐻</m:t>
                    </m:r>
                  </m:oMath>
                </a14:m>
                <a:r>
                  <a:rPr lang="en-US" dirty="0"/>
                  <a:t>: probability of hospitalization without vaccination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73CB2F3-2780-9990-3430-BD1B5D305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6" y="4388202"/>
                <a:ext cx="6099498" cy="2308324"/>
              </a:xfrm>
              <a:prstGeom prst="rect">
                <a:avLst/>
              </a:prstGeom>
              <a:blipFill>
                <a:blip r:embed="rId13"/>
                <a:stretch>
                  <a:fillRect l="-1040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F6CE95-A1E0-B88B-2C6C-29E6A5C2EE2A}"/>
                  </a:ext>
                </a:extLst>
              </p:cNvPr>
              <p:cNvSpPr txBox="1"/>
              <p:nvPr/>
            </p:nvSpPr>
            <p:spPr>
              <a:xfrm>
                <a:off x="4527834" y="4567046"/>
                <a:ext cx="476612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: recovery rate for infected individual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/>
                  <a:t>: recovery rate for hospitalized individual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𝑣𝑎𝑥</m:t>
                        </m:r>
                      </m:sub>
                    </m:sSub>
                  </m:oMath>
                </a14:m>
                <a:r>
                  <a:rPr lang="en-US" dirty="0"/>
                  <a:t>: death rate with vaccination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death rate without vaccination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: waning of immunity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F6CE95-A1E0-B88B-2C6C-29E6A5C2E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834" y="4567046"/>
                <a:ext cx="4766120" cy="1477328"/>
              </a:xfrm>
              <a:prstGeom prst="rect">
                <a:avLst/>
              </a:prstGeom>
              <a:blipFill>
                <a:blip r:embed="rId14"/>
                <a:stretch>
                  <a:fillRect l="-798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B40C05-3329-421E-57BD-AEC416C3F2E0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>
          <a:xfrm>
            <a:off x="7281851" y="1267373"/>
            <a:ext cx="3415791" cy="1002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B6B358-58D7-E587-124E-FD879F0A8ADD}"/>
                  </a:ext>
                </a:extLst>
              </p:cNvPr>
              <p:cNvSpPr txBox="1"/>
              <p:nvPr/>
            </p:nvSpPr>
            <p:spPr>
              <a:xfrm rot="850864">
                <a:off x="8235679" y="1544297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B6B358-58D7-E587-124E-FD879F0A8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50864">
                <a:off x="8235679" y="1544297"/>
                <a:ext cx="1553183" cy="1846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8E325F5-2683-E574-4451-5BB42A7E1B0F}"/>
              </a:ext>
            </a:extLst>
          </p:cNvPr>
          <p:cNvCxnSpPr>
            <a:cxnSpLocks/>
            <a:stCxn id="18" idx="3"/>
            <a:endCxn id="30" idx="1"/>
          </p:cNvCxnSpPr>
          <p:nvPr/>
        </p:nvCxnSpPr>
        <p:spPr>
          <a:xfrm flipV="1">
            <a:off x="7281851" y="2270370"/>
            <a:ext cx="3415791" cy="607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C49F72-4E40-872C-FF8D-2457400AD5B6}"/>
                  </a:ext>
                </a:extLst>
              </p:cNvPr>
              <p:cNvSpPr txBox="1"/>
              <p:nvPr/>
            </p:nvSpPr>
            <p:spPr>
              <a:xfrm rot="20805337">
                <a:off x="7386375" y="2508699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C49F72-4E40-872C-FF8D-2457400AD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05337">
                <a:off x="7386375" y="2508699"/>
                <a:ext cx="1553183" cy="1846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39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511A-7DB5-2853-0BFB-58D82071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880E3A-9728-C9E2-4629-63DF346232AE}"/>
              </a:ext>
            </a:extLst>
          </p:cNvPr>
          <p:cNvSpPr/>
          <p:nvPr/>
        </p:nvSpPr>
        <p:spPr>
          <a:xfrm>
            <a:off x="136116" y="32042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3474B-7C5F-3E4F-1E48-2B83F1ACBC5B}"/>
              </a:ext>
            </a:extLst>
          </p:cNvPr>
          <p:cNvSpPr/>
          <p:nvPr/>
        </p:nvSpPr>
        <p:spPr>
          <a:xfrm>
            <a:off x="2391739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AD601-A68B-EA18-3276-656CCAAD53D0}"/>
              </a:ext>
            </a:extLst>
          </p:cNvPr>
          <p:cNvSpPr/>
          <p:nvPr/>
        </p:nvSpPr>
        <p:spPr>
          <a:xfrm>
            <a:off x="2391739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E0CE5-049C-E923-7556-BA57A33BB9E5}"/>
              </a:ext>
            </a:extLst>
          </p:cNvPr>
          <p:cNvSpPr/>
          <p:nvPr/>
        </p:nvSpPr>
        <p:spPr>
          <a:xfrm>
            <a:off x="2391739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529094-F5B6-ADAD-599E-24AD163E797F}"/>
              </a:ext>
            </a:extLst>
          </p:cNvPr>
          <p:cNvSpPr/>
          <p:nvPr/>
        </p:nvSpPr>
        <p:spPr>
          <a:xfrm>
            <a:off x="2391739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BEC81-B2AD-C63C-F2E0-20D518D978D8}"/>
              </a:ext>
            </a:extLst>
          </p:cNvPr>
          <p:cNvSpPr/>
          <p:nvPr/>
        </p:nvSpPr>
        <p:spPr>
          <a:xfrm>
            <a:off x="2391739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E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4CD45-AFFA-4484-3DB7-CB925D4D7979}"/>
              </a:ext>
            </a:extLst>
          </p:cNvPr>
          <p:cNvSpPr/>
          <p:nvPr/>
        </p:nvSpPr>
        <p:spPr>
          <a:xfrm>
            <a:off x="2391739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BCF4B0-A7E2-23A0-1785-E20CC779AE67}"/>
              </a:ext>
            </a:extLst>
          </p:cNvPr>
          <p:cNvSpPr/>
          <p:nvPr/>
        </p:nvSpPr>
        <p:spPr>
          <a:xfrm>
            <a:off x="3854124" y="64362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B8F06-DF97-298C-2410-AB461CA40290}"/>
              </a:ext>
            </a:extLst>
          </p:cNvPr>
          <p:cNvSpPr/>
          <p:nvPr/>
        </p:nvSpPr>
        <p:spPr>
          <a:xfrm>
            <a:off x="3854124" y="167391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3C1B45-5825-257B-CC11-4693E1835C33}"/>
              </a:ext>
            </a:extLst>
          </p:cNvPr>
          <p:cNvSpPr/>
          <p:nvPr/>
        </p:nvSpPr>
        <p:spPr>
          <a:xfrm>
            <a:off x="3854124" y="270420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C12E87-65FF-70D7-E932-F2C0581646F0}"/>
              </a:ext>
            </a:extLst>
          </p:cNvPr>
          <p:cNvSpPr/>
          <p:nvPr/>
        </p:nvSpPr>
        <p:spPr>
          <a:xfrm>
            <a:off x="3854124" y="373449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B1282-AEB5-97A9-56AD-559E241AFD26}"/>
              </a:ext>
            </a:extLst>
          </p:cNvPr>
          <p:cNvSpPr/>
          <p:nvPr/>
        </p:nvSpPr>
        <p:spPr>
          <a:xfrm>
            <a:off x="3854124" y="476478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lang="en-US" baseline="-25000" dirty="0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C58805-0224-B3CC-9805-A78A0AEF78D3}"/>
              </a:ext>
            </a:extLst>
          </p:cNvPr>
          <p:cNvSpPr/>
          <p:nvPr/>
        </p:nvSpPr>
        <p:spPr>
          <a:xfrm>
            <a:off x="3854124" y="5795075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F8F003-B8C2-EE62-3EEE-E070C9388F4B}"/>
              </a:ext>
            </a:extLst>
          </p:cNvPr>
          <p:cNvSpPr/>
          <p:nvPr/>
        </p:nvSpPr>
        <p:spPr>
          <a:xfrm>
            <a:off x="6003707" y="37063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486AF1-79C7-0C63-034A-712A2279578E}"/>
              </a:ext>
            </a:extLst>
          </p:cNvPr>
          <p:cNvSpPr/>
          <p:nvPr/>
        </p:nvSpPr>
        <p:spPr>
          <a:xfrm>
            <a:off x="6003707" y="198158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FFC16-8FB5-CA8B-3CB3-74EB9F6A0C64}"/>
              </a:ext>
            </a:extLst>
          </p:cNvPr>
          <p:cNvSpPr/>
          <p:nvPr/>
        </p:nvSpPr>
        <p:spPr>
          <a:xfrm>
            <a:off x="6003707" y="25351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FA9375-0A9E-37B2-30AF-4C8E51EDB379}"/>
              </a:ext>
            </a:extLst>
          </p:cNvPr>
          <p:cNvSpPr/>
          <p:nvPr/>
        </p:nvSpPr>
        <p:spPr>
          <a:xfrm>
            <a:off x="5952879" y="3986486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C758A6-DE2D-7201-90F1-C56C2F1EBAC0}"/>
              </a:ext>
            </a:extLst>
          </p:cNvPr>
          <p:cNvSpPr/>
          <p:nvPr/>
        </p:nvSpPr>
        <p:spPr>
          <a:xfrm>
            <a:off x="5952879" y="454005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H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22CD9D-8E9F-6B7F-16EE-25D31647093E}"/>
              </a:ext>
            </a:extLst>
          </p:cNvPr>
          <p:cNvSpPr/>
          <p:nvPr/>
        </p:nvSpPr>
        <p:spPr>
          <a:xfrm>
            <a:off x="6003707" y="609419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038977-E5AA-04BE-E003-75D3AA9BE199}"/>
              </a:ext>
            </a:extLst>
          </p:cNvPr>
          <p:cNvSpPr/>
          <p:nvPr/>
        </p:nvSpPr>
        <p:spPr>
          <a:xfrm>
            <a:off x="8316496" y="35647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30FF54-5961-BB2C-DEAA-04FE3786C4BA}"/>
              </a:ext>
            </a:extLst>
          </p:cNvPr>
          <p:cNvSpPr/>
          <p:nvPr/>
        </p:nvSpPr>
        <p:spPr>
          <a:xfrm>
            <a:off x="8310820" y="197056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E222E3-15DF-A962-932A-333B869D4AFA}"/>
              </a:ext>
            </a:extLst>
          </p:cNvPr>
          <p:cNvSpPr/>
          <p:nvPr/>
        </p:nvSpPr>
        <p:spPr>
          <a:xfrm>
            <a:off x="8322266" y="25710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6B504-86A5-AB70-5619-1AC5C951CC69}"/>
              </a:ext>
            </a:extLst>
          </p:cNvPr>
          <p:cNvSpPr/>
          <p:nvPr/>
        </p:nvSpPr>
        <p:spPr>
          <a:xfrm>
            <a:off x="8322266" y="4007183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0EAE52-BCF2-34A1-F3C7-1B95863610F4}"/>
              </a:ext>
            </a:extLst>
          </p:cNvPr>
          <p:cNvSpPr/>
          <p:nvPr/>
        </p:nvSpPr>
        <p:spPr>
          <a:xfrm>
            <a:off x="8322265" y="4562897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D</a:t>
            </a:r>
            <a:r>
              <a:rPr lang="en-US" baseline="-25000" dirty="0" err="1">
                <a:solidFill>
                  <a:sysClr val="windowText" lastClr="000000"/>
                </a:solidFill>
              </a:rPr>
              <a:t>vax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C69345-DF7F-0D62-E3BC-153545AEF1EF}"/>
              </a:ext>
            </a:extLst>
          </p:cNvPr>
          <p:cNvSpPr/>
          <p:nvPr/>
        </p:nvSpPr>
        <p:spPr>
          <a:xfrm>
            <a:off x="8322265" y="6109329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4CB11F-0354-BE79-A32B-B2159326DE31}"/>
              </a:ext>
            </a:extLst>
          </p:cNvPr>
          <p:cNvSpPr/>
          <p:nvPr/>
        </p:nvSpPr>
        <p:spPr>
          <a:xfrm>
            <a:off x="10023932" y="1373634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A05FD9-785D-9416-AB16-69812098975F}"/>
              </a:ext>
            </a:extLst>
          </p:cNvPr>
          <p:cNvSpPr/>
          <p:nvPr/>
        </p:nvSpPr>
        <p:spPr>
          <a:xfrm>
            <a:off x="10023932" y="334641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40F80A-CAEC-927E-C8BD-F6BB040D29C9}"/>
              </a:ext>
            </a:extLst>
          </p:cNvPr>
          <p:cNvSpPr/>
          <p:nvPr/>
        </p:nvSpPr>
        <p:spPr>
          <a:xfrm>
            <a:off x="10023932" y="5410178"/>
            <a:ext cx="604434" cy="4494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C99073F-C7FA-C6F7-FAEA-7CD41FFF4E4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740550" y="868350"/>
            <a:ext cx="1651189" cy="256065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FDCD562C-20CC-8419-A8AD-5C37346FFF7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740550" y="1898640"/>
            <a:ext cx="1651189" cy="1530360"/>
          </a:xfrm>
          <a:prstGeom prst="bentConnector3">
            <a:avLst>
              <a:gd name="adj1" fmla="val 887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B7E41B6E-970E-8B49-0AD6-5D6DDFFCD57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40550" y="2928930"/>
            <a:ext cx="1651189" cy="50007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27FB1F49-FF8A-2718-BC80-92ED25BEAE0D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740550" y="3429000"/>
            <a:ext cx="1651189" cy="53022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27C74748-E267-D670-85FC-480E33462280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740550" y="3429000"/>
            <a:ext cx="1651189" cy="1560510"/>
          </a:xfrm>
          <a:prstGeom prst="bentConnector3">
            <a:avLst>
              <a:gd name="adj1" fmla="val 901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4051A734-C246-80EB-8145-4A49884B9EB2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740550" y="3429000"/>
            <a:ext cx="1651189" cy="2590800"/>
          </a:xfrm>
          <a:prstGeom prst="bentConnector3">
            <a:avLst>
              <a:gd name="adj1" fmla="val 9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78010C8-795C-2705-9933-0B08DE9E18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996173" y="86835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E9D6A94-2834-C6E2-F981-55C8A7CB0EAE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96173" y="189864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71E4DCF-6016-3E3C-146E-1CA6D6C78D38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996173" y="292893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E9425E-9406-E9E0-CBB9-CF001C41BE86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2996173" y="395922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03F68CC-4DA5-0114-2658-46ED129AB18A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996173" y="498951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2EF2A25-C30B-A954-2EBC-B1D5FBB89E9A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996173" y="6019800"/>
            <a:ext cx="857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D7507AE-A7E8-27FF-A699-640AA8A13E45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4458558" y="595362"/>
            <a:ext cx="1545149" cy="272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3E2ECD6-3702-CA45-A6FB-47C6DBCAE499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4458558" y="1898640"/>
            <a:ext cx="1545149" cy="307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2B85032-A929-05A6-0399-011DA0DB7C09}"/>
                  </a:ext>
                </a:extLst>
              </p:cNvPr>
              <p:cNvSpPr txBox="1"/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0FDB92D-D520-AEDE-4FC3-FE3A3790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003" y="561200"/>
                <a:ext cx="352038" cy="553998"/>
              </a:xfrm>
              <a:prstGeom prst="rect">
                <a:avLst/>
              </a:prstGeom>
              <a:blipFill>
                <a:blip r:embed="rId2"/>
                <a:stretch>
                  <a:fillRect l="-17241" r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7AF0419-1FE1-0447-4126-31824C2681CC}"/>
                  </a:ext>
                </a:extLst>
              </p:cNvPr>
              <p:cNvSpPr txBox="1"/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667CD2-43B9-36A4-CC04-9366BCD0B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5712651"/>
                <a:ext cx="352038" cy="830997"/>
              </a:xfrm>
              <a:prstGeom prst="rect">
                <a:avLst/>
              </a:prstGeom>
              <a:blipFill>
                <a:blip r:embed="rId3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AA84238-39BD-99C5-C9AC-85E34FCF81B3}"/>
                  </a:ext>
                </a:extLst>
              </p:cNvPr>
              <p:cNvSpPr txBox="1"/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A18FF02-5587-043D-0C33-E9169EF86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34" y="1600037"/>
                <a:ext cx="352038" cy="830997"/>
              </a:xfrm>
              <a:prstGeom prst="rect">
                <a:avLst/>
              </a:prstGeom>
              <a:blipFill>
                <a:blip r:embed="rId4"/>
                <a:stretch>
                  <a:fillRect l="-17857" r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AEBD637-DADE-7E09-EFC6-A5FFCB45D070}"/>
                  </a:ext>
                </a:extLst>
              </p:cNvPr>
              <p:cNvSpPr txBox="1"/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BF6580-52BA-8907-1951-1D2CA3D5E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2642205"/>
                <a:ext cx="352038" cy="830997"/>
              </a:xfrm>
              <a:prstGeom prst="rect">
                <a:avLst/>
              </a:prstGeom>
              <a:blipFill>
                <a:blip r:embed="rId5"/>
                <a:stretch>
                  <a:fillRect l="-17241" r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A448B4B-E0E7-B001-0C32-A3D868C06189}"/>
                  </a:ext>
                </a:extLst>
              </p:cNvPr>
              <p:cNvSpPr txBox="1"/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101780E-DCE2-8026-73AF-36ABCC543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048" y="3652071"/>
                <a:ext cx="352038" cy="830997"/>
              </a:xfrm>
              <a:prstGeom prst="rect">
                <a:avLst/>
              </a:prstGeom>
              <a:blipFill>
                <a:blip r:embed="rId6"/>
                <a:stretch>
                  <a:fillRect l="-17857" r="-3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FF3EBAB-8E48-9ABC-AE64-A6C942ED6CBF}"/>
                  </a:ext>
                </a:extLst>
              </p:cNvPr>
              <p:cNvSpPr txBox="1"/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495A201-3F60-F367-F41F-C087F691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87" y="4682361"/>
                <a:ext cx="352038" cy="830997"/>
              </a:xfrm>
              <a:prstGeom prst="rect">
                <a:avLst/>
              </a:prstGeom>
              <a:blipFill>
                <a:blip r:embed="rId7"/>
                <a:stretch>
                  <a:fillRect l="-17241"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9FBCC30-30E4-D9F6-177F-A47536C63A30}"/>
                  </a:ext>
                </a:extLst>
              </p:cNvPr>
              <p:cNvSpPr txBox="1"/>
              <p:nvPr/>
            </p:nvSpPr>
            <p:spPr>
              <a:xfrm>
                <a:off x="872788" y="561200"/>
                <a:ext cx="14652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19FBCC30-30E4-D9F6-177F-A47536C63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88" y="561200"/>
                <a:ext cx="1465273" cy="215444"/>
              </a:xfrm>
              <a:prstGeom prst="rect">
                <a:avLst/>
              </a:prstGeom>
              <a:blipFill>
                <a:blip r:embed="rId8"/>
                <a:stretch>
                  <a:fillRect l="-2564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2B3898-04E4-1C87-02DD-B0E351863A1A}"/>
                  </a:ext>
                </a:extLst>
              </p:cNvPr>
              <p:cNvSpPr txBox="1"/>
              <p:nvPr/>
            </p:nvSpPr>
            <p:spPr>
              <a:xfrm>
                <a:off x="1035044" y="1629268"/>
                <a:ext cx="13199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E2B3898-04E4-1C87-02DD-B0E351863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44" y="1629268"/>
                <a:ext cx="1319913" cy="215444"/>
              </a:xfrm>
              <a:prstGeom prst="rect">
                <a:avLst/>
              </a:prstGeom>
              <a:blipFill>
                <a:blip r:embed="rId9"/>
                <a:stretch>
                  <a:fillRect l="-2857" t="-5556" r="-476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09F32E6-878F-EBBF-7C11-2CC39472927E}"/>
                  </a:ext>
                </a:extLst>
              </p:cNvPr>
              <p:cNvSpPr txBox="1"/>
              <p:nvPr/>
            </p:nvSpPr>
            <p:spPr>
              <a:xfrm>
                <a:off x="908297" y="2650719"/>
                <a:ext cx="148344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09F32E6-878F-EBBF-7C11-2CC394729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97" y="2650719"/>
                <a:ext cx="1483442" cy="215444"/>
              </a:xfrm>
              <a:prstGeom prst="rect">
                <a:avLst/>
              </a:prstGeom>
              <a:blipFill>
                <a:blip r:embed="rId10"/>
                <a:stretch>
                  <a:fillRect l="-3390" r="-84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77DEAEC-8732-AF2D-0BED-23327A01DBB4}"/>
                  </a:ext>
                </a:extLst>
              </p:cNvPr>
              <p:cNvSpPr txBox="1"/>
              <p:nvPr/>
            </p:nvSpPr>
            <p:spPr>
              <a:xfrm>
                <a:off x="893700" y="3704345"/>
                <a:ext cx="13471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177DEAEC-8732-AF2D-0BED-23327A01D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00" y="3704345"/>
                <a:ext cx="1347164" cy="215444"/>
              </a:xfrm>
              <a:prstGeom prst="rect">
                <a:avLst/>
              </a:prstGeom>
              <a:blipFill>
                <a:blip r:embed="rId11"/>
                <a:stretch>
                  <a:fillRect l="-2804" r="-373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86837C1-F2BD-8314-BFE2-1F92982AD6A4}"/>
                  </a:ext>
                </a:extLst>
              </p:cNvPr>
              <p:cNvSpPr txBox="1"/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  <a:p>
                <a:endParaRPr lang="en-US" sz="1400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9247FDC-E926-DEAC-C87E-117657756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33" y="4725544"/>
                <a:ext cx="1472006" cy="1261884"/>
              </a:xfrm>
              <a:prstGeom prst="rect">
                <a:avLst/>
              </a:prstGeom>
              <a:blipFill>
                <a:blip r:embed="rId12"/>
                <a:stretch>
                  <a:fillRect l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B8919BD-E136-15B6-3618-100B6332B424}"/>
                  </a:ext>
                </a:extLst>
              </p:cNvPr>
              <p:cNvSpPr txBox="1"/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FLU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12AE7A3F-B8EA-B6EC-D685-72E873AF7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72" y="5750429"/>
                <a:ext cx="1322478" cy="769441"/>
              </a:xfrm>
              <a:prstGeom prst="rect">
                <a:avLst/>
              </a:prstGeom>
              <a:blipFill>
                <a:blip r:embed="rId13"/>
                <a:stretch>
                  <a:fillRect l="-2857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7E5A78-3F03-9F52-676E-701460C8382B}"/>
                  </a:ext>
                </a:extLst>
              </p:cNvPr>
              <p:cNvSpPr txBox="1"/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77E5A78-3F03-9F52-676E-701460C83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38832" y="481409"/>
                <a:ext cx="1388457" cy="184666"/>
              </a:xfrm>
              <a:prstGeom prst="rect">
                <a:avLst/>
              </a:prstGeom>
              <a:blipFill>
                <a:blip r:embed="rId14"/>
                <a:stretch>
                  <a:fillRect l="-1786" r="-893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C2CC427-DA5F-07CB-6627-700C7F84BC57}"/>
                  </a:ext>
                </a:extLst>
              </p:cNvPr>
              <p:cNvSpPr txBox="1"/>
              <p:nvPr/>
            </p:nvSpPr>
            <p:spPr>
              <a:xfrm rot="444678">
                <a:off x="4558286" y="2071637"/>
                <a:ext cx="118846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C2CC427-DA5F-07CB-6627-700C7F84B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58286" y="2071637"/>
                <a:ext cx="1188467" cy="184666"/>
              </a:xfrm>
              <a:prstGeom prst="rect">
                <a:avLst/>
              </a:prstGeom>
              <a:blipFill>
                <a:blip r:embed="rId15"/>
                <a:stretch>
                  <a:fillRect l="-3125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3072621-FDDE-1D31-B2D0-DC8FA9826458}"/>
              </a:ext>
            </a:extLst>
          </p:cNvPr>
          <p:cNvCxnSpPr>
            <a:cxnSpLocks/>
            <a:stCxn id="11" idx="3"/>
            <a:endCxn id="30" idx="1"/>
          </p:cNvCxnSpPr>
          <p:nvPr/>
        </p:nvCxnSpPr>
        <p:spPr>
          <a:xfrm>
            <a:off x="4458558" y="868350"/>
            <a:ext cx="5565374" cy="7300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C19F79-D9B3-49B0-D7BC-6DC252B5EC1F}"/>
                  </a:ext>
                </a:extLst>
              </p:cNvPr>
              <p:cNvSpPr txBox="1"/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0C19F79-D9B3-49B0-D7BC-6DC252B5E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16" y="1047450"/>
                <a:ext cx="1673792" cy="184666"/>
              </a:xfrm>
              <a:prstGeom prst="rect">
                <a:avLst/>
              </a:prstGeom>
              <a:blipFill>
                <a:blip r:embed="rId16"/>
                <a:stretch>
                  <a:fillRect l="-2985" t="-3571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FD217C-8069-F564-150C-E81763F90503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608141" y="581199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9547E8-81AC-89D6-E2D9-4F229D8BE227}"/>
                  </a:ext>
                </a:extLst>
              </p:cNvPr>
              <p:cNvSpPr txBox="1"/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69547E8-81AC-89D6-E2D9-4F229D8BE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893" y="325097"/>
                <a:ext cx="1553183" cy="184666"/>
              </a:xfrm>
              <a:prstGeom prst="rect">
                <a:avLst/>
              </a:prstGeom>
              <a:blipFill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FBED4FD-6672-6849-B131-3CDF1C0803D3}"/>
              </a:ext>
            </a:extLst>
          </p:cNvPr>
          <p:cNvCxnSpPr>
            <a:cxnSpLocks/>
            <a:stCxn id="12" idx="3"/>
            <a:endCxn id="30" idx="1"/>
          </p:cNvCxnSpPr>
          <p:nvPr/>
        </p:nvCxnSpPr>
        <p:spPr>
          <a:xfrm flipV="1">
            <a:off x="4458558" y="1598359"/>
            <a:ext cx="5565374" cy="300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9564B5-3D7F-91C8-1A13-D6723B6F5198}"/>
                  </a:ext>
                </a:extLst>
              </p:cNvPr>
              <p:cNvSpPr txBox="1"/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E9564B5-3D7F-91C8-1A13-D6723B6F5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4724" y="1564139"/>
                <a:ext cx="1473800" cy="184666"/>
              </a:xfrm>
              <a:prstGeom prst="rect">
                <a:avLst/>
              </a:prstGeom>
              <a:blipFill>
                <a:blip r:embed="rId18"/>
                <a:stretch>
                  <a:fillRect l="-3390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8B01E13-8070-59FB-B257-98670D54F18B}"/>
              </a:ext>
            </a:extLst>
          </p:cNvPr>
          <p:cNvCxnSpPr>
            <a:cxnSpLocks/>
          </p:cNvCxnSpPr>
          <p:nvPr/>
        </p:nvCxnSpPr>
        <p:spPr>
          <a:xfrm flipV="1">
            <a:off x="6601072" y="2193803"/>
            <a:ext cx="1708355" cy="141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9061019-4D01-791F-3C0C-6B2EBDF19879}"/>
                  </a:ext>
                </a:extLst>
              </p:cNvPr>
              <p:cNvSpPr txBox="1"/>
              <p:nvPr/>
            </p:nvSpPr>
            <p:spPr>
              <a:xfrm>
                <a:off x="6649824" y="2182620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9061019-4D01-791F-3C0C-6B2EBDF19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2182620"/>
                <a:ext cx="1553183" cy="184666"/>
              </a:xfrm>
              <a:prstGeom prst="rect">
                <a:avLst/>
              </a:prstGeom>
              <a:blipFill>
                <a:blip r:embed="rId19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DEFA6-7124-F285-9FF0-C7DE21AE44C1}"/>
                  </a:ext>
                </a:extLst>
              </p:cNvPr>
              <p:cNvSpPr txBox="1"/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40DEFA6-7124-F285-9FF0-C7DE21AE4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9742" y="2607727"/>
                <a:ext cx="1407693" cy="184666"/>
              </a:xfrm>
              <a:prstGeom prst="rect">
                <a:avLst/>
              </a:prstGeom>
              <a:blipFill>
                <a:blip r:embed="rId20"/>
                <a:stretch>
                  <a:fillRect l="-1770" r="-885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05F4F1-5582-3877-1414-94237C67A969}"/>
                  </a:ext>
                </a:extLst>
              </p:cNvPr>
              <p:cNvSpPr txBox="1"/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105F4F1-5582-3877-1414-94237C67A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574639" y="4166677"/>
                <a:ext cx="1207702" cy="184666"/>
              </a:xfrm>
              <a:prstGeom prst="rect">
                <a:avLst/>
              </a:prstGeom>
              <a:blipFill>
                <a:blip r:embed="rId21"/>
                <a:stretch>
                  <a:fillRect l="-204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B18A809-2DDE-B651-6C28-12453747BD26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458558" y="2928930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0DEFB-B7F2-6E53-271E-D8F9F0940919}"/>
                  </a:ext>
                </a:extLst>
              </p:cNvPr>
              <p:cNvSpPr txBox="1"/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770DEFB-B7F2-6E53-271E-D8F9F0940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4824" y="3097257"/>
                <a:ext cx="1693028" cy="184666"/>
              </a:xfrm>
              <a:prstGeom prst="rect">
                <a:avLst/>
              </a:prstGeom>
              <a:blipFill>
                <a:blip r:embed="rId22"/>
                <a:stretch>
                  <a:fillRect l="-2963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30A1BD-ECEC-D8D8-C421-0328BFB1566C}"/>
                  </a:ext>
                </a:extLst>
              </p:cNvPr>
              <p:cNvSpPr txBox="1"/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D30A1BD-ECEC-D8D8-C421-0328BFB15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1" y="2505592"/>
                <a:ext cx="1553183" cy="184666"/>
              </a:xfrm>
              <a:prstGeom prst="rect">
                <a:avLst/>
              </a:prstGeom>
              <a:blipFill>
                <a:blip r:embed="rId2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FA6F1BD-3015-0CFB-9131-7B6A9E4C2C6E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458558" y="3591314"/>
            <a:ext cx="5565374" cy="367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F472E9-EBF2-5B80-7FF5-528AE2700FF1}"/>
                  </a:ext>
                </a:extLst>
              </p:cNvPr>
              <p:cNvSpPr txBox="1"/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F472E9-EBF2-5B80-7FF5-528AE2700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35347" y="3633356"/>
                <a:ext cx="1493037" cy="184666"/>
              </a:xfrm>
              <a:prstGeom prst="rect">
                <a:avLst/>
              </a:prstGeom>
              <a:blipFill>
                <a:blip r:embed="rId24"/>
                <a:stretch>
                  <a:fillRect l="-3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DCC2F0E-1860-2B46-D820-50D2AD83FEB1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557313" y="4186758"/>
            <a:ext cx="1752114" cy="24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7F5FC6E-E80D-8205-26AE-EA00BE5C53C0}"/>
                  </a:ext>
                </a:extLst>
              </p:cNvPr>
              <p:cNvSpPr txBox="1"/>
              <p:nvPr/>
            </p:nvSpPr>
            <p:spPr>
              <a:xfrm>
                <a:off x="6649824" y="4183945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7F5FC6E-E80D-8205-26AE-EA00BE5C5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24" y="4183945"/>
                <a:ext cx="1553183" cy="184666"/>
              </a:xfrm>
              <a:prstGeom prst="rect">
                <a:avLst/>
              </a:prstGeom>
              <a:blipFill>
                <a:blip r:embed="rId2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4897AA4-E956-0969-467D-67DE23FDD313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4458558" y="2759884"/>
            <a:ext cx="1545149" cy="169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64EEB3F-0D0B-326F-8EA0-EC20666D9BC0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6608141" y="2759884"/>
            <a:ext cx="1714125" cy="358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6E34ECB-9558-5F7F-9BC7-30E1E0FC31E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458558" y="3959220"/>
            <a:ext cx="1494321" cy="263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34704B1-010A-67B3-587A-9E53FF09B452}"/>
                  </a:ext>
                </a:extLst>
              </p:cNvPr>
              <p:cNvSpPr txBox="1"/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34704B1-010A-67B3-587A-9E53FF09B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01621">
                <a:off x="4516599" y="4678739"/>
                <a:ext cx="1394292" cy="184666"/>
              </a:xfrm>
              <a:prstGeom prst="rect">
                <a:avLst/>
              </a:prstGeom>
              <a:blipFill>
                <a:blip r:embed="rId26"/>
                <a:stretch>
                  <a:fillRect l="-2679" r="-89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42CEC5E-2289-DE1F-324A-227EB0781DBD}"/>
                  </a:ext>
                </a:extLst>
              </p:cNvPr>
              <p:cNvSpPr txBox="1"/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42CEC5E-2289-DE1F-324A-227EB0781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44678">
                <a:off x="4616884" y="6212269"/>
                <a:ext cx="1193725" cy="184666"/>
              </a:xfrm>
              <a:prstGeom prst="rect">
                <a:avLst/>
              </a:prstGeom>
              <a:blipFill>
                <a:blip r:embed="rId27"/>
                <a:stretch>
                  <a:fillRect l="-206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390791F-BB2D-B19F-9B84-D2E0C1FD5D15}"/>
              </a:ext>
            </a:extLst>
          </p:cNvPr>
          <p:cNvCxnSpPr>
            <a:cxnSpLocks/>
          </p:cNvCxnSpPr>
          <p:nvPr/>
        </p:nvCxnSpPr>
        <p:spPr>
          <a:xfrm>
            <a:off x="4448715" y="4999942"/>
            <a:ext cx="5565374" cy="662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3F26BD-5AA0-2A7D-D165-54DD30E3E42E}"/>
                  </a:ext>
                </a:extLst>
              </p:cNvPr>
              <p:cNvSpPr txBox="1"/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F3F26BD-5AA0-2A7D-D165-54DD30E3E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1211">
                <a:off x="4581682" y="5168269"/>
                <a:ext cx="1679627" cy="184666"/>
              </a:xfrm>
              <a:prstGeom prst="rect">
                <a:avLst/>
              </a:prstGeom>
              <a:blipFill>
                <a:blip r:embed="rId28"/>
                <a:stretch>
                  <a:fillRect l="-2985"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6704C26-9194-E412-A760-732D7FD9EAF8}"/>
                  </a:ext>
                </a:extLst>
              </p:cNvPr>
              <p:cNvSpPr txBox="1"/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6704C26-9194-E412-A760-732D7FD9E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980" y="4539734"/>
                <a:ext cx="1553183" cy="184666"/>
              </a:xfrm>
              <a:prstGeom prst="rect">
                <a:avLst/>
              </a:prstGeom>
              <a:blipFill>
                <a:blip r:embed="rId29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04B4BEC-44D8-EF13-FAC0-DFD0DB74C386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458558" y="5662326"/>
            <a:ext cx="5555531" cy="3574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10A6307-4532-4267-A64E-8ED714F677E5}"/>
                  </a:ext>
                </a:extLst>
              </p:cNvPr>
              <p:cNvSpPr txBox="1"/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𝑃𝑟𝑜𝑏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10A6307-4532-4267-A64E-8ED714F67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9235">
                <a:off x="4682184" y="5717266"/>
                <a:ext cx="1479059" cy="184666"/>
              </a:xfrm>
              <a:prstGeom prst="rect">
                <a:avLst/>
              </a:prstGeom>
              <a:blipFill>
                <a:blip r:embed="rId30"/>
                <a:stretch>
                  <a:fillRect l="-3390" r="-8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1A85D1A-4222-6DF3-5C09-AD98BCF899BC}"/>
                  </a:ext>
                </a:extLst>
              </p:cNvPr>
              <p:cNvSpPr txBox="1"/>
              <p:nvPr/>
            </p:nvSpPr>
            <p:spPr>
              <a:xfrm>
                <a:off x="6656893" y="6318923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1A85D1A-4222-6DF3-5C09-AD98BCF89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893" y="6318923"/>
                <a:ext cx="1553183" cy="184666"/>
              </a:xfrm>
              <a:prstGeom prst="rect">
                <a:avLst/>
              </a:prstGeom>
              <a:blipFill>
                <a:blip r:embed="rId3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6638EB3-5B04-1295-E8ED-F93C4C973835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4448715" y="4764784"/>
            <a:ext cx="1504164" cy="2351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CFEA188-698E-0F68-2548-A952AB44B25B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6557313" y="4764784"/>
            <a:ext cx="1764952" cy="22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9094174-31C0-24CF-07A0-B0EF6FBA3826}"/>
              </a:ext>
            </a:extLst>
          </p:cNvPr>
          <p:cNvCxnSpPr>
            <a:cxnSpLocks/>
            <a:stCxn id="16" idx="3"/>
            <a:endCxn id="22" idx="1"/>
          </p:cNvCxnSpPr>
          <p:nvPr/>
        </p:nvCxnSpPr>
        <p:spPr>
          <a:xfrm>
            <a:off x="4458558" y="6019800"/>
            <a:ext cx="1545149" cy="299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DCE8220-6A75-17A0-DBF8-D137EB5F7523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6608141" y="6318923"/>
            <a:ext cx="1714124" cy="15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4D2A728-F241-3D0A-D121-322F4892BE1A}"/>
              </a:ext>
            </a:extLst>
          </p:cNvPr>
          <p:cNvSpPr/>
          <p:nvPr/>
        </p:nvSpPr>
        <p:spPr>
          <a:xfrm>
            <a:off x="740550" y="162838"/>
            <a:ext cx="11084020" cy="23427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0F73D78-BD26-F4E7-C513-482080D17A8B}"/>
              </a:ext>
            </a:extLst>
          </p:cNvPr>
          <p:cNvSpPr txBox="1"/>
          <p:nvPr/>
        </p:nvSpPr>
        <p:spPr>
          <a:xfrm>
            <a:off x="148685" y="180485"/>
            <a:ext cx="58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RSV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80263507-222A-9C33-2525-927F962FDD09}"/>
              </a:ext>
            </a:extLst>
          </p:cNvPr>
          <p:cNvSpPr/>
          <p:nvPr/>
        </p:nvSpPr>
        <p:spPr>
          <a:xfrm>
            <a:off x="740550" y="2507840"/>
            <a:ext cx="11084020" cy="199297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51E48D0-B1B5-2DAE-7160-618D10FDE784}"/>
              </a:ext>
            </a:extLst>
          </p:cNvPr>
          <p:cNvSpPr txBox="1"/>
          <p:nvPr/>
        </p:nvSpPr>
        <p:spPr>
          <a:xfrm>
            <a:off x="-66193" y="2448460"/>
            <a:ext cx="861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COVID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3295CD7-6AE2-1D0A-0917-60B23E6BAEA5}"/>
              </a:ext>
            </a:extLst>
          </p:cNvPr>
          <p:cNvSpPr txBox="1"/>
          <p:nvPr/>
        </p:nvSpPr>
        <p:spPr>
          <a:xfrm>
            <a:off x="173878" y="4477043"/>
            <a:ext cx="572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FLU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3A46256-F7E3-9337-F02A-36E5D7C18297}"/>
              </a:ext>
            </a:extLst>
          </p:cNvPr>
          <p:cNvSpPr/>
          <p:nvPr/>
        </p:nvSpPr>
        <p:spPr>
          <a:xfrm>
            <a:off x="740550" y="4507372"/>
            <a:ext cx="11084020" cy="217481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E109FED-45FA-B487-A935-CDA044C31A10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>
          <a:xfrm>
            <a:off x="6608141" y="595362"/>
            <a:ext cx="3415791" cy="1002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86C710-D395-7C83-F2DB-78947083AAD5}"/>
                  </a:ext>
                </a:extLst>
              </p:cNvPr>
              <p:cNvSpPr txBox="1"/>
              <p:nvPr/>
            </p:nvSpPr>
            <p:spPr>
              <a:xfrm rot="850864">
                <a:off x="7731706" y="933120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686C710-D395-7C83-F2DB-78947083A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50864">
                <a:off x="7731706" y="933120"/>
                <a:ext cx="1553183" cy="184666"/>
              </a:xfrm>
              <a:prstGeom prst="rect">
                <a:avLst/>
              </a:prstGeom>
              <a:blipFill>
                <a:blip r:embed="rId32"/>
                <a:stretch>
                  <a:fillRect l="-1613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5844DF3-AFCA-DE3C-5CB9-833F7136015B}"/>
              </a:ext>
            </a:extLst>
          </p:cNvPr>
          <p:cNvCxnSpPr>
            <a:cxnSpLocks/>
            <a:stCxn id="18" idx="3"/>
            <a:endCxn id="30" idx="1"/>
          </p:cNvCxnSpPr>
          <p:nvPr/>
        </p:nvCxnSpPr>
        <p:spPr>
          <a:xfrm flipV="1">
            <a:off x="6608141" y="1598359"/>
            <a:ext cx="3415791" cy="6079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4454FB-FBDE-2057-E81D-B831720948AD}"/>
                  </a:ext>
                </a:extLst>
              </p:cNvPr>
              <p:cNvSpPr txBox="1"/>
              <p:nvPr/>
            </p:nvSpPr>
            <p:spPr>
              <a:xfrm rot="20874557">
                <a:off x="6715251" y="1814328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4454FB-FBDE-2057-E81D-B83172094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74557">
                <a:off x="6715251" y="1814328"/>
                <a:ext cx="1553183" cy="184666"/>
              </a:xfrm>
              <a:prstGeom prst="rect">
                <a:avLst/>
              </a:prstGeom>
              <a:blipFill>
                <a:blip r:embed="rId33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651E2A2-48BE-F74B-A14B-1C59135D6E2B}"/>
              </a:ext>
            </a:extLst>
          </p:cNvPr>
          <p:cNvCxnSpPr>
            <a:cxnSpLocks/>
            <a:stCxn id="19" idx="3"/>
            <a:endCxn id="32" idx="1"/>
          </p:cNvCxnSpPr>
          <p:nvPr/>
        </p:nvCxnSpPr>
        <p:spPr>
          <a:xfrm>
            <a:off x="6608141" y="2759884"/>
            <a:ext cx="3415791" cy="811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332D3D4-A5F4-A3FE-7C16-3AFDC4C4B21A}"/>
                  </a:ext>
                </a:extLst>
              </p:cNvPr>
              <p:cNvSpPr txBox="1"/>
              <p:nvPr/>
            </p:nvSpPr>
            <p:spPr>
              <a:xfrm rot="850864">
                <a:off x="7700433" y="3006186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332D3D4-A5F4-A3FE-7C16-3AFDC4C4B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50864">
                <a:off x="7700433" y="3006186"/>
                <a:ext cx="1553183" cy="184666"/>
              </a:xfrm>
              <a:prstGeom prst="rect">
                <a:avLst/>
              </a:prstGeom>
              <a:blipFill>
                <a:blip r:embed="rId34"/>
                <a:stretch>
                  <a:fillRect l="-2439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67FAFD8-D701-F1B5-6B66-E64A9F779FEB}"/>
              </a:ext>
            </a:extLst>
          </p:cNvPr>
          <p:cNvCxnSpPr>
            <a:cxnSpLocks/>
            <a:stCxn id="20" idx="3"/>
            <a:endCxn id="32" idx="1"/>
          </p:cNvCxnSpPr>
          <p:nvPr/>
        </p:nvCxnSpPr>
        <p:spPr>
          <a:xfrm flipV="1">
            <a:off x="6557313" y="3571143"/>
            <a:ext cx="3466619" cy="640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06BF55-B4E8-1B09-4E99-ED9C2187A2DB}"/>
                  </a:ext>
                </a:extLst>
              </p:cNvPr>
              <p:cNvSpPr txBox="1"/>
              <p:nvPr/>
            </p:nvSpPr>
            <p:spPr>
              <a:xfrm rot="21051913">
                <a:off x="6704645" y="3818885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06BF55-B4E8-1B09-4E99-ED9C2187A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051913">
                <a:off x="6704645" y="3818885"/>
                <a:ext cx="1553183" cy="184666"/>
              </a:xfrm>
              <a:prstGeom prst="rect">
                <a:avLst/>
              </a:prstGeom>
              <a:blipFill>
                <a:blip r:embed="rId3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2BBFE42-CFFD-2AD7-C965-A75F78EF7B12}"/>
              </a:ext>
            </a:extLst>
          </p:cNvPr>
          <p:cNvCxnSpPr>
            <a:cxnSpLocks/>
            <a:stCxn id="21" idx="3"/>
            <a:endCxn id="34" idx="1"/>
          </p:cNvCxnSpPr>
          <p:nvPr/>
        </p:nvCxnSpPr>
        <p:spPr>
          <a:xfrm>
            <a:off x="6557313" y="4764784"/>
            <a:ext cx="3466619" cy="8701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7EF0F8D-7AAC-33A2-ABC1-2F3043E7A926}"/>
                  </a:ext>
                </a:extLst>
              </p:cNvPr>
              <p:cNvSpPr txBox="1"/>
              <p:nvPr/>
            </p:nvSpPr>
            <p:spPr>
              <a:xfrm rot="850864">
                <a:off x="7732398" y="5046884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𝐹𝐿𝑈𝑣𝑎𝑥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7EF0F8D-7AAC-33A2-ABC1-2F3043E7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50864">
                <a:off x="7732398" y="5046884"/>
                <a:ext cx="1553183" cy="184666"/>
              </a:xfrm>
              <a:prstGeom prst="rect">
                <a:avLst/>
              </a:prstGeom>
              <a:blipFill>
                <a:blip r:embed="rId36"/>
                <a:stretch>
                  <a:fillRect l="-1613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8FBB5FC-46AB-FC5D-08A0-B106365A5A66}"/>
              </a:ext>
            </a:extLst>
          </p:cNvPr>
          <p:cNvCxnSpPr>
            <a:cxnSpLocks/>
            <a:stCxn id="22" idx="3"/>
            <a:endCxn id="34" idx="1"/>
          </p:cNvCxnSpPr>
          <p:nvPr/>
        </p:nvCxnSpPr>
        <p:spPr>
          <a:xfrm flipV="1">
            <a:off x="6608141" y="5634903"/>
            <a:ext cx="3415791" cy="684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91B6860-A07B-D23B-FA77-3D60079A3A4B}"/>
                  </a:ext>
                </a:extLst>
              </p:cNvPr>
              <p:cNvSpPr txBox="1"/>
              <p:nvPr/>
            </p:nvSpPr>
            <p:spPr>
              <a:xfrm rot="20905453">
                <a:off x="6688611" y="5927467"/>
                <a:ext cx="15531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m:rPr>
                              <m:sty m:val="p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91B6860-A07B-D23B-FA77-3D60079A3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05453">
                <a:off x="6688611" y="5927467"/>
                <a:ext cx="1553183" cy="184666"/>
              </a:xfrm>
              <a:prstGeom prst="rect">
                <a:avLst/>
              </a:prstGeom>
              <a:blipFill>
                <a:blip r:embed="rId3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17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1625-1E10-C473-95DC-371D75E8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Last Time: </a:t>
            </a:r>
          </a:p>
        </p:txBody>
      </p:sp>
      <p:pic>
        <p:nvPicPr>
          <p:cNvPr id="8" name="Picture 7" descr="A graph of a positive flu strain&#10;&#10;AI-generated content may be incorrect.">
            <a:extLst>
              <a:ext uri="{FF2B5EF4-FFF2-40B4-BE49-F238E27FC236}">
                <a16:creationId xmlns:a16="http://schemas.microsoft.com/office/drawing/2014/main" id="{2FBB6EAF-AA0D-C1E7-9F8C-3EB207ED3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3" y="2042773"/>
            <a:ext cx="5611686" cy="28617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ADA090A-1092-33F9-0403-E72EFD0CD71D}"/>
              </a:ext>
            </a:extLst>
          </p:cNvPr>
          <p:cNvSpPr txBox="1"/>
          <p:nvPr/>
        </p:nvSpPr>
        <p:spPr>
          <a:xfrm>
            <a:off x="495485" y="1396442"/>
            <a:ext cx="3636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USA Respiratory Illness Dashboard</a:t>
            </a:r>
          </a:p>
          <a:p>
            <a:r>
              <a:rPr lang="en-US" dirty="0"/>
              <a:t>(Source: CDC)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994B0-0FE8-EBEA-A756-637432E11527}"/>
              </a:ext>
            </a:extLst>
          </p:cNvPr>
          <p:cNvSpPr txBox="1"/>
          <p:nvPr/>
        </p:nvSpPr>
        <p:spPr>
          <a:xfrm>
            <a:off x="6227323" y="136405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SEIR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390A3-13EE-992D-97B2-BD3E30B35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649" y="1862827"/>
            <a:ext cx="6044477" cy="402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DDB4-8E3C-2F07-8B18-A2581759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0476B-C3F2-1754-CD18-8CE16B8EC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Implemented Seasonality → Ran 3 years to endemicity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𝐶𝑜𝑛𝑡𝑎𝑐𝑡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.1⋅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365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Implemented Hospitalization Capacity function</a:t>
                </a:r>
              </a:p>
              <a:p>
                <a:r>
                  <a:rPr lang="en-US" dirty="0"/>
                  <a:t>Began Vaccination Allocation Scenarios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0476B-C3F2-1754-CD18-8CE16B8EC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93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632B-03F2-C86A-3BD2-6D07D29E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9" y="0"/>
            <a:ext cx="10515600" cy="1325563"/>
          </a:xfrm>
        </p:spPr>
        <p:txBody>
          <a:bodyPr/>
          <a:lstStyle/>
          <a:p>
            <a:r>
              <a:rPr lang="en-US" dirty="0"/>
              <a:t>Hospitalization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649FD-0502-73B0-CCDA-EC9F143FA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765" y="1181401"/>
            <a:ext cx="10515600" cy="902042"/>
          </a:xfrm>
        </p:spPr>
        <p:txBody>
          <a:bodyPr/>
          <a:lstStyle/>
          <a:p>
            <a:r>
              <a:rPr lang="en-US" dirty="0"/>
              <a:t>Goal: Simulate finite healthcare resources in Illinois during tripledemic season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D64E75-982C-9FC4-C203-5490F0019F3E}"/>
                  </a:ext>
                </a:extLst>
              </p:cNvPr>
              <p:cNvSpPr txBox="1"/>
              <p:nvPr/>
            </p:nvSpPr>
            <p:spPr>
              <a:xfrm>
                <a:off x="563301" y="2166285"/>
                <a:ext cx="11065398" cy="4453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Total hospitalizations at current time 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Number of hospitalizations we want to add at current time 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≔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Hospitalization capacity (determined from total available hospital beds in Illinois)</a:t>
                </a:r>
              </a:p>
              <a:p>
                <a:endParaRPr lang="en-US" dirty="0"/>
              </a:p>
              <a:p>
                <a:r>
                  <a:rPr lang="en-US" dirty="0"/>
                  <a:t>Then,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define the proportion of people we can “admit” to the hospital as: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1)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Essentially: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When the number of hospitalizations we want to add will make us exceed the hospital capacity, we only admit a proportion of those people that is directly proportional to the amount of space left in the hospital.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When a person can’t be admitted, they are instead moved to Dead with proportion: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D64E75-982C-9FC4-C203-5490F0019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01" y="2166285"/>
                <a:ext cx="11065398" cy="4453912"/>
              </a:xfrm>
              <a:prstGeom prst="rect">
                <a:avLst/>
              </a:prstGeom>
              <a:blipFill>
                <a:blip r:embed="rId3"/>
                <a:stretch>
                  <a:fillRect l="-459" t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058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1A7770-D428-4920-A967-06B2D4326D4C}"/>
              </a:ext>
            </a:extLst>
          </p:cNvPr>
          <p:cNvSpPr txBox="1"/>
          <p:nvPr/>
        </p:nvSpPr>
        <p:spPr>
          <a:xfrm>
            <a:off x="324091" y="185195"/>
            <a:ext cx="58755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Example: No Vaccination Scenario</a:t>
            </a:r>
          </a:p>
        </p:txBody>
      </p:sp>
      <p:pic>
        <p:nvPicPr>
          <p:cNvPr id="8" name="Picture 7" descr="A graph of a number of patients&#10;&#10;AI-generated content may be incorrect.">
            <a:extLst>
              <a:ext uri="{FF2B5EF4-FFF2-40B4-BE49-F238E27FC236}">
                <a16:creationId xmlns:a16="http://schemas.microsoft.com/office/drawing/2014/main" id="{8F480C53-97BA-F037-B05D-74900D303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26748"/>
            <a:ext cx="5486400" cy="5486400"/>
          </a:xfrm>
          <a:prstGeom prst="rect">
            <a:avLst/>
          </a:prstGeom>
        </p:spPr>
      </p:pic>
      <p:pic>
        <p:nvPicPr>
          <p:cNvPr id="12" name="Picture 11" descr="A graph of a patient&#10;&#10;AI-generated content may be incorrect.">
            <a:extLst>
              <a:ext uri="{FF2B5EF4-FFF2-40B4-BE49-F238E27FC236}">
                <a16:creationId xmlns:a16="http://schemas.microsoft.com/office/drawing/2014/main" id="{B17E364A-1117-0567-CE92-3246BD8B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74" y="1026748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5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6004DA-1281-DD8D-11B9-759C7A50EF86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13855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Covid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3CD032-7988-4C32-6E0D-AC239DA03A9A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2287386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Flu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0C0FDE2-D2E4-B325-F0A9-8E1B9A17663A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4574771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RSV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sp>
        <p:nvSpPr>
          <p:cNvPr id="25" name="Title 1">
            <a:extLst>
              <a:ext uri="{FF2B5EF4-FFF2-40B4-BE49-F238E27FC236}">
                <a16:creationId xmlns:a16="http://schemas.microsoft.com/office/drawing/2014/main" id="{4B21102E-F868-7A52-32D8-34DE4418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27" y="-415636"/>
            <a:ext cx="8451273" cy="1542011"/>
          </a:xfrm>
        </p:spPr>
        <p:txBody>
          <a:bodyPr>
            <a:normAutofit/>
          </a:bodyPr>
          <a:lstStyle/>
          <a:p>
            <a:r>
              <a:rPr lang="en-US" sz="3000" dirty="0"/>
              <a:t>No Vaccination - Infections</a:t>
            </a:r>
          </a:p>
        </p:txBody>
      </p:sp>
      <p:pic>
        <p:nvPicPr>
          <p:cNvPr id="3" name="Picture 2" descr="A graph of different types of cells&#10;&#10;AI-generated content may be incorrect.">
            <a:extLst>
              <a:ext uri="{FF2B5EF4-FFF2-40B4-BE49-F238E27FC236}">
                <a16:creationId xmlns:a16="http://schemas.microsoft.com/office/drawing/2014/main" id="{B08A8CC0-F883-4AE7-FF60-75AF60162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303" y="684157"/>
            <a:ext cx="7610616" cy="570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0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89A6-F0D3-56CB-6AB1-8D20D18E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positive flu strain&#10;&#10;AI-generated content may be incorrect.">
            <a:extLst>
              <a:ext uri="{FF2B5EF4-FFF2-40B4-BE49-F238E27FC236}">
                <a16:creationId xmlns:a16="http://schemas.microsoft.com/office/drawing/2014/main" id="{F16DD112-09DF-607F-96BB-397218D2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39" y="2308990"/>
            <a:ext cx="5611686" cy="28617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D4EBD0-6EB9-528C-22B7-F306AB75A41B}"/>
              </a:ext>
            </a:extLst>
          </p:cNvPr>
          <p:cNvSpPr txBox="1"/>
          <p:nvPr/>
        </p:nvSpPr>
        <p:spPr>
          <a:xfrm>
            <a:off x="495485" y="1396442"/>
            <a:ext cx="3636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USA Respiratory Illness Dashboard</a:t>
            </a:r>
          </a:p>
          <a:p>
            <a:r>
              <a:rPr lang="en-US" dirty="0"/>
              <a:t>(Source: CDC)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555835-512B-9D58-44FB-5ECDD444650A}"/>
              </a:ext>
            </a:extLst>
          </p:cNvPr>
          <p:cNvSpPr txBox="1"/>
          <p:nvPr/>
        </p:nvSpPr>
        <p:spPr>
          <a:xfrm>
            <a:off x="6227323" y="136405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SEIR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F492B0-B9FF-C0EE-A2FE-9D8428555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Current Vaccination Scenario</a:t>
            </a:r>
          </a:p>
        </p:txBody>
      </p:sp>
      <p:pic>
        <p:nvPicPr>
          <p:cNvPr id="12" name="Picture 11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767B2C6-8932-8EF3-F159-EB982699E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33389"/>
            <a:ext cx="5802775" cy="43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3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B9672-C93F-A13F-2B4C-ED1E6A0F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F7024D-2147-C008-5E17-39BD5AB9944D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13855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Covid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A408EC3-A1E0-176B-6195-2F000124BDE8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2287386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Flu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58.2%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E834729-4576-5B69-F9BF-5CD7B54468FC}"/>
              </a:ext>
            </a:extLst>
          </p:cNvPr>
          <p:cNvGraphicFramePr>
            <a:graphicFrameLocks noGrp="1"/>
          </p:cNvGraphicFramePr>
          <p:nvPr/>
        </p:nvGraphicFramePr>
        <p:xfrm>
          <a:off x="150445" y="4574771"/>
          <a:ext cx="3590282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7228">
                  <a:extLst>
                    <a:ext uri="{9D8B030D-6E8A-4147-A177-3AD203B41FA5}">
                      <a16:colId xmlns:a16="http://schemas.microsoft.com/office/drawing/2014/main" val="4158009588"/>
                    </a:ext>
                  </a:extLst>
                </a:gridCol>
                <a:gridCol w="1233054">
                  <a:extLst>
                    <a:ext uri="{9D8B030D-6E8A-4147-A177-3AD203B41FA5}">
                      <a16:colId xmlns:a16="http://schemas.microsoft.com/office/drawing/2014/main" val="3098676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RSV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4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Age Group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Vacc. Rate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7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Children (0-5)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25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Older Children (6-18)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64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Adults (19-64)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0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Seniors (65+)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81"/>
                  </a:ext>
                </a:extLst>
              </a:tr>
            </a:tbl>
          </a:graphicData>
        </a:graphic>
      </p:graphicFrame>
      <p:sp>
        <p:nvSpPr>
          <p:cNvPr id="25" name="Title 1">
            <a:extLst>
              <a:ext uri="{FF2B5EF4-FFF2-40B4-BE49-F238E27FC236}">
                <a16:creationId xmlns:a16="http://schemas.microsoft.com/office/drawing/2014/main" id="{194CDF1E-ADF3-B546-7A47-19DC14AB2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27" y="-415636"/>
            <a:ext cx="8451273" cy="1542011"/>
          </a:xfrm>
        </p:spPr>
        <p:txBody>
          <a:bodyPr>
            <a:normAutofit/>
          </a:bodyPr>
          <a:lstStyle/>
          <a:p>
            <a:r>
              <a:rPr lang="en-US" sz="3000" dirty="0"/>
              <a:t>Current Vaccination - Infections</a:t>
            </a:r>
          </a:p>
        </p:txBody>
      </p:sp>
      <p:pic>
        <p:nvPicPr>
          <p:cNvPr id="5" name="Picture 4" descr="A graph of different stages of vaccination&#10;&#10;AI-generated content may be incorrect.">
            <a:extLst>
              <a:ext uri="{FF2B5EF4-FFF2-40B4-BE49-F238E27FC236}">
                <a16:creationId xmlns:a16="http://schemas.microsoft.com/office/drawing/2014/main" id="{D2F1E410-C9A5-C81B-22FA-D3866D9E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901" y="917293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7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8415-0238-03B8-39DA-00FE8C2C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3798D87-55B0-F943-BA89-5578C521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56" y="-459179"/>
            <a:ext cx="8451273" cy="1542011"/>
          </a:xfrm>
        </p:spPr>
        <p:txBody>
          <a:bodyPr>
            <a:normAutofit/>
          </a:bodyPr>
          <a:lstStyle/>
          <a:p>
            <a:r>
              <a:rPr lang="en-US" sz="3000" dirty="0"/>
              <a:t>Current Vaccination - Infections</a:t>
            </a:r>
          </a:p>
        </p:txBody>
      </p:sp>
      <p:pic>
        <p:nvPicPr>
          <p:cNvPr id="3" name="Picture 2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94EBEE98-C0BE-3267-3EFA-3AE5886BB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91" y="1222831"/>
            <a:ext cx="6045598" cy="4534198"/>
          </a:xfrm>
          <a:prstGeom prst="rect">
            <a:avLst/>
          </a:prstGeom>
        </p:spPr>
      </p:pic>
      <p:pic>
        <p:nvPicPr>
          <p:cNvPr id="5" name="Picture 4" descr="A graph of different types of vaccinations&#10;&#10;AI-generated content may be incorrect.">
            <a:extLst>
              <a:ext uri="{FF2B5EF4-FFF2-40B4-BE49-F238E27FC236}">
                <a16:creationId xmlns:a16="http://schemas.microsoft.com/office/drawing/2014/main" id="{4DA1821D-A89B-D771-0EC5-932070897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3" y="1082832"/>
            <a:ext cx="6045597" cy="453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441-EC24-4493-A99D-80A42E4E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A5AA5-DDCF-31E6-8B7C-9D22DF999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6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C3F1-98AE-FDDB-0D08-DF53966C2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6EBB-DC41-B038-0CB6-03EA6DEE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569"/>
            <a:ext cx="10515600" cy="1325563"/>
          </a:xfrm>
        </p:spPr>
        <p:txBody>
          <a:bodyPr/>
          <a:lstStyle/>
          <a:p>
            <a:r>
              <a:rPr lang="en-US" dirty="0"/>
              <a:t>Current Vaccination by Vacc Type (Count) </a:t>
            </a:r>
          </a:p>
        </p:txBody>
      </p:sp>
      <p:pic>
        <p:nvPicPr>
          <p:cNvPr id="5" name="Picture 4" descr="A graph of different types of vaccinations&#10;&#10;AI-generated content may be incorrect.">
            <a:extLst>
              <a:ext uri="{FF2B5EF4-FFF2-40B4-BE49-F238E27FC236}">
                <a16:creationId xmlns:a16="http://schemas.microsoft.com/office/drawing/2014/main" id="{DE1909E9-C5A4-FB13-904F-C11ECB947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178177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4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53EF-4E62-8249-D768-A0854DF2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11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2552-4108-3C32-F7F5-FC693C1D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67" y="1098076"/>
            <a:ext cx="10515600" cy="1721363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sz="2400" dirty="0"/>
              <a:t>To characterize the optimal age-based distribution of vaccines for RSV, influenza, and COVID-19 – diseases with different age profiles of severity – in a tripledemic season with finite healthcare resources in Illinois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E97A4F-A56F-D7FC-C752-D8ADE4910084}"/>
              </a:ext>
            </a:extLst>
          </p:cNvPr>
          <p:cNvSpPr txBox="1">
            <a:spLocks/>
          </p:cNvSpPr>
          <p:nvPr/>
        </p:nvSpPr>
        <p:spPr>
          <a:xfrm>
            <a:off x="322811" y="24236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Approach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735201-E6B7-8A1E-961F-287176B09880}"/>
              </a:ext>
            </a:extLst>
          </p:cNvPr>
          <p:cNvSpPr txBox="1">
            <a:spLocks/>
          </p:cNvSpPr>
          <p:nvPr/>
        </p:nvSpPr>
        <p:spPr>
          <a:xfrm>
            <a:off x="555567" y="3429000"/>
            <a:ext cx="11412655" cy="295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Age-stratified Tripledemic SEIR</a:t>
            </a:r>
          </a:p>
          <a:p>
            <a:pPr lvl="1"/>
            <a:r>
              <a:rPr lang="en-US" dirty="0"/>
              <a:t>4 age groups: Children (0-5), Older Children (6-18), Adults (19-64), Seniors (65+)</a:t>
            </a:r>
          </a:p>
          <a:p>
            <a:pPr lvl="1"/>
            <a:r>
              <a:rPr lang="en-US" dirty="0"/>
              <a:t>3 pathogens: COVID-19, Flu, RSV  </a:t>
            </a:r>
          </a:p>
          <a:p>
            <a:r>
              <a:rPr lang="en-US" dirty="0"/>
              <a:t>Model discrete vaccination scenarios:</a:t>
            </a:r>
          </a:p>
          <a:p>
            <a:pPr lvl="1"/>
            <a:r>
              <a:rPr lang="en-US" dirty="0"/>
              <a:t>Baselines: No Vaccination, Current Vaccination Levels</a:t>
            </a:r>
          </a:p>
          <a:p>
            <a:pPr lvl="1"/>
            <a:r>
              <a:rPr lang="en-US" dirty="0"/>
              <a:t>Add X% more vaccine doses in the population and vary which age populations they are given to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03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75B788-0DF0-20D4-2F22-F2B54D0F7500}"/>
              </a:ext>
            </a:extLst>
          </p:cNvPr>
          <p:cNvSpPr/>
          <p:nvPr/>
        </p:nvSpPr>
        <p:spPr>
          <a:xfrm>
            <a:off x="5524500" y="1264026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baseline="-25000" dirty="0">
                <a:solidFill>
                  <a:schemeClr val="tx1"/>
                </a:solidFill>
              </a:rPr>
              <a:t>FLU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16C7D-9040-35B8-A0F6-0EA2BC26EF73}"/>
              </a:ext>
            </a:extLst>
          </p:cNvPr>
          <p:cNvSpPr txBox="1"/>
          <p:nvPr/>
        </p:nvSpPr>
        <p:spPr>
          <a:xfrm>
            <a:off x="134470" y="0"/>
            <a:ext cx="3415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Flow out of R </a:t>
            </a:r>
          </a:p>
          <a:p>
            <a:r>
              <a:rPr lang="en-US" sz="3000" dirty="0"/>
              <a:t>Example: Flu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C2C8C-F7F8-E481-E96C-E5C39E7FE52B}"/>
              </a:ext>
            </a:extLst>
          </p:cNvPr>
          <p:cNvSpPr/>
          <p:nvPr/>
        </p:nvSpPr>
        <p:spPr>
          <a:xfrm>
            <a:off x="699246" y="1264026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60C022-4960-9964-E0BF-7A75EE1D87E1}"/>
              </a:ext>
            </a:extLst>
          </p:cNvPr>
          <p:cNvSpPr/>
          <p:nvPr/>
        </p:nvSpPr>
        <p:spPr>
          <a:xfrm>
            <a:off x="1270746" y="5029199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</a:t>
            </a:r>
            <a:r>
              <a:rPr lang="en-US" baseline="-25000" dirty="0" err="1">
                <a:solidFill>
                  <a:schemeClr val="tx1"/>
                </a:solidFill>
              </a:rPr>
              <a:t>COV_vax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69C75-7936-788D-5CB9-6E1414F84440}"/>
              </a:ext>
            </a:extLst>
          </p:cNvPr>
          <p:cNvSpPr/>
          <p:nvPr/>
        </p:nvSpPr>
        <p:spPr>
          <a:xfrm>
            <a:off x="4343401" y="5029199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-US" baseline="-25000" dirty="0">
                <a:solidFill>
                  <a:schemeClr val="tx1"/>
                </a:solidFill>
              </a:rPr>
              <a:t>COV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1C938-6921-BA96-2CC5-502EEC4A4D68}"/>
              </a:ext>
            </a:extLst>
          </p:cNvPr>
          <p:cNvSpPr/>
          <p:nvPr/>
        </p:nvSpPr>
        <p:spPr>
          <a:xfrm>
            <a:off x="7084362" y="5029199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E</a:t>
            </a:r>
            <a:r>
              <a:rPr lang="en-US" baseline="-25000" dirty="0" err="1">
                <a:solidFill>
                  <a:schemeClr val="tx1"/>
                </a:solidFill>
              </a:rPr>
              <a:t>RSV_vax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213121-50A7-9DCD-08F0-14843F2CB017}"/>
              </a:ext>
            </a:extLst>
          </p:cNvPr>
          <p:cNvSpPr/>
          <p:nvPr/>
        </p:nvSpPr>
        <p:spPr>
          <a:xfrm>
            <a:off x="10349754" y="5029199"/>
            <a:ext cx="1143000" cy="8471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-US" baseline="-25000" dirty="0">
                <a:solidFill>
                  <a:schemeClr val="tx1"/>
                </a:solidFill>
              </a:rPr>
              <a:t>RSV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DD52665-61FC-16E6-885E-E92F39C78A34}"/>
              </a:ext>
            </a:extLst>
          </p:cNvPr>
          <p:cNvCxnSpPr>
            <a:cxnSpLocks/>
            <a:stCxn id="5" idx="2"/>
            <a:endCxn id="8" idx="2"/>
          </p:cNvCxnSpPr>
          <p:nvPr/>
        </p:nvCxnSpPr>
        <p:spPr>
          <a:xfrm rot="5400000">
            <a:off x="3683373" y="-301437"/>
            <a:ext cx="12700" cy="4825254"/>
          </a:xfrm>
          <a:prstGeom prst="curvedConnector3">
            <a:avLst>
              <a:gd name="adj1" fmla="val 33882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925E5D-DB2E-9E8B-4CE2-80BDFD6455F1}"/>
                  </a:ext>
                </a:extLst>
              </p:cNvPr>
              <p:cNvSpPr txBox="1"/>
              <p:nvPr/>
            </p:nvSpPr>
            <p:spPr>
              <a:xfrm>
                <a:off x="3397451" y="2129279"/>
                <a:ext cx="5290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𝐹𝐿𝑈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925E5D-DB2E-9E8B-4CE2-80BDFD645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51" y="2129279"/>
                <a:ext cx="529090" cy="276999"/>
              </a:xfrm>
              <a:prstGeom prst="rect">
                <a:avLst/>
              </a:prstGeom>
              <a:blipFill>
                <a:blip r:embed="rId2"/>
                <a:stretch>
                  <a:fillRect l="-6977" r="-465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CFD257B-E2A1-3AE6-0576-429FB5A37CFC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rot="5400000">
            <a:off x="2510119" y="1443317"/>
            <a:ext cx="2918009" cy="425375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9276772B-1A81-2A7C-6BA4-6FF906D589F7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5400000">
            <a:off x="4046447" y="2979645"/>
            <a:ext cx="2918009" cy="118109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31A32D89-998C-9528-B1C1-F75289B21896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5416927" y="2790263"/>
            <a:ext cx="2918009" cy="155986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FF36D5B0-A5AA-4223-AC32-3B6E3BFF9D15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16200000" flipH="1">
            <a:off x="7049623" y="1157567"/>
            <a:ext cx="2918009" cy="482525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75FCB0-6F1A-BE9F-F1DD-75C4BADD3313}"/>
                  </a:ext>
                </a:extLst>
              </p:cNvPr>
              <p:cNvSpPr txBox="1"/>
              <p:nvPr/>
            </p:nvSpPr>
            <p:spPr>
              <a:xfrm>
                <a:off x="2859959" y="3250204"/>
                <a:ext cx="1483442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875FCB0-6F1A-BE9F-F1DD-75C4BADD3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959" y="3250204"/>
                <a:ext cx="1483442" cy="215444"/>
              </a:xfrm>
              <a:prstGeom prst="rect">
                <a:avLst/>
              </a:prstGeom>
              <a:blipFill>
                <a:blip r:embed="rId3"/>
                <a:stretch>
                  <a:fillRect l="-3390" r="-8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C922AF-F34D-B37D-5B49-79115C79BDCF}"/>
                  </a:ext>
                </a:extLst>
              </p:cNvPr>
              <p:cNvSpPr txBox="1"/>
              <p:nvPr/>
            </p:nvSpPr>
            <p:spPr>
              <a:xfrm>
                <a:off x="3567626" y="4139701"/>
                <a:ext cx="13471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𝐶𝑂𝑉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C922AF-F34D-B37D-5B49-79115C79B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626" y="4139701"/>
                <a:ext cx="1347164" cy="215444"/>
              </a:xfrm>
              <a:prstGeom prst="rect">
                <a:avLst/>
              </a:prstGeom>
              <a:blipFill>
                <a:blip r:embed="rId4"/>
                <a:stretch>
                  <a:fillRect l="-2804" r="-467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F4B5BE-7EDD-EEF5-4582-BBFD71559F8D}"/>
                  </a:ext>
                </a:extLst>
              </p:cNvPr>
              <p:cNvSpPr txBox="1"/>
              <p:nvPr/>
            </p:nvSpPr>
            <p:spPr>
              <a:xfrm>
                <a:off x="7655862" y="4014402"/>
                <a:ext cx="146527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F4B5BE-7EDD-EEF5-4582-BBFD71559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5862" y="4014402"/>
                <a:ext cx="1465273" cy="215444"/>
              </a:xfrm>
              <a:prstGeom prst="rect">
                <a:avLst/>
              </a:prstGeom>
              <a:blipFill>
                <a:blip r:embed="rId5"/>
                <a:stretch>
                  <a:fillRect l="-256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4BBEA6-8198-DBF3-5932-ABDB6F51AD51}"/>
                  </a:ext>
                </a:extLst>
              </p:cNvPr>
              <p:cNvSpPr txBox="1"/>
              <p:nvPr/>
            </p:nvSpPr>
            <p:spPr>
              <a:xfrm>
                <a:off x="8941386" y="3215049"/>
                <a:ext cx="13199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RSV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4BBEA6-8198-DBF3-5932-ABDB6F51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1386" y="3215049"/>
                <a:ext cx="1319913" cy="215444"/>
              </a:xfrm>
              <a:prstGeom prst="rect">
                <a:avLst/>
              </a:prstGeom>
              <a:blipFill>
                <a:blip r:embed="rId6"/>
                <a:stretch>
                  <a:fillRect l="-3846" r="-4808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67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002D-4B84-6761-48C6-65460324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Overall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7F5AD-2694-6EB7-8E95-5B49439AB73C}"/>
              </a:ext>
            </a:extLst>
          </p:cNvPr>
          <p:cNvSpPr/>
          <p:nvPr/>
        </p:nvSpPr>
        <p:spPr>
          <a:xfrm>
            <a:off x="283884" y="1798802"/>
            <a:ext cx="2581836" cy="1398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Children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SEIR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4922F-7E72-41B9-9692-75AE7C739564}"/>
              </a:ext>
            </a:extLst>
          </p:cNvPr>
          <p:cNvSpPr/>
          <p:nvPr/>
        </p:nvSpPr>
        <p:spPr>
          <a:xfrm>
            <a:off x="3189942" y="1798801"/>
            <a:ext cx="2581836" cy="1398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Older Children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SEIR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A0F7D0-D4D1-C4CB-BC1D-EFC76B1D475D}"/>
              </a:ext>
            </a:extLst>
          </p:cNvPr>
          <p:cNvSpPr/>
          <p:nvPr/>
        </p:nvSpPr>
        <p:spPr>
          <a:xfrm>
            <a:off x="6096000" y="1798801"/>
            <a:ext cx="2581836" cy="1398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Adults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SEIR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C681AE-ADF0-C494-2290-0C7E1F5DEADE}"/>
              </a:ext>
            </a:extLst>
          </p:cNvPr>
          <p:cNvSpPr/>
          <p:nvPr/>
        </p:nvSpPr>
        <p:spPr>
          <a:xfrm>
            <a:off x="9002059" y="1798800"/>
            <a:ext cx="2581836" cy="1398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Seniors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SEIR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5392E0-43D9-3C04-995E-23F207C69746}"/>
              </a:ext>
            </a:extLst>
          </p:cNvPr>
          <p:cNvSpPr txBox="1"/>
          <p:nvPr/>
        </p:nvSpPr>
        <p:spPr>
          <a:xfrm>
            <a:off x="283884" y="4009292"/>
            <a:ext cx="9921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Essentially 4 separate SEIR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Note: No aging component is used because we are only modeling one season of the tripledemic</a:t>
            </a:r>
          </a:p>
        </p:txBody>
      </p:sp>
    </p:spTree>
    <p:extLst>
      <p:ext uri="{BB962C8B-B14F-4D97-AF65-F5344CB8AC3E}">
        <p14:creationId xmlns:p14="http://schemas.microsoft.com/office/powerpoint/2010/main" val="250374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4448</TotalTime>
  <Words>1003</Words>
  <Application>Microsoft Macintosh PowerPoint</Application>
  <PresentationFormat>Widescreen</PresentationFormat>
  <Paragraphs>255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Wingdings</vt:lpstr>
      <vt:lpstr>Office Theme</vt:lpstr>
      <vt:lpstr>SHIELD Meeting 11/7</vt:lpstr>
      <vt:lpstr>Model Structure:</vt:lpstr>
      <vt:lpstr>PowerPoint Presentation</vt:lpstr>
      <vt:lpstr>Last Time: </vt:lpstr>
      <vt:lpstr>Updates</vt:lpstr>
      <vt:lpstr>Hospitalization Term</vt:lpstr>
      <vt:lpstr>PowerPoint Presentation</vt:lpstr>
      <vt:lpstr>No Vaccination - Infections</vt:lpstr>
      <vt:lpstr>Current Vaccination Scenario</vt:lpstr>
      <vt:lpstr>Current Vaccination - Infections</vt:lpstr>
      <vt:lpstr>Current Vaccination - Infections</vt:lpstr>
      <vt:lpstr>Supplementary</vt:lpstr>
      <vt:lpstr>Current Vaccination by Vacc Type (Count) </vt:lpstr>
      <vt:lpstr>Aim</vt:lpstr>
      <vt:lpstr>PowerPoint Presentation</vt:lpstr>
      <vt:lpstr>Overall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Alyssa Anastasi</dc:creator>
  <cp:lastModifiedBy>Alyssa Anastasi</cp:lastModifiedBy>
  <cp:revision>6</cp:revision>
  <dcterms:created xsi:type="dcterms:W3CDTF">2025-11-05T17:44:25Z</dcterms:created>
  <dcterms:modified xsi:type="dcterms:W3CDTF">2025-11-10T00:40:36Z</dcterms:modified>
</cp:coreProperties>
</file>