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57" r:id="rId4"/>
    <p:sldId id="260" r:id="rId5"/>
    <p:sldId id="262" r:id="rId6"/>
    <p:sldId id="258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191"/>
    <p:restoredTop sz="94660"/>
  </p:normalViewPr>
  <p:slideViewPr>
    <p:cSldViewPr snapToGrid="0">
      <p:cViewPr>
        <p:scale>
          <a:sx n="127" d="100"/>
          <a:sy n="127" d="100"/>
        </p:scale>
        <p:origin x="52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4D649-3DB3-8BDE-3C09-9EF370A509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4DB4B9-0F78-5C9D-7401-B5446442FB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C25163-5CAC-0B88-4DDA-A74D431FA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7068F-DACC-A446-B6E5-DEA52AC023D2}" type="datetimeFigureOut">
              <a:rPr lang="en-US" smtClean="0"/>
              <a:t>7/9/25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68074A-1F69-F2BA-FDB6-DA02E3FE0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CD126-11DB-E8D4-A1BF-4A85E8248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AD412-CFE5-EF4E-807D-D2A4A3C32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377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8DD2C-E2B2-B17D-A3A6-22F2266A1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5090A-3879-37EF-F67D-EEA0D5231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07676-7C05-C79F-6796-42E281D60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7068F-DACC-A446-B6E5-DEA52AC023D2}" type="datetimeFigureOut">
              <a:rPr lang="en-US" smtClean="0"/>
              <a:t>7/9/25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A485B-8D15-2F65-C817-C2CE67CB5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D0B1AF-8679-8904-0CCC-75B676DAF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AD412-CFE5-EF4E-807D-D2A4A3C32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570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9E905-E1A8-7564-F239-61A4B15B2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6593EA-5180-1BA7-8DF4-C9F27CBB10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CDA7D1-93D1-B89C-8475-D21A39A75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7068F-DACC-A446-B6E5-DEA52AC023D2}" type="datetimeFigureOut">
              <a:rPr lang="en-US" smtClean="0"/>
              <a:t>7/9/25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7E75C-AE47-46A7-BA82-FA28DDB25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5C5191-8D04-86C5-E2B4-AEA4C3479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AD412-CFE5-EF4E-807D-D2A4A3C32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133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2B04C-629B-C704-4F6C-33C97F9B8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DE6AF-BBAD-5DF3-8C93-2B5666F015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92F0F8-0CAE-C6C0-ADDF-E652FADFE1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9FF6D8-0499-B0BD-CB79-6C2E78C6D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7068F-DACC-A446-B6E5-DEA52AC023D2}" type="datetimeFigureOut">
              <a:rPr lang="en-US" smtClean="0"/>
              <a:t>7/9/25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BC1C59-59D8-63B9-9D77-B32AD6631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F8F439-CD04-D44C-0829-A22A099B3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AD412-CFE5-EF4E-807D-D2A4A3C32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400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8F997-C142-B7F2-3A78-701B01E4F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A8C6B8-279C-9D34-B191-40842948E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0683F4-243A-6375-395F-9C78A85DA9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951A5C-F58E-E844-EA7E-5CC7EB2DC2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8012CC-1819-7535-C2D5-068E29739D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14126A-56A1-2D44-3F01-A38F9D25B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7068F-DACC-A446-B6E5-DEA52AC023D2}" type="datetimeFigureOut">
              <a:rPr lang="en-US" smtClean="0"/>
              <a:t>7/9/25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995FFD-F75A-468E-FF3C-7EB01474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EE909-9D5B-A275-759D-C98AAB66A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AD412-CFE5-EF4E-807D-D2A4A3C32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757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86E32-DE46-12F5-F76F-4CEF132C5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4F7E9E-8853-D24B-0F5E-4BAC7576B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7068F-DACC-A446-B6E5-DEA52AC023D2}" type="datetimeFigureOut">
              <a:rPr lang="en-US" smtClean="0"/>
              <a:t>7/9/25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039AB8-2547-868F-E8DB-8B218A311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3A2F80-944B-F9E8-BC6A-D36C5BAC9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AD412-CFE5-EF4E-807D-D2A4A3C32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197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7EC481-531B-A99E-01A8-13340C0F3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7068F-DACC-A446-B6E5-DEA52AC023D2}" type="datetimeFigureOut">
              <a:rPr lang="en-US" smtClean="0"/>
              <a:t>7/9/25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8276B0-EA55-D7A3-2878-202C83676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313439-DD9B-48EE-E4DA-EE829227E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AD412-CFE5-EF4E-807D-D2A4A3C32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643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54604-5655-51F6-8945-8BAC7B937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618D4-D541-A47E-9809-87688E0A49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A6E459-A3E1-F2FC-2372-E496ABE741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2E236A-72DF-75F2-635A-543103B2B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7068F-DACC-A446-B6E5-DEA52AC023D2}" type="datetimeFigureOut">
              <a:rPr lang="en-US" smtClean="0"/>
              <a:t>7/9/25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6ED88A-ADAD-9324-98B0-3B43EC05E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73C990-C82C-33E8-B051-F307E44E1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AD412-CFE5-EF4E-807D-D2A4A3C32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454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803D3-8236-7AA6-820F-312541F3E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76F91D-1BA0-756E-6B4A-325F13656E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BD53DA-A352-0B21-339E-B202F36F7D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B3E9C7-F8E4-E46C-BD6F-907000A9F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7068F-DACC-A446-B6E5-DEA52AC023D2}" type="datetimeFigureOut">
              <a:rPr lang="en-US" smtClean="0"/>
              <a:t>7/9/25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1CD7AF-89BD-2075-B658-5EBFBD2E6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5E20A5-9C42-2D1F-6EF4-6BE690C73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AD412-CFE5-EF4E-807D-D2A4A3C32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260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D3AB8-CC94-8377-F67D-71BEAEE2B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90697B-FAB3-DFF1-79E6-84798A9796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77C58-B686-6CB7-D25C-37A4AE28F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7068F-DACC-A446-B6E5-DEA52AC023D2}" type="datetimeFigureOut">
              <a:rPr lang="en-US" smtClean="0"/>
              <a:t>7/9/25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5F0ACC-4292-0F0F-489C-E02B7F1B2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ED577-5545-F365-7703-4FBE23A57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AD412-CFE5-EF4E-807D-D2A4A3C32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620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89515C-0945-2F49-C678-E6064EC35B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3B6CAD-D87B-97C1-2A29-6620C3450B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DCB77-0270-D3A2-0CB9-A241B048C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7068F-DACC-A446-B6E5-DEA52AC023D2}" type="datetimeFigureOut">
              <a:rPr lang="en-US" smtClean="0"/>
              <a:t>7/9/25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65D660-BCF5-6A53-D3E1-FF308A3BF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47CE7-0FF2-439E-E536-CE20A4130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AD412-CFE5-EF4E-807D-D2A4A3C32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345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446012-465F-B237-6BA8-9C2C68F77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84CC4C-28FA-8DBF-F4D6-F3B539834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91800-1FF8-E877-584E-EA53473DB4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7068F-DACC-A446-B6E5-DEA52AC023D2}" type="datetimeFigureOut">
              <a:rPr lang="en-US" smtClean="0"/>
              <a:t>7/9/25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7A732-6498-BFF5-CB10-013CCE5624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402E4-C7CF-465B-46D5-A5F536EF0D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6AD412-CFE5-EF4E-807D-D2A4A3C32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351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0.png"/><Relationship Id="rId13" Type="http://schemas.openxmlformats.org/officeDocument/2006/relationships/image" Target="../media/image33.png"/><Relationship Id="rId18" Type="http://schemas.openxmlformats.org/officeDocument/2006/relationships/image" Target="../media/image300.png"/><Relationship Id="rId3" Type="http://schemas.openxmlformats.org/officeDocument/2006/relationships/image" Target="../media/image160.png"/><Relationship Id="rId7" Type="http://schemas.openxmlformats.org/officeDocument/2006/relationships/image" Target="../media/image31.png"/><Relationship Id="rId12" Type="http://schemas.openxmlformats.org/officeDocument/2006/relationships/image" Target="../media/image32.png"/><Relationship Id="rId17" Type="http://schemas.openxmlformats.org/officeDocument/2006/relationships/image" Target="../media/image290.png"/><Relationship Id="rId2" Type="http://schemas.openxmlformats.org/officeDocument/2006/relationships/image" Target="../media/image1.png"/><Relationship Id="rId16" Type="http://schemas.openxmlformats.org/officeDocument/2006/relationships/image" Target="../media/image2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230.png"/><Relationship Id="rId5" Type="http://schemas.openxmlformats.org/officeDocument/2006/relationships/image" Target="../media/image29.png"/><Relationship Id="rId15" Type="http://schemas.openxmlformats.org/officeDocument/2006/relationships/image" Target="../media/image270.png"/><Relationship Id="rId10" Type="http://schemas.openxmlformats.org/officeDocument/2006/relationships/image" Target="../media/image10.png"/><Relationship Id="rId4" Type="http://schemas.openxmlformats.org/officeDocument/2006/relationships/image" Target="../media/image170.png"/><Relationship Id="rId9" Type="http://schemas.openxmlformats.org/officeDocument/2006/relationships/image" Target="../media/image220.png"/><Relationship Id="rId14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4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4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40.png"/><Relationship Id="rId5" Type="http://schemas.openxmlformats.org/officeDocument/2006/relationships/image" Target="../media/image36.png"/><Relationship Id="rId15" Type="http://schemas.openxmlformats.org/officeDocument/2006/relationships/image" Target="../media/image23.png"/><Relationship Id="rId10" Type="http://schemas.openxmlformats.org/officeDocument/2006/relationships/image" Target="../media/image39.png"/><Relationship Id="rId4" Type="http://schemas.openxmlformats.org/officeDocument/2006/relationships/image" Target="../media/image35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459A9-6A1F-FC49-ABB3-75782B506E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Meeting with Soren 7/10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220D29-7D2A-2CC2-1EA1-6326112F62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408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FC2D9-0587-AC8D-E82D-0422435A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dirty="0"/>
              <a:t>Goals for the past few weeks: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08FD2-DE91-47CD-6DCB-3F856F545A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487" y="1253331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Download IDPH/CDC mortality data </a:t>
            </a:r>
          </a:p>
          <a:p>
            <a:r>
              <a:rPr lang="en-US" dirty="0"/>
              <a:t>Clean data to standard format (weekly) </a:t>
            </a:r>
          </a:p>
          <a:p>
            <a:r>
              <a:rPr lang="en-US" dirty="0"/>
              <a:t>Adapt SIR Models</a:t>
            </a:r>
          </a:p>
          <a:p>
            <a:r>
              <a:rPr lang="en-US" dirty="0"/>
              <a:t>Find parameters from literature </a:t>
            </a:r>
          </a:p>
          <a:p>
            <a:pPr lvl="1"/>
            <a:r>
              <a:rPr lang="en-US" dirty="0"/>
              <a:t>Severe/hospitalization rates</a:t>
            </a:r>
          </a:p>
          <a:p>
            <a:pPr lvl="1"/>
            <a:r>
              <a:rPr lang="en-US" dirty="0"/>
              <a:t>Death rates</a:t>
            </a:r>
          </a:p>
          <a:p>
            <a:r>
              <a:rPr lang="en-US" dirty="0"/>
              <a:t>Implement Seasonality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90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0AC9B-6DAD-1D05-33EC-35EA2B0E2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514"/>
            <a:ext cx="10515600" cy="1325563"/>
          </a:xfrm>
        </p:spPr>
        <p:txBody>
          <a:bodyPr/>
          <a:lstStyle/>
          <a:p>
            <a:r>
              <a:rPr lang="en-US" dirty="0"/>
              <a:t>COVID/Flu/RSV SEIR Model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AAAC42-FC9D-3214-93C5-AFA2C7574731}"/>
              </a:ext>
            </a:extLst>
          </p:cNvPr>
          <p:cNvSpPr/>
          <p:nvPr/>
        </p:nvSpPr>
        <p:spPr>
          <a:xfrm>
            <a:off x="456981" y="1790971"/>
            <a:ext cx="812800" cy="7311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3C9E71-CA8A-CD2A-2A5F-3917B76504F3}"/>
              </a:ext>
            </a:extLst>
          </p:cNvPr>
          <p:cNvSpPr/>
          <p:nvPr/>
        </p:nvSpPr>
        <p:spPr>
          <a:xfrm>
            <a:off x="1912664" y="1790971"/>
            <a:ext cx="812800" cy="7311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4DD325-5894-85CB-C054-F290FA4E0F3A}"/>
              </a:ext>
            </a:extLst>
          </p:cNvPr>
          <p:cNvSpPr/>
          <p:nvPr/>
        </p:nvSpPr>
        <p:spPr>
          <a:xfrm>
            <a:off x="3368347" y="1146735"/>
            <a:ext cx="812800" cy="7311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4716E1-3710-41C7-80F2-5F77C4384DC7}"/>
              </a:ext>
            </a:extLst>
          </p:cNvPr>
          <p:cNvSpPr/>
          <p:nvPr/>
        </p:nvSpPr>
        <p:spPr>
          <a:xfrm>
            <a:off x="4789214" y="1749082"/>
            <a:ext cx="812800" cy="7311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D7A9DB-26E5-5746-C201-A70B6BFF0AEA}"/>
              </a:ext>
            </a:extLst>
          </p:cNvPr>
          <p:cNvSpPr/>
          <p:nvPr/>
        </p:nvSpPr>
        <p:spPr>
          <a:xfrm>
            <a:off x="3368347" y="2519453"/>
            <a:ext cx="812800" cy="7311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A2A8EB-238E-6B69-D0AC-12DD962D8416}"/>
              </a:ext>
            </a:extLst>
          </p:cNvPr>
          <p:cNvSpPr/>
          <p:nvPr/>
        </p:nvSpPr>
        <p:spPr>
          <a:xfrm>
            <a:off x="4789214" y="2885047"/>
            <a:ext cx="812800" cy="7311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D1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0866500-C36C-FACE-AFDD-E48E5107E552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1269781" y="2156565"/>
            <a:ext cx="642883" cy="0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5EB57A0-E223-C824-A093-8CCA4791CB7E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2725464" y="1512329"/>
            <a:ext cx="642883" cy="644236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B226F68-1DE9-1262-8F07-2C6EACBC9A81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2725464" y="2156565"/>
            <a:ext cx="642883" cy="728482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CCE52C4-243A-FA11-D9E9-A42792BFE337}"/>
              </a:ext>
            </a:extLst>
          </p:cNvPr>
          <p:cNvCxnSpPr>
            <a:cxnSpLocks/>
            <a:stCxn id="9" idx="3"/>
            <a:endCxn id="8" idx="1"/>
          </p:cNvCxnSpPr>
          <p:nvPr/>
        </p:nvCxnSpPr>
        <p:spPr>
          <a:xfrm flipV="1">
            <a:off x="4181147" y="2114676"/>
            <a:ext cx="608067" cy="770371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6CFA289-6E9B-6650-9D59-E0523DBA959C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4181147" y="2885047"/>
            <a:ext cx="608067" cy="365594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7A34512A-D393-7FEE-4D26-3CD16EF2B2AA}"/>
              </a:ext>
            </a:extLst>
          </p:cNvPr>
          <p:cNvSpPr/>
          <p:nvPr/>
        </p:nvSpPr>
        <p:spPr>
          <a:xfrm>
            <a:off x="456981" y="4420124"/>
            <a:ext cx="812800" cy="7311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87AE006-453D-6F6B-B6BB-4B5A96C92CF6}"/>
              </a:ext>
            </a:extLst>
          </p:cNvPr>
          <p:cNvSpPr/>
          <p:nvPr/>
        </p:nvSpPr>
        <p:spPr>
          <a:xfrm>
            <a:off x="1912664" y="4420124"/>
            <a:ext cx="812800" cy="7311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E2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4423499-23FC-B08C-C9F7-288B701D3EF7}"/>
              </a:ext>
            </a:extLst>
          </p:cNvPr>
          <p:cNvSpPr/>
          <p:nvPr/>
        </p:nvSpPr>
        <p:spPr>
          <a:xfrm>
            <a:off x="3368347" y="3775888"/>
            <a:ext cx="812800" cy="7311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F7C4EF9-8994-0192-56CE-F7D5A2F718C8}"/>
              </a:ext>
            </a:extLst>
          </p:cNvPr>
          <p:cNvSpPr/>
          <p:nvPr/>
        </p:nvSpPr>
        <p:spPr>
          <a:xfrm>
            <a:off x="4789214" y="4280803"/>
            <a:ext cx="812800" cy="7311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R2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48E5D83-CBE8-A515-9586-5FA49ED33846}"/>
              </a:ext>
            </a:extLst>
          </p:cNvPr>
          <p:cNvSpPr/>
          <p:nvPr/>
        </p:nvSpPr>
        <p:spPr>
          <a:xfrm>
            <a:off x="3368347" y="5148606"/>
            <a:ext cx="812800" cy="7311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8C3378E-EF4B-6389-9340-29722348849A}"/>
              </a:ext>
            </a:extLst>
          </p:cNvPr>
          <p:cNvSpPr/>
          <p:nvPr/>
        </p:nvSpPr>
        <p:spPr>
          <a:xfrm>
            <a:off x="4789214" y="5514200"/>
            <a:ext cx="812800" cy="7311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D2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6999503-215F-B64B-4D45-DDA329CB3FE0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1269781" y="4785718"/>
            <a:ext cx="642883" cy="0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5DA7759-D4FB-49F0-AABA-651001DD0CEB}"/>
              </a:ext>
            </a:extLst>
          </p:cNvPr>
          <p:cNvCxnSpPr>
            <a:cxnSpLocks/>
            <a:endCxn id="28" idx="1"/>
          </p:cNvCxnSpPr>
          <p:nvPr/>
        </p:nvCxnSpPr>
        <p:spPr>
          <a:xfrm flipV="1">
            <a:off x="2725464" y="4141482"/>
            <a:ext cx="642883" cy="644236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7696044-2519-02E8-37C7-C2BBE1AF1D38}"/>
              </a:ext>
            </a:extLst>
          </p:cNvPr>
          <p:cNvCxnSpPr>
            <a:cxnSpLocks/>
            <a:stCxn id="27" idx="3"/>
            <a:endCxn id="30" idx="1"/>
          </p:cNvCxnSpPr>
          <p:nvPr/>
        </p:nvCxnSpPr>
        <p:spPr>
          <a:xfrm>
            <a:off x="2725464" y="4785718"/>
            <a:ext cx="642883" cy="728482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59025BF-60EC-9806-EB1B-5831E76C9694}"/>
              </a:ext>
            </a:extLst>
          </p:cNvPr>
          <p:cNvCxnSpPr>
            <a:cxnSpLocks/>
            <a:stCxn id="30" idx="3"/>
            <a:endCxn id="29" idx="1"/>
          </p:cNvCxnSpPr>
          <p:nvPr/>
        </p:nvCxnSpPr>
        <p:spPr>
          <a:xfrm flipV="1">
            <a:off x="4181147" y="4646397"/>
            <a:ext cx="608067" cy="867803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2FCE8FF-83F5-FD9A-610B-0344D9BBC8DD}"/>
              </a:ext>
            </a:extLst>
          </p:cNvPr>
          <p:cNvCxnSpPr>
            <a:cxnSpLocks/>
            <a:stCxn id="30" idx="3"/>
            <a:endCxn id="31" idx="1"/>
          </p:cNvCxnSpPr>
          <p:nvPr/>
        </p:nvCxnSpPr>
        <p:spPr>
          <a:xfrm>
            <a:off x="4181147" y="5514200"/>
            <a:ext cx="608067" cy="365594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299EF93D-03BC-9EBC-1627-950C3E2F9F27}"/>
              </a:ext>
            </a:extLst>
          </p:cNvPr>
          <p:cNvCxnSpPr>
            <a:cxnSpLocks/>
            <a:stCxn id="29" idx="3"/>
            <a:endCxn id="26" idx="2"/>
          </p:cNvCxnSpPr>
          <p:nvPr/>
        </p:nvCxnSpPr>
        <p:spPr>
          <a:xfrm flipH="1">
            <a:off x="863381" y="4646397"/>
            <a:ext cx="4738633" cy="504915"/>
          </a:xfrm>
          <a:prstGeom prst="bentConnector4">
            <a:avLst>
              <a:gd name="adj1" fmla="val -4824"/>
              <a:gd name="adj2" fmla="val 374252"/>
            </a:avLst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ACF4EBB-793D-7579-16B6-E23BE45D7D51}"/>
                  </a:ext>
                </a:extLst>
              </p:cNvPr>
              <p:cNvSpPr txBox="1"/>
              <p:nvPr/>
            </p:nvSpPr>
            <p:spPr>
              <a:xfrm>
                <a:off x="1402757" y="1805998"/>
                <a:ext cx="1224548" cy="3590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733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1733" dirty="0"/>
                  <a:t> </a:t>
                </a: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ACF4EBB-793D-7579-16B6-E23BE45D7D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2757" y="1805998"/>
                <a:ext cx="1224548" cy="35900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36C6EBA-3FB8-55FC-73ED-AD8D89FFF52D}"/>
                  </a:ext>
                </a:extLst>
              </p:cNvPr>
              <p:cNvSpPr txBox="1"/>
              <p:nvPr/>
            </p:nvSpPr>
            <p:spPr>
              <a:xfrm>
                <a:off x="2349833" y="1348402"/>
                <a:ext cx="1428961" cy="630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7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7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7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1−</m:t>
                    </m:r>
                    <m:sSub>
                      <m:sSubPr>
                        <m:ctrlPr>
                          <a:rPr lang="en-US" sz="17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7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US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ϵ</m:t>
                    </m:r>
                  </m:oMath>
                </a14:m>
                <a:endParaRPr lang="en-US" sz="17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36C6EBA-3FB8-55FC-73ED-AD8D89FFF5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9833" y="1348402"/>
                <a:ext cx="1428961" cy="630942"/>
              </a:xfrm>
              <a:prstGeom prst="rect">
                <a:avLst/>
              </a:prstGeom>
              <a:blipFill>
                <a:blip r:embed="rId3"/>
                <a:stretch>
                  <a:fillRect l="-35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820800E-F9AA-EC96-0722-C1044F4ED22E}"/>
                  </a:ext>
                </a:extLst>
              </p:cNvPr>
              <p:cNvSpPr txBox="1"/>
              <p:nvPr/>
            </p:nvSpPr>
            <p:spPr>
              <a:xfrm>
                <a:off x="2167886" y="5278775"/>
                <a:ext cx="1521464" cy="630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7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700" i="1">
                          <a:latin typeface="Cambria Math" panose="02040503050406030204" pitchFamily="18" charset="0"/>
                        </a:rPr>
                        <m:t>ϵ</m:t>
                      </m:r>
                    </m:oMath>
                  </m:oMathPara>
                </a14:m>
                <a:endParaRPr lang="en-US" sz="17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820800E-F9AA-EC96-0722-C1044F4ED2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886" y="5278775"/>
                <a:ext cx="1521464" cy="63094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F7D557C-6C02-1A4E-E96F-5B7806B836B0}"/>
                  </a:ext>
                </a:extLst>
              </p:cNvPr>
              <p:cNvSpPr txBox="1"/>
              <p:nvPr/>
            </p:nvSpPr>
            <p:spPr>
              <a:xfrm>
                <a:off x="4493147" y="1396154"/>
                <a:ext cx="198772" cy="2616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en-US" sz="17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F7D557C-6C02-1A4E-E96F-5B7806B836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3147" y="1396154"/>
                <a:ext cx="198772" cy="261610"/>
              </a:xfrm>
              <a:prstGeom prst="rect">
                <a:avLst/>
              </a:prstGeom>
              <a:blipFill>
                <a:blip r:embed="rId5"/>
                <a:stretch>
                  <a:fillRect l="-11765" r="-11765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E191C27-1FEB-40FD-0F56-502E23B40051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4181147" y="1512329"/>
            <a:ext cx="608067" cy="602347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BD23DFC-6730-E9D4-9D71-293D47947FF4}"/>
              </a:ext>
            </a:extLst>
          </p:cNvPr>
          <p:cNvCxnSpPr>
            <a:cxnSpLocks/>
          </p:cNvCxnSpPr>
          <p:nvPr/>
        </p:nvCxnSpPr>
        <p:spPr>
          <a:xfrm>
            <a:off x="4181147" y="4062289"/>
            <a:ext cx="608067" cy="602347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6544ACAD-1BFF-737A-DC2F-0CE1E007433F}"/>
                  </a:ext>
                </a:extLst>
              </p:cNvPr>
              <p:cNvSpPr txBox="1"/>
              <p:nvPr/>
            </p:nvSpPr>
            <p:spPr>
              <a:xfrm>
                <a:off x="4307951" y="3046967"/>
                <a:ext cx="216727" cy="2616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6544ACAD-1BFF-737A-DC2F-0CE1E00743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951" y="3046967"/>
                <a:ext cx="216727" cy="261610"/>
              </a:xfrm>
              <a:prstGeom prst="rect">
                <a:avLst/>
              </a:prstGeom>
              <a:blipFill>
                <a:blip r:embed="rId6"/>
                <a:stretch>
                  <a:fillRect l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8458BBD-5BB5-7410-7688-B2C844F05733}"/>
                  </a:ext>
                </a:extLst>
              </p:cNvPr>
              <p:cNvSpPr txBox="1"/>
              <p:nvPr/>
            </p:nvSpPr>
            <p:spPr>
              <a:xfrm>
                <a:off x="3672877" y="2162853"/>
                <a:ext cx="913137" cy="2616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en-US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en-US" sz="1700" dirty="0"/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8458BBD-5BB5-7410-7688-B2C844F057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2877" y="2162853"/>
                <a:ext cx="913137" cy="261610"/>
              </a:xfrm>
              <a:prstGeom prst="rect">
                <a:avLst/>
              </a:prstGeom>
              <a:blipFill>
                <a:blip r:embed="rId7"/>
                <a:stretch>
                  <a:fillRect r="-2778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D5616426-0E77-52E6-DABE-A5B3CDA6137E}"/>
                  </a:ext>
                </a:extLst>
              </p:cNvPr>
              <p:cNvSpPr txBox="1"/>
              <p:nvPr/>
            </p:nvSpPr>
            <p:spPr>
              <a:xfrm>
                <a:off x="3230615" y="3432377"/>
                <a:ext cx="244683" cy="2616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en-US" sz="17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D5616426-0E77-52E6-DABE-A5B3CDA613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0615" y="3432377"/>
                <a:ext cx="244683" cy="261610"/>
              </a:xfrm>
              <a:prstGeom prst="rect">
                <a:avLst/>
              </a:prstGeom>
              <a:blipFill>
                <a:blip r:embed="rId8"/>
                <a:stretch>
                  <a:fillRect l="-5000" r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EA75D79-A890-0823-5FF1-61CCBD0D9259}"/>
                  </a:ext>
                </a:extLst>
              </p:cNvPr>
              <p:cNvSpPr txBox="1"/>
              <p:nvPr/>
            </p:nvSpPr>
            <p:spPr>
              <a:xfrm>
                <a:off x="2924911" y="6179098"/>
                <a:ext cx="1256236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𝑠𝑖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EA75D79-A890-0823-5FF1-61CCBD0D92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4911" y="6179098"/>
                <a:ext cx="1256236" cy="369332"/>
              </a:xfrm>
              <a:prstGeom prst="rect">
                <a:avLst/>
              </a:prstGeom>
              <a:blipFill>
                <a:blip r:embed="rId9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6C1BAB33-419B-2A0A-B760-10AB90562F72}"/>
                  </a:ext>
                </a:extLst>
              </p:cNvPr>
              <p:cNvSpPr txBox="1"/>
              <p:nvPr/>
            </p:nvSpPr>
            <p:spPr>
              <a:xfrm>
                <a:off x="6689849" y="1396617"/>
                <a:ext cx="4860690" cy="36933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Separate infections into 2 compartments: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I – Non-Severe Infection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H – Severe Infection (Hospitalization)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force of infection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p: probability of severe infection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vaccination function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latent period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recovery rate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death rate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waning of immunity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𝑠𝑠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scale susceptibility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𝑠𝑖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scale immunity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aging rate</a:t>
                </a: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6C1BAB33-419B-2A0A-B760-10AB90562F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9849" y="1396617"/>
                <a:ext cx="4860690" cy="3693319"/>
              </a:xfrm>
              <a:prstGeom prst="rect">
                <a:avLst/>
              </a:prstGeom>
              <a:blipFill>
                <a:blip r:embed="rId10"/>
                <a:stretch>
                  <a:fillRect l="-781" t="-342" b="-17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Elbow Connector 60">
            <a:extLst>
              <a:ext uri="{FF2B5EF4-FFF2-40B4-BE49-F238E27FC236}">
                <a16:creationId xmlns:a16="http://schemas.microsoft.com/office/drawing/2014/main" id="{F6BF6458-0A41-744C-49D1-4C03C3EBF7D3}"/>
              </a:ext>
            </a:extLst>
          </p:cNvPr>
          <p:cNvCxnSpPr>
            <a:cxnSpLocks/>
            <a:stCxn id="8" idx="3"/>
            <a:endCxn id="26" idx="0"/>
          </p:cNvCxnSpPr>
          <p:nvPr/>
        </p:nvCxnSpPr>
        <p:spPr>
          <a:xfrm flipH="1">
            <a:off x="863381" y="2114676"/>
            <a:ext cx="4738633" cy="2305448"/>
          </a:xfrm>
          <a:prstGeom prst="bentConnector4">
            <a:avLst>
              <a:gd name="adj1" fmla="val -4824"/>
              <a:gd name="adj2" fmla="val 68415"/>
            </a:avLst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780E7624-A321-EE1E-BFBE-28515F5B7EE7}"/>
                  </a:ext>
                </a:extLst>
              </p:cNvPr>
              <p:cNvSpPr txBox="1"/>
              <p:nvPr/>
            </p:nvSpPr>
            <p:spPr>
              <a:xfrm>
                <a:off x="1227492" y="4439283"/>
                <a:ext cx="1224548" cy="3590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733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𝑠𝑠</m:t>
                    </m:r>
                    <m:r>
                      <a:rPr lang="en-US" sz="1733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r>
                      <a:rPr lang="en-US" sz="1733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1733" dirty="0"/>
                  <a:t> </a:t>
                </a: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780E7624-A321-EE1E-BFBE-28515F5B7E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7492" y="4439283"/>
                <a:ext cx="1224548" cy="35900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84595D3B-696F-CE9C-FE22-B94F5E436FE1}"/>
                  </a:ext>
                </a:extLst>
              </p:cNvPr>
              <p:cNvSpPr txBox="1"/>
              <p:nvPr/>
            </p:nvSpPr>
            <p:spPr>
              <a:xfrm>
                <a:off x="2297907" y="3982961"/>
                <a:ext cx="1428961" cy="630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7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7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7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1−</m:t>
                    </m:r>
                    <m:sSub>
                      <m:sSubPr>
                        <m:ctrlPr>
                          <a:rPr lang="en-US" sz="17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7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US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ϵ</m:t>
                    </m:r>
                  </m:oMath>
                </a14:m>
                <a:endParaRPr lang="en-US" sz="17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84595D3B-696F-CE9C-FE22-B94F5E436F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7907" y="3982961"/>
                <a:ext cx="1428961" cy="630942"/>
              </a:xfrm>
              <a:prstGeom prst="rect">
                <a:avLst/>
              </a:prstGeom>
              <a:blipFill>
                <a:blip r:embed="rId12"/>
                <a:stretch>
                  <a:fillRect l="-35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58090FC2-0917-8002-B5BA-242569468E50}"/>
                  </a:ext>
                </a:extLst>
              </p:cNvPr>
              <p:cNvSpPr txBox="1"/>
              <p:nvPr/>
            </p:nvSpPr>
            <p:spPr>
              <a:xfrm>
                <a:off x="4393761" y="4030955"/>
                <a:ext cx="198772" cy="2616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en-US" sz="1700" dirty="0"/>
              </a:p>
            </p:txBody>
          </p:sp>
        </mc:Choice>
        <mc:Fallback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58090FC2-0917-8002-B5BA-242569468E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3761" y="4030955"/>
                <a:ext cx="198772" cy="261610"/>
              </a:xfrm>
              <a:prstGeom prst="rect">
                <a:avLst/>
              </a:prstGeom>
              <a:blipFill>
                <a:blip r:embed="rId13"/>
                <a:stretch>
                  <a:fillRect l="-18750" r="-12500" b="-23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D3F7E6B5-5941-A240-6375-FBC5E94E3BAB}"/>
                  </a:ext>
                </a:extLst>
              </p:cNvPr>
              <p:cNvSpPr txBox="1"/>
              <p:nvPr/>
            </p:nvSpPr>
            <p:spPr>
              <a:xfrm>
                <a:off x="3583138" y="4773860"/>
                <a:ext cx="913137" cy="2616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en-US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en-US" sz="1700" dirty="0"/>
              </a:p>
            </p:txBody>
          </p:sp>
        </mc:Choice>
        <mc:Fallback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D3F7E6B5-5941-A240-6375-FBC5E94E3B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3138" y="4773860"/>
                <a:ext cx="913137" cy="261610"/>
              </a:xfrm>
              <a:prstGeom prst="rect">
                <a:avLst/>
              </a:prstGeom>
              <a:blipFill>
                <a:blip r:embed="rId14"/>
                <a:stretch>
                  <a:fillRect r="-1370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968FD539-2FC5-B4E0-13E2-24E60D5D5BF6}"/>
                  </a:ext>
                </a:extLst>
              </p:cNvPr>
              <p:cNvSpPr txBox="1"/>
              <p:nvPr/>
            </p:nvSpPr>
            <p:spPr>
              <a:xfrm>
                <a:off x="4359459" y="5721314"/>
                <a:ext cx="216727" cy="630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700" dirty="0">
                  <a:ea typeface="Cambria Math" panose="02040503050406030204" pitchFamily="18" charset="0"/>
                </a:endParaRPr>
              </a:p>
              <a:p>
                <a:endParaRPr lang="en-US" sz="2400" dirty="0"/>
              </a:p>
            </p:txBody>
          </p:sp>
        </mc:Choice>
        <mc:Fallback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968FD539-2FC5-B4E0-13E2-24E60D5D5B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9459" y="5721314"/>
                <a:ext cx="216727" cy="630942"/>
              </a:xfrm>
              <a:prstGeom prst="rect">
                <a:avLst/>
              </a:prstGeom>
              <a:blipFill>
                <a:blip r:embed="rId15"/>
                <a:stretch>
                  <a:fillRect l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892B2856-310C-8FAA-7C2B-A617FBEDA48D}"/>
                  </a:ext>
                </a:extLst>
              </p:cNvPr>
              <p:cNvSpPr txBox="1"/>
              <p:nvPr/>
            </p:nvSpPr>
            <p:spPr>
              <a:xfrm>
                <a:off x="2263181" y="2731475"/>
                <a:ext cx="1521464" cy="630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7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700" i="1">
                          <a:latin typeface="Cambria Math" panose="02040503050406030204" pitchFamily="18" charset="0"/>
                        </a:rPr>
                        <m:t>ϵ</m:t>
                      </m:r>
                    </m:oMath>
                  </m:oMathPara>
                </a14:m>
                <a:endParaRPr lang="en-US" sz="17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892B2856-310C-8FAA-7C2B-A617FBEDA4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3181" y="2731475"/>
                <a:ext cx="1521464" cy="63094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8789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D25EE-49F1-0201-2E16-2A0F13D83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06512"/>
            <a:ext cx="115443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COVID/Flu/RSV SEIR Model Equations (Children Ex. 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2A2047B-4CDD-6696-1B3E-5A742BBAE979}"/>
                  </a:ext>
                </a:extLst>
              </p:cNvPr>
              <p:cNvSpPr txBox="1"/>
              <p:nvPr/>
            </p:nvSpPr>
            <p:spPr>
              <a:xfrm>
                <a:off x="-96254" y="971125"/>
                <a:ext cx="5936343" cy="5259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𝑣𝑎𝑐𝑐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⋅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𝐶𝐴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𝑆𝐶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𝑝𝑜𝑝𝑆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2A2047B-4CDD-6696-1B3E-5A742BBAE9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6254" y="971125"/>
                <a:ext cx="5936343" cy="525913"/>
              </a:xfrm>
              <a:prstGeom prst="rect">
                <a:avLst/>
              </a:prstGeom>
              <a:blipFill>
                <a:blip r:embed="rId2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64D5296-5985-ED7C-7DF2-23A4DC04E009}"/>
                  </a:ext>
                </a:extLst>
              </p:cNvPr>
              <p:cNvSpPr txBox="1"/>
              <p:nvPr/>
            </p:nvSpPr>
            <p:spPr>
              <a:xfrm>
                <a:off x="0" y="1623374"/>
                <a:ext cx="5269568" cy="5259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𝑣𝑎𝑐𝑐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𝐶𝐴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64D5296-5985-ED7C-7DF2-23A4DC04E0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623374"/>
                <a:ext cx="5269568" cy="525913"/>
              </a:xfrm>
              <a:prstGeom prst="rect">
                <a:avLst/>
              </a:prstGeom>
              <a:blipFill>
                <a:blip r:embed="rId3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1963864-D25C-DD2E-A905-EF25A06C92E9}"/>
                  </a:ext>
                </a:extLst>
              </p:cNvPr>
              <p:cNvSpPr txBox="1"/>
              <p:nvPr/>
            </p:nvSpPr>
            <p:spPr>
              <a:xfrm>
                <a:off x="-49937" y="2275623"/>
                <a:ext cx="5269567" cy="5259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𝑝𝑟𝑜𝑏𝐻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𝐶𝐴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1963864-D25C-DD2E-A905-EF25A06C92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9937" y="2275623"/>
                <a:ext cx="5269567" cy="525913"/>
              </a:xfrm>
              <a:prstGeom prst="rect">
                <a:avLst/>
              </a:prstGeom>
              <a:blipFill>
                <a:blip r:embed="rId4"/>
                <a:stretch>
                  <a:fillRect t="-2381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3EB9C5C-5A1F-14F7-1BD3-1D6C27144AF3}"/>
                  </a:ext>
                </a:extLst>
              </p:cNvPr>
              <p:cNvSpPr txBox="1"/>
              <p:nvPr/>
            </p:nvSpPr>
            <p:spPr>
              <a:xfrm>
                <a:off x="-96254" y="2923163"/>
                <a:ext cx="4971249" cy="5442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𝑝𝑟𝑜𝑏𝐻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𝐶𝐴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3EB9C5C-5A1F-14F7-1BD3-1D6C27144A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6254" y="2923163"/>
                <a:ext cx="4971249" cy="544252"/>
              </a:xfrm>
              <a:prstGeom prst="rect">
                <a:avLst/>
              </a:prstGeom>
              <a:blipFill>
                <a:blip r:embed="rId5"/>
                <a:stretch>
                  <a:fillRect t="-4545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DEAD903-B02A-6C6D-B4CB-17A98A0A995F}"/>
                  </a:ext>
                </a:extLst>
              </p:cNvPr>
              <p:cNvSpPr txBox="1"/>
              <p:nvPr/>
            </p:nvSpPr>
            <p:spPr>
              <a:xfrm>
                <a:off x="0" y="3573152"/>
                <a:ext cx="6433554" cy="5259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+(1−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𝑣𝑎𝑐𝑐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−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𝐶𝐴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DEAD903-B02A-6C6D-B4CB-17A98A0A99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573152"/>
                <a:ext cx="6433554" cy="525913"/>
              </a:xfrm>
              <a:prstGeom prst="rect">
                <a:avLst/>
              </a:prstGeom>
              <a:blipFill>
                <a:blip r:embed="rId6"/>
                <a:stretch>
                  <a:fillRect t="-2381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9BB1061-21EB-9E87-2994-0EE64A953F53}"/>
                  </a:ext>
                </a:extLst>
              </p:cNvPr>
              <p:cNvSpPr txBox="1"/>
              <p:nvPr/>
            </p:nvSpPr>
            <p:spPr>
              <a:xfrm>
                <a:off x="-96254" y="4999277"/>
                <a:ext cx="2459431" cy="5442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9BB1061-21EB-9E87-2994-0EE64A953F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6254" y="4999277"/>
                <a:ext cx="2459431" cy="544252"/>
              </a:xfrm>
              <a:prstGeom prst="rect">
                <a:avLst/>
              </a:prstGeom>
              <a:blipFill>
                <a:blip r:embed="rId7"/>
                <a:stretch>
                  <a:fillRect t="-2273" b="-11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4809667-0970-8D2F-3568-78025F26AF4B}"/>
                  </a:ext>
                </a:extLst>
              </p:cNvPr>
              <p:cNvSpPr txBox="1"/>
              <p:nvPr/>
            </p:nvSpPr>
            <p:spPr>
              <a:xfrm>
                <a:off x="5900517" y="970111"/>
                <a:ext cx="5936343" cy="5259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𝜔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𝜔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𝑣𝑎𝑐𝑐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⋅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𝐶𝐴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4809667-0970-8D2F-3568-78025F26AF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0517" y="970111"/>
                <a:ext cx="5936343" cy="525913"/>
              </a:xfrm>
              <a:prstGeom prst="rect">
                <a:avLst/>
              </a:prstGeom>
              <a:blipFill>
                <a:blip r:embed="rId8"/>
                <a:stretch>
                  <a:fillRect l="-853" t="-2381" r="-213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EA3744C-323B-FAD0-75EA-8919E4E4A8EB}"/>
                  </a:ext>
                </a:extLst>
              </p:cNvPr>
              <p:cNvSpPr txBox="1"/>
              <p:nvPr/>
            </p:nvSpPr>
            <p:spPr>
              <a:xfrm>
                <a:off x="5900517" y="1674589"/>
                <a:ext cx="5269568" cy="5259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𝑣𝑎𝑐𝑐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𝐶𝐴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EA3744C-323B-FAD0-75EA-8919E4E4A8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0517" y="1674589"/>
                <a:ext cx="5269568" cy="525913"/>
              </a:xfrm>
              <a:prstGeom prst="rect">
                <a:avLst/>
              </a:prstGeom>
              <a:blipFill>
                <a:blip r:embed="rId9"/>
                <a:stretch>
                  <a:fillRect l="-721" t="-4762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856E44A-20DB-CC5A-B0FD-56157B406142}"/>
                  </a:ext>
                </a:extLst>
              </p:cNvPr>
              <p:cNvSpPr txBox="1"/>
              <p:nvPr/>
            </p:nvSpPr>
            <p:spPr>
              <a:xfrm>
                <a:off x="5645685" y="2375938"/>
                <a:ext cx="5269567" cy="5259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𝑝𝑟𝑜𝑏𝐻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𝐶𝐴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856E44A-20DB-CC5A-B0FD-56157B4061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5685" y="2375938"/>
                <a:ext cx="5269567" cy="525913"/>
              </a:xfrm>
              <a:prstGeom prst="rect">
                <a:avLst/>
              </a:prstGeom>
              <a:blipFill>
                <a:blip r:embed="rId10"/>
                <a:stretch>
                  <a:fillRect t="-4762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E4C9BD9-6DE3-65B8-F321-D5E1AF6103D4}"/>
                  </a:ext>
                </a:extLst>
              </p:cNvPr>
              <p:cNvSpPr txBox="1"/>
              <p:nvPr/>
            </p:nvSpPr>
            <p:spPr>
              <a:xfrm>
                <a:off x="5599965" y="3035365"/>
                <a:ext cx="4971249" cy="5442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𝑝𝑟𝑜𝑏𝐻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𝐶𝐴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E4C9BD9-6DE3-65B8-F321-D5E1AF610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9965" y="3035365"/>
                <a:ext cx="4971249" cy="544252"/>
              </a:xfrm>
              <a:prstGeom prst="rect">
                <a:avLst/>
              </a:prstGeom>
              <a:blipFill>
                <a:blip r:embed="rId11"/>
                <a:stretch>
                  <a:fillRect t="-2326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B6DFD80-055B-B439-1E29-0EDA91DBB1E0}"/>
                  </a:ext>
                </a:extLst>
              </p:cNvPr>
              <p:cNvSpPr txBox="1"/>
              <p:nvPr/>
            </p:nvSpPr>
            <p:spPr>
              <a:xfrm>
                <a:off x="2959330" y="4204802"/>
                <a:ext cx="8978112" cy="5259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𝑣𝑎𝑐𝑐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2 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+(1−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𝜔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𝐶𝐴</m:t>
                          </m:r>
                        </m:sub>
                      </m:sSub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B6DFD80-055B-B439-1E29-0EDA91DBB1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9330" y="4204802"/>
                <a:ext cx="8978112" cy="525913"/>
              </a:xfrm>
              <a:prstGeom prst="rect">
                <a:avLst/>
              </a:prstGeom>
              <a:blipFill>
                <a:blip r:embed="rId12"/>
                <a:stretch>
                  <a:fillRect l="-847" t="-4762" r="-565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3560A55-AF36-7D62-B0B4-FBA54453C457}"/>
                  </a:ext>
                </a:extLst>
              </p:cNvPr>
              <p:cNvSpPr txBox="1"/>
              <p:nvPr/>
            </p:nvSpPr>
            <p:spPr>
              <a:xfrm>
                <a:off x="5618106" y="4911397"/>
                <a:ext cx="2459431" cy="5442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3560A55-AF36-7D62-B0B4-FBA54453C4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8106" y="4911397"/>
                <a:ext cx="2459431" cy="544252"/>
              </a:xfrm>
              <a:prstGeom prst="rect">
                <a:avLst/>
              </a:prstGeom>
              <a:blipFill>
                <a:blip r:embed="rId13"/>
                <a:stretch>
                  <a:fillRect t="-2273" b="-11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3563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2CE1F-48E5-FF03-FA8E-8DB4E95EC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dirty="0"/>
              <a:t>Pamela’s Suggestions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8A43BE-C8DB-2C7A-B571-2608B3A827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339" y="1113124"/>
                <a:ext cx="12192000" cy="4351338"/>
              </a:xfrm>
            </p:spPr>
            <p:txBody>
              <a:bodyPr/>
              <a:lstStyle/>
              <a:p>
                <a:r>
                  <a:rPr lang="en-US" dirty="0"/>
                  <a:t>If we are not modeling over long-term periods, we can get rid of the aging component of the model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can be the same for groups 1 and 2 because we can assume death rate is similar once hospitalized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dirty="0"/>
                  <a:t> should be different between each H group</a:t>
                </a:r>
              </a:p>
              <a:p>
                <a:pPr lvl="1"/>
                <a:r>
                  <a:rPr lang="en-US" dirty="0"/>
                  <a:t>Maybe we should use a function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dirty="0"/>
                  <a:t>? </a:t>
                </a:r>
              </a:p>
              <a:p>
                <a:r>
                  <a:rPr lang="en-US" dirty="0"/>
                  <a:t>IDPH Data may not be good enough to calibrate seasonality </a:t>
                </a:r>
              </a:p>
              <a:p>
                <a:pPr lvl="1"/>
                <a:r>
                  <a:rPr lang="en-US" dirty="0"/>
                  <a:t>She is asking Rachel for her data </a:t>
                </a:r>
              </a:p>
              <a:p>
                <a:pPr lvl="1"/>
                <a:r>
                  <a:rPr lang="en-US" dirty="0"/>
                  <a:t>RSV now has new vaccine so looking at old RSV data may not be valid?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8A43BE-C8DB-2C7A-B571-2608B3A827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339" y="1113124"/>
                <a:ext cx="12192000" cy="4351338"/>
              </a:xfrm>
              <a:blipFill>
                <a:blip r:embed="rId2"/>
                <a:stretch>
                  <a:fillRect l="-832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3555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53ED9-C001-4E1E-4787-258BDE72D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84A9D-C280-5C3B-51FF-17136F0CB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963" y="-80669"/>
            <a:ext cx="10515600" cy="1325563"/>
          </a:xfrm>
        </p:spPr>
        <p:txBody>
          <a:bodyPr/>
          <a:lstStyle/>
          <a:p>
            <a:r>
              <a:rPr lang="en-US" dirty="0"/>
              <a:t>Pertussis SEIR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85BDA8-E7DA-1897-3027-3F261C2A5C23}"/>
              </a:ext>
            </a:extLst>
          </p:cNvPr>
          <p:cNvSpPr/>
          <p:nvPr/>
        </p:nvSpPr>
        <p:spPr>
          <a:xfrm>
            <a:off x="456981" y="1790971"/>
            <a:ext cx="812800" cy="7311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C42FC1-6B6A-0E49-5CF4-4D271A6D0F49}"/>
              </a:ext>
            </a:extLst>
          </p:cNvPr>
          <p:cNvSpPr/>
          <p:nvPr/>
        </p:nvSpPr>
        <p:spPr>
          <a:xfrm>
            <a:off x="1912664" y="1790971"/>
            <a:ext cx="812800" cy="7311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7F04F2-706E-3EA9-65FC-B8F86685570B}"/>
              </a:ext>
            </a:extLst>
          </p:cNvPr>
          <p:cNvSpPr/>
          <p:nvPr/>
        </p:nvSpPr>
        <p:spPr>
          <a:xfrm>
            <a:off x="4696404" y="1152893"/>
            <a:ext cx="812800" cy="7311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1FC02E-5C1E-FEE7-A1CE-E32713C499BC}"/>
              </a:ext>
            </a:extLst>
          </p:cNvPr>
          <p:cNvSpPr/>
          <p:nvPr/>
        </p:nvSpPr>
        <p:spPr>
          <a:xfrm>
            <a:off x="6117271" y="1755240"/>
            <a:ext cx="812800" cy="7311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280D6B-A493-B50D-6102-60F01F48D8A0}"/>
              </a:ext>
            </a:extLst>
          </p:cNvPr>
          <p:cNvSpPr/>
          <p:nvPr/>
        </p:nvSpPr>
        <p:spPr>
          <a:xfrm>
            <a:off x="4696404" y="2525611"/>
            <a:ext cx="812800" cy="7311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1647AD-5264-3752-FF91-059E5BCA3708}"/>
              </a:ext>
            </a:extLst>
          </p:cNvPr>
          <p:cNvSpPr/>
          <p:nvPr/>
        </p:nvSpPr>
        <p:spPr>
          <a:xfrm>
            <a:off x="6117271" y="2891205"/>
            <a:ext cx="812800" cy="7311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D1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44A4E52-5CC0-E26E-BB4B-1284EC401A2D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1269781" y="2156565"/>
            <a:ext cx="642883" cy="0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9E0EDC7-D54D-86FD-E73A-2B673422E132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4053521" y="1518487"/>
            <a:ext cx="642883" cy="644236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16F639B-CEF2-AD1A-1905-EC330712E31F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4053521" y="2162723"/>
            <a:ext cx="642883" cy="728482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D4D540E-D974-4C58-2F02-C324EC3D9415}"/>
              </a:ext>
            </a:extLst>
          </p:cNvPr>
          <p:cNvCxnSpPr>
            <a:cxnSpLocks/>
            <a:stCxn id="8" idx="3"/>
            <a:endCxn id="7" idx="1"/>
          </p:cNvCxnSpPr>
          <p:nvPr/>
        </p:nvCxnSpPr>
        <p:spPr>
          <a:xfrm flipV="1">
            <a:off x="5509204" y="2120834"/>
            <a:ext cx="608067" cy="770371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E004772-701D-7DA4-3F46-77B19AC359BC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5509204" y="2891205"/>
            <a:ext cx="608067" cy="365594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81316743-3703-55E0-B393-1DBB56F45F67}"/>
              </a:ext>
            </a:extLst>
          </p:cNvPr>
          <p:cNvSpPr/>
          <p:nvPr/>
        </p:nvSpPr>
        <p:spPr>
          <a:xfrm>
            <a:off x="456981" y="4420124"/>
            <a:ext cx="812800" cy="7311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9D4181B-D546-5C5A-0D53-C022F36D103C}"/>
              </a:ext>
            </a:extLst>
          </p:cNvPr>
          <p:cNvSpPr/>
          <p:nvPr/>
        </p:nvSpPr>
        <p:spPr>
          <a:xfrm>
            <a:off x="1912664" y="4420124"/>
            <a:ext cx="812800" cy="7311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3CAAF12-7832-737E-0C39-164065D21AE6}"/>
              </a:ext>
            </a:extLst>
          </p:cNvPr>
          <p:cNvSpPr/>
          <p:nvPr/>
        </p:nvSpPr>
        <p:spPr>
          <a:xfrm>
            <a:off x="4696404" y="3782046"/>
            <a:ext cx="812800" cy="7311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F15BEF5-3CF6-7096-EA49-DC6E81136CAB}"/>
              </a:ext>
            </a:extLst>
          </p:cNvPr>
          <p:cNvSpPr/>
          <p:nvPr/>
        </p:nvSpPr>
        <p:spPr>
          <a:xfrm>
            <a:off x="6117271" y="4286961"/>
            <a:ext cx="812800" cy="7311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4B6B595-DCA9-531E-21FA-9C910FCEE97A}"/>
              </a:ext>
            </a:extLst>
          </p:cNvPr>
          <p:cNvSpPr/>
          <p:nvPr/>
        </p:nvSpPr>
        <p:spPr>
          <a:xfrm>
            <a:off x="4696404" y="5154764"/>
            <a:ext cx="812800" cy="7311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50D4B81-B036-4B1C-4FEA-29DFFB1819C6}"/>
              </a:ext>
            </a:extLst>
          </p:cNvPr>
          <p:cNvSpPr/>
          <p:nvPr/>
        </p:nvSpPr>
        <p:spPr>
          <a:xfrm>
            <a:off x="6117271" y="5520358"/>
            <a:ext cx="812800" cy="7311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D2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A23C1F8-218A-D7EB-F8A1-DE95418203B4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1269781" y="4785718"/>
            <a:ext cx="642883" cy="0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E1E695E-2CD6-11C6-3647-49109DFEDC81}"/>
              </a:ext>
            </a:extLst>
          </p:cNvPr>
          <p:cNvCxnSpPr>
            <a:cxnSpLocks/>
            <a:endCxn id="17" idx="1"/>
          </p:cNvCxnSpPr>
          <p:nvPr/>
        </p:nvCxnSpPr>
        <p:spPr>
          <a:xfrm flipV="1">
            <a:off x="4053521" y="4147640"/>
            <a:ext cx="642883" cy="644236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31E6184-65E6-94E0-705D-61C00297F891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4053521" y="4791876"/>
            <a:ext cx="642883" cy="728482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27A1C92-B6BD-9092-1612-2032EC680FB9}"/>
              </a:ext>
            </a:extLst>
          </p:cNvPr>
          <p:cNvCxnSpPr>
            <a:cxnSpLocks/>
            <a:stCxn id="19" idx="3"/>
            <a:endCxn id="18" idx="1"/>
          </p:cNvCxnSpPr>
          <p:nvPr/>
        </p:nvCxnSpPr>
        <p:spPr>
          <a:xfrm flipV="1">
            <a:off x="5509204" y="4652555"/>
            <a:ext cx="608067" cy="867803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5608006-7476-E865-04A6-CB7734246C12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>
            <a:off x="5509204" y="5520358"/>
            <a:ext cx="608067" cy="365594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1D9CB31D-154D-DE68-561C-384781CA1FF8}"/>
              </a:ext>
            </a:extLst>
          </p:cNvPr>
          <p:cNvCxnSpPr>
            <a:cxnSpLocks/>
            <a:stCxn id="18" idx="3"/>
            <a:endCxn id="15" idx="2"/>
          </p:cNvCxnSpPr>
          <p:nvPr/>
        </p:nvCxnSpPr>
        <p:spPr>
          <a:xfrm flipH="1">
            <a:off x="863381" y="4652555"/>
            <a:ext cx="6066690" cy="498757"/>
          </a:xfrm>
          <a:prstGeom prst="bentConnector4">
            <a:avLst>
              <a:gd name="adj1" fmla="val -3768"/>
              <a:gd name="adj2" fmla="val 366273"/>
            </a:avLst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88565B3-3060-664C-12B5-133810D6D26D}"/>
                  </a:ext>
                </a:extLst>
              </p:cNvPr>
              <p:cNvSpPr txBox="1"/>
              <p:nvPr/>
            </p:nvSpPr>
            <p:spPr>
              <a:xfrm>
                <a:off x="1402757" y="1805998"/>
                <a:ext cx="1224548" cy="3590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733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1733" dirty="0"/>
                  <a:t> 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88565B3-3060-664C-12B5-133810D6D2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2757" y="1805998"/>
                <a:ext cx="1224548" cy="35900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BA7E30E-6749-7DE1-BF25-FC768CA850D2}"/>
                  </a:ext>
                </a:extLst>
              </p:cNvPr>
              <p:cNvSpPr txBox="1"/>
              <p:nvPr/>
            </p:nvSpPr>
            <p:spPr>
              <a:xfrm>
                <a:off x="3677890" y="1354560"/>
                <a:ext cx="1428961" cy="630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7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7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7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1−</m:t>
                    </m:r>
                    <m:sSub>
                      <m:sSubPr>
                        <m:ctrlPr>
                          <a:rPr lang="en-US" sz="17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7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US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ϵ</m:t>
                    </m:r>
                  </m:oMath>
                </a14:m>
                <a:endParaRPr lang="en-US" sz="17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BA7E30E-6749-7DE1-BF25-FC768CA850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7890" y="1354560"/>
                <a:ext cx="1428961" cy="630942"/>
              </a:xfrm>
              <a:prstGeom prst="rect">
                <a:avLst/>
              </a:prstGeom>
              <a:blipFill>
                <a:blip r:embed="rId3"/>
                <a:stretch>
                  <a:fillRect l="-35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17710DC-C611-48F0-A0B5-D34598EE74D9}"/>
                  </a:ext>
                </a:extLst>
              </p:cNvPr>
              <p:cNvSpPr txBox="1"/>
              <p:nvPr/>
            </p:nvSpPr>
            <p:spPr>
              <a:xfrm>
                <a:off x="3495943" y="5284933"/>
                <a:ext cx="1521464" cy="630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7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700" i="1">
                          <a:latin typeface="Cambria Math" panose="02040503050406030204" pitchFamily="18" charset="0"/>
                        </a:rPr>
                        <m:t>ϵ</m:t>
                      </m:r>
                    </m:oMath>
                  </m:oMathPara>
                </a14:m>
                <a:endParaRPr lang="en-US" sz="17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17710DC-C611-48F0-A0B5-D34598EE74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5943" y="5284933"/>
                <a:ext cx="1521464" cy="63094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41DADB9-EEBB-4C42-6AE5-D661F3505454}"/>
                  </a:ext>
                </a:extLst>
              </p:cNvPr>
              <p:cNvSpPr txBox="1"/>
              <p:nvPr/>
            </p:nvSpPr>
            <p:spPr>
              <a:xfrm>
                <a:off x="5821204" y="1402312"/>
                <a:ext cx="198772" cy="2616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700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41DADB9-EEBB-4C42-6AE5-D661F35054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1204" y="1402312"/>
                <a:ext cx="198772" cy="261610"/>
              </a:xfrm>
              <a:prstGeom prst="rect">
                <a:avLst/>
              </a:prstGeom>
              <a:blipFill>
                <a:blip r:embed="rId5"/>
                <a:stretch>
                  <a:fillRect l="-35294" r="-17647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AE9142C-2791-6776-F6E4-153858212D87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5509204" y="1518487"/>
            <a:ext cx="608067" cy="602347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FB07DD0-EB2D-5CEE-30E7-3B1BE5AA12B0}"/>
              </a:ext>
            </a:extLst>
          </p:cNvPr>
          <p:cNvCxnSpPr>
            <a:cxnSpLocks/>
          </p:cNvCxnSpPr>
          <p:nvPr/>
        </p:nvCxnSpPr>
        <p:spPr>
          <a:xfrm>
            <a:off x="5509204" y="4068447"/>
            <a:ext cx="608067" cy="602347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C28921B-8A7F-0A0F-04DD-9B2C2489C7A8}"/>
                  </a:ext>
                </a:extLst>
              </p:cNvPr>
              <p:cNvSpPr txBox="1"/>
              <p:nvPr/>
            </p:nvSpPr>
            <p:spPr>
              <a:xfrm>
                <a:off x="5636008" y="3053125"/>
                <a:ext cx="216727" cy="630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700" dirty="0">
                  <a:ea typeface="Cambria Math" panose="02040503050406030204" pitchFamily="18" charset="0"/>
                </a:endParaRPr>
              </a:p>
              <a:p>
                <a:endParaRPr lang="en-US" sz="2400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C28921B-8A7F-0A0F-04DD-9B2C2489C7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6008" y="3053125"/>
                <a:ext cx="216727" cy="630942"/>
              </a:xfrm>
              <a:prstGeom prst="rect">
                <a:avLst/>
              </a:prstGeom>
              <a:blipFill>
                <a:blip r:embed="rId6"/>
                <a:stretch>
                  <a:fillRect l="-11765" r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D021F0B-3CFF-4D77-0F7C-078EA87DEA12}"/>
                  </a:ext>
                </a:extLst>
              </p:cNvPr>
              <p:cNvSpPr txBox="1"/>
              <p:nvPr/>
            </p:nvSpPr>
            <p:spPr>
              <a:xfrm>
                <a:off x="5000934" y="2169011"/>
                <a:ext cx="913137" cy="2616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(1−</m:t>
                      </m:r>
                      <m:r>
                        <a:rPr lang="en-US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17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700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D021F0B-3CFF-4D77-0F7C-078EA87DE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0934" y="2169011"/>
                <a:ext cx="913137" cy="261610"/>
              </a:xfrm>
              <a:prstGeom prst="rect">
                <a:avLst/>
              </a:prstGeom>
              <a:blipFill>
                <a:blip r:embed="rId7"/>
                <a:stretch>
                  <a:fillRect l="-9589" r="-4110" b="-36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337075B-03FC-B0C0-9CB1-C69E5CD8B656}"/>
                  </a:ext>
                </a:extLst>
              </p:cNvPr>
              <p:cNvSpPr txBox="1"/>
              <p:nvPr/>
            </p:nvSpPr>
            <p:spPr>
              <a:xfrm>
                <a:off x="3726094" y="3479763"/>
                <a:ext cx="244683" cy="2616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en-US" sz="17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337075B-03FC-B0C0-9CB1-C69E5CD8B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6094" y="3479763"/>
                <a:ext cx="244683" cy="261610"/>
              </a:xfrm>
              <a:prstGeom prst="rect">
                <a:avLst/>
              </a:prstGeom>
              <a:blipFill>
                <a:blip r:embed="rId8"/>
                <a:stretch>
                  <a:fillRect l="-5000" r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1F72CFE-780E-0D90-86FA-0C24B2A0425B}"/>
                  </a:ext>
                </a:extLst>
              </p:cNvPr>
              <p:cNvSpPr txBox="1"/>
              <p:nvPr/>
            </p:nvSpPr>
            <p:spPr>
              <a:xfrm>
                <a:off x="3342659" y="6227609"/>
                <a:ext cx="1256236" cy="2616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𝑠𝑖</m:t>
                      </m:r>
                      <m:r>
                        <a:rPr lang="en-US" sz="17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17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en-US" sz="17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1F72CFE-780E-0D90-86FA-0C24B2A042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2659" y="6227609"/>
                <a:ext cx="1256236" cy="261610"/>
              </a:xfrm>
              <a:prstGeom prst="rect">
                <a:avLst/>
              </a:prstGeom>
              <a:blipFill>
                <a:blip r:embed="rId9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B143697B-34EB-BF30-0C92-C1A9D5BB7284}"/>
              </a:ext>
            </a:extLst>
          </p:cNvPr>
          <p:cNvCxnSpPr>
            <a:cxnSpLocks/>
            <a:stCxn id="7" idx="3"/>
            <a:endCxn id="15" idx="0"/>
          </p:cNvCxnSpPr>
          <p:nvPr/>
        </p:nvCxnSpPr>
        <p:spPr>
          <a:xfrm flipH="1">
            <a:off x="863381" y="2120834"/>
            <a:ext cx="6066690" cy="2299290"/>
          </a:xfrm>
          <a:prstGeom prst="bentConnector4">
            <a:avLst>
              <a:gd name="adj1" fmla="val -3768"/>
              <a:gd name="adj2" fmla="val 69313"/>
            </a:avLst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E7C7D4E-9030-6A1A-F482-9166D4F894E2}"/>
                  </a:ext>
                </a:extLst>
              </p:cNvPr>
              <p:cNvSpPr txBox="1"/>
              <p:nvPr/>
            </p:nvSpPr>
            <p:spPr>
              <a:xfrm>
                <a:off x="1227492" y="4439283"/>
                <a:ext cx="1224548" cy="3590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733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𝑠𝑠</m:t>
                    </m:r>
                    <m:r>
                      <a:rPr lang="en-US" sz="1733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r>
                      <a:rPr lang="en-US" sz="1733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1733" dirty="0"/>
                  <a:t> </a:t>
                </a: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E7C7D4E-9030-6A1A-F482-9166D4F894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7492" y="4439283"/>
                <a:ext cx="1224548" cy="35900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D554BC4-80FA-5FD0-EFB0-929A0247A547}"/>
                  </a:ext>
                </a:extLst>
              </p:cNvPr>
              <p:cNvSpPr txBox="1"/>
              <p:nvPr/>
            </p:nvSpPr>
            <p:spPr>
              <a:xfrm>
                <a:off x="3625964" y="3989119"/>
                <a:ext cx="1428961" cy="630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7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7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7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1−</m:t>
                    </m:r>
                    <m:sSub>
                      <m:sSubPr>
                        <m:ctrlPr>
                          <a:rPr lang="en-US" sz="17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7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US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ϵ</m:t>
                    </m:r>
                  </m:oMath>
                </a14:m>
                <a:endParaRPr lang="en-US" sz="17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D554BC4-80FA-5FD0-EFB0-929A0247A5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5964" y="3989119"/>
                <a:ext cx="1428961" cy="630942"/>
              </a:xfrm>
              <a:prstGeom prst="rect">
                <a:avLst/>
              </a:prstGeom>
              <a:blipFill>
                <a:blip r:embed="rId11"/>
                <a:stretch>
                  <a:fillRect l="-44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E19EB1C-E598-FDD5-286B-433E74FAB114}"/>
                  </a:ext>
                </a:extLst>
              </p:cNvPr>
              <p:cNvSpPr txBox="1"/>
              <p:nvPr/>
            </p:nvSpPr>
            <p:spPr>
              <a:xfrm>
                <a:off x="5721818" y="4037113"/>
                <a:ext cx="198772" cy="2616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700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E19EB1C-E598-FDD5-286B-433E74FAB1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1818" y="4037113"/>
                <a:ext cx="198772" cy="261610"/>
              </a:xfrm>
              <a:prstGeom prst="rect">
                <a:avLst/>
              </a:prstGeom>
              <a:blipFill>
                <a:blip r:embed="rId12"/>
                <a:stretch>
                  <a:fillRect l="-35294" r="-17647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84DBE2C-BC44-A452-7041-7BE6F1274BF8}"/>
                  </a:ext>
                </a:extLst>
              </p:cNvPr>
              <p:cNvSpPr txBox="1"/>
              <p:nvPr/>
            </p:nvSpPr>
            <p:spPr>
              <a:xfrm>
                <a:off x="4911195" y="4780018"/>
                <a:ext cx="913137" cy="2616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(1−</m:t>
                      </m:r>
                      <m:r>
                        <a:rPr lang="en-US" sz="17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700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84DBE2C-BC44-A452-7041-7BE6F1274B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1195" y="4780018"/>
                <a:ext cx="913137" cy="261610"/>
              </a:xfrm>
              <a:prstGeom prst="rect">
                <a:avLst/>
              </a:prstGeom>
              <a:blipFill>
                <a:blip r:embed="rId13"/>
                <a:stretch>
                  <a:fillRect l="-9589" r="-4110" b="-380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8B141A2-F077-57DD-DF8E-8522928604C7}"/>
                  </a:ext>
                </a:extLst>
              </p:cNvPr>
              <p:cNvSpPr txBox="1"/>
              <p:nvPr/>
            </p:nvSpPr>
            <p:spPr>
              <a:xfrm>
                <a:off x="5687516" y="5727472"/>
                <a:ext cx="216727" cy="630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700" dirty="0">
                  <a:ea typeface="Cambria Math" panose="02040503050406030204" pitchFamily="18" charset="0"/>
                </a:endParaRPr>
              </a:p>
              <a:p>
                <a:endParaRPr lang="en-US" sz="2400" dirty="0"/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8B141A2-F077-57DD-DF8E-8522928604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7516" y="5727472"/>
                <a:ext cx="216727" cy="630942"/>
              </a:xfrm>
              <a:prstGeom prst="rect">
                <a:avLst/>
              </a:prstGeom>
              <a:blipFill>
                <a:blip r:embed="rId14"/>
                <a:stretch>
                  <a:fillRect l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1420F0D-334D-D40B-2FBA-C1B74ABE33CC}"/>
                  </a:ext>
                </a:extLst>
              </p:cNvPr>
              <p:cNvSpPr txBox="1"/>
              <p:nvPr/>
            </p:nvSpPr>
            <p:spPr>
              <a:xfrm>
                <a:off x="3591238" y="2737633"/>
                <a:ext cx="1521464" cy="630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7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700" i="1">
                          <a:latin typeface="Cambria Math" panose="02040503050406030204" pitchFamily="18" charset="0"/>
                        </a:rPr>
                        <m:t>ϵ</m:t>
                      </m:r>
                    </m:oMath>
                  </m:oMathPara>
                </a14:m>
                <a:endParaRPr lang="en-US" sz="17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1420F0D-334D-D40B-2FBA-C1B74ABE33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1238" y="2737633"/>
                <a:ext cx="1521464" cy="63094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Rectangle 45">
            <a:extLst>
              <a:ext uri="{FF2B5EF4-FFF2-40B4-BE49-F238E27FC236}">
                <a16:creationId xmlns:a16="http://schemas.microsoft.com/office/drawing/2014/main" id="{725F73B2-0590-2801-9355-F27E6BD2802D}"/>
              </a:ext>
            </a:extLst>
          </p:cNvPr>
          <p:cNvSpPr/>
          <p:nvPr/>
        </p:nvSpPr>
        <p:spPr>
          <a:xfrm>
            <a:off x="3240721" y="1790971"/>
            <a:ext cx="812800" cy="7311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C1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6713BFB-87FF-CEEC-322C-13CD539DD721}"/>
              </a:ext>
            </a:extLst>
          </p:cNvPr>
          <p:cNvSpPr/>
          <p:nvPr/>
        </p:nvSpPr>
        <p:spPr>
          <a:xfrm>
            <a:off x="3240721" y="4432698"/>
            <a:ext cx="812800" cy="7311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C2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079CB2F-F24C-3B12-4DE1-15F082BC5031}"/>
              </a:ext>
            </a:extLst>
          </p:cNvPr>
          <p:cNvCxnSpPr>
            <a:cxnSpLocks/>
            <a:endCxn id="47" idx="1"/>
          </p:cNvCxnSpPr>
          <p:nvPr/>
        </p:nvCxnSpPr>
        <p:spPr>
          <a:xfrm flipV="1">
            <a:off x="2736162" y="4798292"/>
            <a:ext cx="504559" cy="4474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3052295-E415-3EA4-355D-93B0B94DA9E2}"/>
              </a:ext>
            </a:extLst>
          </p:cNvPr>
          <p:cNvCxnSpPr>
            <a:cxnSpLocks/>
            <a:stCxn id="5" idx="3"/>
            <a:endCxn id="46" idx="1"/>
          </p:cNvCxnSpPr>
          <p:nvPr/>
        </p:nvCxnSpPr>
        <p:spPr>
          <a:xfrm>
            <a:off x="2725464" y="2156565"/>
            <a:ext cx="515257" cy="0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921A6F3-F89F-A4F2-1E35-CDBB016691F3}"/>
                  </a:ext>
                </a:extLst>
              </p:cNvPr>
              <p:cNvSpPr txBox="1"/>
              <p:nvPr/>
            </p:nvSpPr>
            <p:spPr>
              <a:xfrm>
                <a:off x="2188015" y="1886951"/>
                <a:ext cx="1521464" cy="630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sz="17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921A6F3-F89F-A4F2-1E35-CDBB016691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8015" y="1886951"/>
                <a:ext cx="1521464" cy="63094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29A23A5-F71A-A9CD-CA3C-1E3B5923871B}"/>
                  </a:ext>
                </a:extLst>
              </p:cNvPr>
              <p:cNvSpPr txBox="1"/>
              <p:nvPr/>
            </p:nvSpPr>
            <p:spPr>
              <a:xfrm>
                <a:off x="2221587" y="4489108"/>
                <a:ext cx="1521464" cy="6309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sz="17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29A23A5-F71A-A9CD-CA3C-1E3B592387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1587" y="4489108"/>
                <a:ext cx="1521464" cy="63094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583C73C-0AF1-874C-6E1E-F54A397F1C11}"/>
                  </a:ext>
                </a:extLst>
              </p:cNvPr>
              <p:cNvSpPr txBox="1"/>
              <p:nvPr/>
            </p:nvSpPr>
            <p:spPr>
              <a:xfrm>
                <a:off x="7357628" y="1584181"/>
                <a:ext cx="4860690" cy="42473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Separate infections into 2 compartments: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I – Non-Severe Infection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H – Severe Infection (Hospitalization)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Add Catarrhal Phase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force of infection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: incubation period to catarrhal phase</a:t>
                </a:r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p: probability of severe infection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vaccination function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latent period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recovery rate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death rate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waning of immunity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𝑠𝑠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scale susceptibility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𝑠𝑖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scale immunity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aging rate</a:t>
                </a: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583C73C-0AF1-874C-6E1E-F54A397F1C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7628" y="1584181"/>
                <a:ext cx="4860690" cy="4247317"/>
              </a:xfrm>
              <a:prstGeom prst="rect">
                <a:avLst/>
              </a:prstGeom>
              <a:blipFill>
                <a:blip r:embed="rId18"/>
                <a:stretch>
                  <a:fillRect l="-783" t="-595" r="-261" b="-1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2629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85104-FBE4-B3A5-AAFD-610FA8565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D995-04A7-371C-6505-D2FBC5AE0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06512"/>
            <a:ext cx="115443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Pertussis SEIR Model Equations (Children Ex. 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581E32D-C5B5-0D42-4619-5EA54CA02791}"/>
                  </a:ext>
                </a:extLst>
              </p:cNvPr>
              <p:cNvSpPr txBox="1"/>
              <p:nvPr/>
            </p:nvSpPr>
            <p:spPr>
              <a:xfrm>
                <a:off x="-96254" y="971125"/>
                <a:ext cx="5936343" cy="5259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𝑣𝑎𝑐𝑐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⋅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𝐶𝐴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𝑆𝐶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𝑝𝑜𝑝𝑆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581E32D-C5B5-0D42-4619-5EA54CA02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6254" y="971125"/>
                <a:ext cx="5936343" cy="525913"/>
              </a:xfrm>
              <a:prstGeom prst="rect">
                <a:avLst/>
              </a:prstGeom>
              <a:blipFill>
                <a:blip r:embed="rId2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C69B38E-F37D-A88B-AF05-6A4D94EE36DA}"/>
                  </a:ext>
                </a:extLst>
              </p:cNvPr>
              <p:cNvSpPr txBox="1"/>
              <p:nvPr/>
            </p:nvSpPr>
            <p:spPr>
              <a:xfrm>
                <a:off x="0" y="1623374"/>
                <a:ext cx="5269568" cy="5259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𝑣𝑎𝑐𝑐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𝐶𝐴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C69B38E-F37D-A88B-AF05-6A4D94EE36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623374"/>
                <a:ext cx="5269568" cy="525913"/>
              </a:xfrm>
              <a:prstGeom prst="rect">
                <a:avLst/>
              </a:prstGeom>
              <a:blipFill>
                <a:blip r:embed="rId3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FAF0889-D3A5-AFB5-5F22-3405648836FA}"/>
                  </a:ext>
                </a:extLst>
              </p:cNvPr>
              <p:cNvSpPr txBox="1"/>
              <p:nvPr/>
            </p:nvSpPr>
            <p:spPr>
              <a:xfrm>
                <a:off x="0" y="2971228"/>
                <a:ext cx="5269567" cy="5259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𝑝𝑟𝑜𝑏𝐻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𝐶𝐴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FAF0889-D3A5-AFB5-5F22-3405648836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971228"/>
                <a:ext cx="5269567" cy="525913"/>
              </a:xfrm>
              <a:prstGeom prst="rect">
                <a:avLst/>
              </a:prstGeom>
              <a:blipFill>
                <a:blip r:embed="rId4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2E6DF85-B073-47A3-DEAA-8627188BA155}"/>
                  </a:ext>
                </a:extLst>
              </p:cNvPr>
              <p:cNvSpPr txBox="1"/>
              <p:nvPr/>
            </p:nvSpPr>
            <p:spPr>
              <a:xfrm>
                <a:off x="0" y="3686580"/>
                <a:ext cx="4971249" cy="5442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𝑝𝑟𝑜𝑏𝐻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𝐶𝐴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2E6DF85-B073-47A3-DEAA-8627188BA1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686580"/>
                <a:ext cx="4971249" cy="544252"/>
              </a:xfrm>
              <a:prstGeom prst="rect">
                <a:avLst/>
              </a:prstGeom>
              <a:blipFill>
                <a:blip r:embed="rId5"/>
                <a:stretch>
                  <a:fillRect t="-4545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C4ABACC-7508-F04B-D3B8-D80F9B7B4670}"/>
                  </a:ext>
                </a:extLst>
              </p:cNvPr>
              <p:cNvSpPr txBox="1"/>
              <p:nvPr/>
            </p:nvSpPr>
            <p:spPr>
              <a:xfrm>
                <a:off x="76157" y="4375246"/>
                <a:ext cx="6433554" cy="5259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+(1−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𝑣𝑎𝑐𝑐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−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𝐶𝐴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C4ABACC-7508-F04B-D3B8-D80F9B7B46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57" y="4375246"/>
                <a:ext cx="6433554" cy="525913"/>
              </a:xfrm>
              <a:prstGeom prst="rect">
                <a:avLst/>
              </a:prstGeom>
              <a:blipFill>
                <a:blip r:embed="rId6"/>
                <a:stretch>
                  <a:fillRect t="-2381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E0C482E-5608-1386-1043-4454AC05B4D9}"/>
                  </a:ext>
                </a:extLst>
              </p:cNvPr>
              <p:cNvSpPr txBox="1"/>
              <p:nvPr/>
            </p:nvSpPr>
            <p:spPr>
              <a:xfrm>
                <a:off x="-96254" y="5659479"/>
                <a:ext cx="2459431" cy="5442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E0C482E-5608-1386-1043-4454AC05B4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6254" y="5659479"/>
                <a:ext cx="2459431" cy="544252"/>
              </a:xfrm>
              <a:prstGeom prst="rect">
                <a:avLst/>
              </a:prstGeom>
              <a:blipFill>
                <a:blip r:embed="rId7"/>
                <a:stretch>
                  <a:fillRect t="-2273" b="-11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C779F6F-1DA9-FD67-A9ED-90B7FD8C23A5}"/>
                  </a:ext>
                </a:extLst>
              </p:cNvPr>
              <p:cNvSpPr txBox="1"/>
              <p:nvPr/>
            </p:nvSpPr>
            <p:spPr>
              <a:xfrm>
                <a:off x="5900517" y="970111"/>
                <a:ext cx="5936343" cy="5259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𝜔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𝜔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𝑣𝑎𝑐𝑐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⋅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𝐶𝐴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C779F6F-1DA9-FD67-A9ED-90B7FD8C23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0517" y="970111"/>
                <a:ext cx="5936343" cy="525913"/>
              </a:xfrm>
              <a:prstGeom prst="rect">
                <a:avLst/>
              </a:prstGeom>
              <a:blipFill>
                <a:blip r:embed="rId8"/>
                <a:stretch>
                  <a:fillRect l="-853" t="-2381" r="-213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9F04977-FD0D-E7E7-ADCB-FC0213F33243}"/>
                  </a:ext>
                </a:extLst>
              </p:cNvPr>
              <p:cNvSpPr txBox="1"/>
              <p:nvPr/>
            </p:nvSpPr>
            <p:spPr>
              <a:xfrm>
                <a:off x="2652766" y="4941521"/>
                <a:ext cx="9405256" cy="5259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𝑣𝑎𝑐𝑐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2 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+(1−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𝜔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𝐶𝐴</m:t>
                          </m:r>
                        </m:sub>
                      </m:sSub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9F04977-FD0D-E7E7-ADCB-FC0213F332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2766" y="4941521"/>
                <a:ext cx="9405256" cy="525913"/>
              </a:xfrm>
              <a:prstGeom prst="rect">
                <a:avLst/>
              </a:prstGeom>
              <a:blipFill>
                <a:blip r:embed="rId9"/>
                <a:stretch>
                  <a:fillRect t="-4762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0F9533B-51A0-D5F6-12BB-CD558D562BBF}"/>
                  </a:ext>
                </a:extLst>
              </p:cNvPr>
              <p:cNvSpPr txBox="1"/>
              <p:nvPr/>
            </p:nvSpPr>
            <p:spPr>
              <a:xfrm>
                <a:off x="5635374" y="5579335"/>
                <a:ext cx="2459431" cy="5442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0F9533B-51A0-D5F6-12BB-CD558D562B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5374" y="5579335"/>
                <a:ext cx="2459431" cy="544252"/>
              </a:xfrm>
              <a:prstGeom prst="rect">
                <a:avLst/>
              </a:prstGeom>
              <a:blipFill>
                <a:blip r:embed="rId10"/>
                <a:stretch>
                  <a:fillRect t="-2273" b="-11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5C80ED0-1F8B-75DD-8131-9003FBFCA8BD}"/>
                  </a:ext>
                </a:extLst>
              </p:cNvPr>
              <p:cNvSpPr txBox="1"/>
              <p:nvPr/>
            </p:nvSpPr>
            <p:spPr>
              <a:xfrm>
                <a:off x="0" y="2254311"/>
                <a:ext cx="5663384" cy="5259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𝑝𝑟𝑜𝑏𝐻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𝜖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𝐶𝐴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5C80ED0-1F8B-75DD-8131-9003FBFCA8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254311"/>
                <a:ext cx="5663384" cy="525913"/>
              </a:xfrm>
              <a:prstGeom prst="rect">
                <a:avLst/>
              </a:prstGeom>
              <a:blipFill>
                <a:blip r:embed="rId11"/>
                <a:stretch>
                  <a:fillRect t="-2381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45BB0D5-0C40-F4DB-826A-607CB314134F}"/>
                  </a:ext>
                </a:extLst>
              </p:cNvPr>
              <p:cNvSpPr txBox="1"/>
              <p:nvPr/>
            </p:nvSpPr>
            <p:spPr>
              <a:xfrm>
                <a:off x="5663384" y="2996835"/>
                <a:ext cx="5269567" cy="5259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𝑝𝑟𝑜𝑏𝐻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𝐶𝐴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45BB0D5-0C40-F4DB-826A-607CB31413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3384" y="2996835"/>
                <a:ext cx="5269567" cy="525913"/>
              </a:xfrm>
              <a:prstGeom prst="rect">
                <a:avLst/>
              </a:prstGeom>
              <a:blipFill>
                <a:blip r:embed="rId12"/>
                <a:stretch>
                  <a:fillRect t="-4762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CA8E647-030B-B42D-FD51-0173E8D44473}"/>
                  </a:ext>
                </a:extLst>
              </p:cNvPr>
              <p:cNvSpPr txBox="1"/>
              <p:nvPr/>
            </p:nvSpPr>
            <p:spPr>
              <a:xfrm>
                <a:off x="5663384" y="3712187"/>
                <a:ext cx="4971249" cy="5442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𝑝𝑟𝑜𝑏𝐻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𝐶𝐴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CA8E647-030B-B42D-FD51-0173E8D444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3384" y="3712187"/>
                <a:ext cx="4971249" cy="544252"/>
              </a:xfrm>
              <a:prstGeom prst="rect">
                <a:avLst/>
              </a:prstGeom>
              <a:blipFill>
                <a:blip r:embed="rId13"/>
                <a:stretch>
                  <a:fillRect t="-2273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F3C80B7-8431-3BCE-5A5E-034E44A07D53}"/>
                  </a:ext>
                </a:extLst>
              </p:cNvPr>
              <p:cNvSpPr txBox="1"/>
              <p:nvPr/>
            </p:nvSpPr>
            <p:spPr>
              <a:xfrm>
                <a:off x="5663384" y="2279918"/>
                <a:ext cx="5663384" cy="5259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𝑝𝑟𝑜𝑏𝐻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𝜖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𝐶𝐴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F3C80B7-8431-3BCE-5A5E-034E44A07D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3384" y="2279918"/>
                <a:ext cx="5663384" cy="525913"/>
              </a:xfrm>
              <a:prstGeom prst="rect">
                <a:avLst/>
              </a:prstGeom>
              <a:blipFill>
                <a:blip r:embed="rId14"/>
                <a:stretch>
                  <a:fillRect t="-2381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0075A60-4DEA-31A1-130C-8CFF612A38C4}"/>
                  </a:ext>
                </a:extLst>
              </p:cNvPr>
              <p:cNvSpPr txBox="1"/>
              <p:nvPr/>
            </p:nvSpPr>
            <p:spPr>
              <a:xfrm>
                <a:off x="5900517" y="1674589"/>
                <a:ext cx="5269568" cy="5259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𝑣𝑎𝑐𝑐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𝐶𝐴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0075A60-4DEA-31A1-130C-8CFF612A38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0517" y="1674589"/>
                <a:ext cx="5269568" cy="525913"/>
              </a:xfrm>
              <a:prstGeom prst="rect">
                <a:avLst/>
              </a:prstGeom>
              <a:blipFill>
                <a:blip r:embed="rId15"/>
                <a:stretch>
                  <a:fillRect l="-721" t="-4762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8024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1796</TotalTime>
  <Words>710</Words>
  <Application>Microsoft Macintosh PowerPoint</Application>
  <PresentationFormat>Widescreen</PresentationFormat>
  <Paragraphs>131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Cambria Math</vt:lpstr>
      <vt:lpstr>Times New Roman</vt:lpstr>
      <vt:lpstr>Office Theme</vt:lpstr>
      <vt:lpstr>Meeting with Soren 7/10</vt:lpstr>
      <vt:lpstr>Goals for the past few weeks:</vt:lpstr>
      <vt:lpstr>COVID/Flu/RSV SEIR Model</vt:lpstr>
      <vt:lpstr>COVID/Flu/RSV SEIR Model Equations (Children Ex. )</vt:lpstr>
      <vt:lpstr>Pamela’s Suggestions</vt:lpstr>
      <vt:lpstr>Pertussis SEIR Model</vt:lpstr>
      <vt:lpstr>Pertussis SEIR Model Equations (Children Ex. 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Anastasi, Alyssa Rose</dc:creator>
  <cp:lastModifiedBy>Anastasi, Alyssa Rose</cp:lastModifiedBy>
  <cp:revision>9</cp:revision>
  <dcterms:created xsi:type="dcterms:W3CDTF">2025-06-25T20:14:24Z</dcterms:created>
  <dcterms:modified xsi:type="dcterms:W3CDTF">2025-07-10T22:52:51Z</dcterms:modified>
</cp:coreProperties>
</file>