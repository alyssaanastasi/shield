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2"/>
  </p:notesMasterIdLst>
  <p:sldIdLst>
    <p:sldId id="256" r:id="rId2"/>
    <p:sldId id="259" r:id="rId3"/>
    <p:sldId id="296" r:id="rId4"/>
    <p:sldId id="304" r:id="rId5"/>
    <p:sldId id="299" r:id="rId6"/>
    <p:sldId id="297" r:id="rId7"/>
    <p:sldId id="303" r:id="rId8"/>
    <p:sldId id="306" r:id="rId9"/>
    <p:sldId id="307" r:id="rId10"/>
    <p:sldId id="301" r:id="rId11"/>
    <p:sldId id="318" r:id="rId12"/>
    <p:sldId id="309" r:id="rId13"/>
    <p:sldId id="322" r:id="rId14"/>
    <p:sldId id="316" r:id="rId15"/>
    <p:sldId id="302" r:id="rId16"/>
    <p:sldId id="319" r:id="rId17"/>
    <p:sldId id="317" r:id="rId18"/>
    <p:sldId id="320" r:id="rId19"/>
    <p:sldId id="321" r:id="rId20"/>
    <p:sldId id="305" r:id="rId2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DM Sans" pitchFamily="2" charset="77"/>
      <p:regular r:id="rId24"/>
      <p:bold r:id="rId25"/>
      <p:italic r:id="rId26"/>
      <p:boldItalic r:id="rId27"/>
    </p:embeddedFont>
    <p:embeddedFont>
      <p:font typeface="Georgia Pro" panose="02040502050405020303" pitchFamily="18" charset="0"/>
      <p:regular r:id="rId28"/>
      <p:italic r:id="rId29"/>
    </p:embeddedFont>
    <p:embeddedFont>
      <p:font typeface="Playfair Display Medium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84F75A-2F05-4FDF-92FC-A56C2412D897}">
  <a:tblStyle styleId="{0084F75A-2F05-4FDF-92FC-A56C2412D8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36FAC16-852A-46BD-B410-878102877A4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5"/>
    <p:restoredTop sz="94726"/>
  </p:normalViewPr>
  <p:slideViewPr>
    <p:cSldViewPr snapToGrid="0">
      <p:cViewPr varScale="1">
        <p:scale>
          <a:sx n="131" d="100"/>
          <a:sy n="131" d="100"/>
        </p:scale>
        <p:origin x="15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70% decrease in risk of critical illness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50% decrease in risk of hospitalization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50% decrease in risk of urgent care of emergency department visit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Reduced risk for Long COVID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EC8E222F-F8A0-4E6B-95C9-B7334D70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29A26DDD-76E8-44E3-C28A-67382385E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A5CB2498-FF56-E5DA-7216-93BD1AE53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00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6687C77F-0892-3448-0201-8C13AE11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73138798-F1B6-66C0-4577-4176861564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8CC1C75D-56DF-F487-3C20-2D3A12CC2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Observe differences in the barriers and limitations of adults and children who are getting vaccinated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0468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2578813-EAC3-02BF-BB48-B5132D9F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>
            <a:extLst>
              <a:ext uri="{FF2B5EF4-FFF2-40B4-BE49-F238E27FC236}">
                <a16:creationId xmlns:a16="http://schemas.microsoft.com/office/drawing/2014/main" id="{6FC93E91-4A71-A4A4-B4DC-FC364CC9A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>
            <a:extLst>
              <a:ext uri="{FF2B5EF4-FFF2-40B4-BE49-F238E27FC236}">
                <a16:creationId xmlns:a16="http://schemas.microsoft.com/office/drawing/2014/main" id="{D2FFBABA-FBED-60A5-CA48-B453AE0FD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398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4FD7CBA-7A00-9F40-F9E6-97EF5D5B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53C31EE-0157-714A-7228-9AA28212E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3AD6C4F4-F5C2-C294-7404-4630D217E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1/3 of participants are adults with children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2822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F6CAEFF-E523-3D37-2A6C-BABEC6D8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B9684755-4640-257E-0193-6C975B9B5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C5D3C1CE-8B5D-FFC7-3B36-39048863E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91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0D550C6-C964-1898-0219-13F6457D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F1A1D5AF-02E3-4C84-95DC-A822B314B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9AA379D7-DDA4-E9DA-7E1E-A0FEBBAD2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497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264E940-36A0-3841-C92E-02034F67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DA996194-EC60-29CC-65E6-610B4D33F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74E53B7D-4ADF-1DD3-145F-FBE0E9044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Discuss progression into clear relationship with income across different age groups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Should I add more? Not sure if I will have enough time, so might be good to just show one example of how vaccination behavior changes with age group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4227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3DF9021-C84E-28A5-83F4-AC27588C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E1DFEAE4-CB0E-03D6-8D69-F0E0E7040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4D2D8504-F736-9A81-73E6-E1042E8D1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Overview of SEIRD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Should I mention ODE?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5577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A302998A-B73D-04F5-EB20-1A3C765E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B25BCE6-C26E-C492-29F8-576BD214A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C4B1164F-8891-7B5D-6D57-C665F16E8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through 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2</a:t>
            </a:r>
            <a:r>
              <a:rPr lang="en-US" baseline="30000" dirty="0"/>
              <a:t>nd</a:t>
            </a:r>
            <a:r>
              <a:rPr lang="en-US" dirty="0"/>
              <a:t> group : base immunity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168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6ADCFB8B-5932-4472-B899-6F7E9A3C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9FC4781C-4B27-2A13-F898-3ECEA3BAC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82EFEB6A-E8CA-CB8E-A94F-DF4F53281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through 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2</a:t>
            </a:r>
            <a:r>
              <a:rPr lang="en-US" baseline="30000" dirty="0"/>
              <a:t>nd</a:t>
            </a:r>
            <a:r>
              <a:rPr lang="en-US" dirty="0"/>
              <a:t> group : base immunity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2857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D571B59-092A-EA47-EEC7-BD11591F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B3A2318-51F1-111A-AC37-03BD5F944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E488BF2D-B77D-9EC2-537A-0A5ED033F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through 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2</a:t>
            </a:r>
            <a:r>
              <a:rPr lang="en-US" baseline="30000" dirty="0"/>
              <a:t>nd</a:t>
            </a:r>
            <a:r>
              <a:rPr lang="en-US" dirty="0"/>
              <a:t> group : base immunity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6122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C038043-F5C0-0617-D27C-BB0E623B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9CE78ABB-96F2-AC38-0FA0-A0885F65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5985C0CB-660D-9AD6-F1BE-39E054788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2852812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E797CF6C-C111-ACE3-F0E0-74F7528D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5CDFE08-33FA-8981-B43B-358EEB3D8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A5C52161-F368-69E0-4F07-979418BEC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1809210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B0339E6-CA7A-DA71-4EB8-9F72C82D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23C5C29-894D-0625-C48A-04625FA66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74B7BADB-D1C9-9CDB-BC17-D465E0CF0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2560682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87D16CB2-8452-DAFB-6D9A-332DCD15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025759F7-4A82-9AE3-1EAE-855EDDCA9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964D33F9-7D87-1CFA-70CB-B46528684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1544036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AFC4FEE-9C57-D61C-835C-EBFC1855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20CE4D0C-7FE5-2B52-DA6E-0C589ECA1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502F6CEE-684D-FFF8-89FE-563A3E232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3505123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5075235F-4FA7-8141-2CF9-71183E89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F0D084F-049B-75EC-2B41-1F6EEA173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68C9E05E-C74A-7FBA-E909-4121E502F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638804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B445F65-C9CB-2328-E8FB-EACAFFA3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43A78A0D-516C-FD3D-7D65-87CA8990A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7F340E68-DEFE-0AE1-6CE0-B4E424115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For Flu, having the same vaccination coverage for all age groups is less impactful than for COVID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Future Research: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does vaccination in one group affect infection in a different group?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does vaccinating children at a higher rate impact parents?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can we optimize vaccination rates to get the least infections, critical illness, and deaths? 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What barriers are specific to each age group? What can be done to eliminate these barriers?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170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4595700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13225" y="734725"/>
            <a:ext cx="3737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713225" y="1878000"/>
            <a:ext cx="4337400" cy="25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806850" y="658413"/>
            <a:ext cx="2623800" cy="3826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" name="Google Shape;40;p7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7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4" name="Google Shape;44;p8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8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6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ctrTitle"/>
          </p:nvPr>
        </p:nvSpPr>
        <p:spPr>
          <a:xfrm>
            <a:off x="819807" y="914401"/>
            <a:ext cx="7195382" cy="24289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F0502020204030204" pitchFamily="34" charset="0"/>
                <a:cs typeface="Georgia Pro" panose="020F0502020204030204" pitchFamily="34" charset="0"/>
              </a:rPr>
              <a:t>Analyzing Health Seeking Behavior in Response to Respiratory Diseases in Illinois</a:t>
            </a:r>
            <a:endParaRPr dirty="0">
              <a:latin typeface="Georgia Pro" panose="020F0502020204030204" pitchFamily="34" charset="0"/>
              <a:cs typeface="Georgia Pro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579D4-36BE-5B93-F34E-4ABFA4F08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9385" y="3504607"/>
            <a:ext cx="5845230" cy="569400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Alyssa Anastasi</a:t>
            </a:r>
          </a:p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Collaborators: Chloe Yang, Sophie Larsen &amp; Pamela Martinez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  <a:cs typeface="Calibri" panose="020F0502020204030204" pitchFamily="34" charset="0"/>
              </a:rPr>
              <a:t>Background - Vaccinations</a:t>
            </a:r>
            <a:endParaRPr i="1" dirty="0">
              <a:latin typeface="Georgia Pro" panose="02040502050405020303" pitchFamily="18" charset="0"/>
              <a:cs typeface="Calibri" panose="020F0502020204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31399-2766-6DEC-4BB9-8DC7BA7D782C}"/>
              </a:ext>
            </a:extLst>
          </p:cNvPr>
          <p:cNvSpPr txBox="1">
            <a:spLocks/>
          </p:cNvSpPr>
          <p:nvPr/>
        </p:nvSpPr>
        <p:spPr>
          <a:xfrm>
            <a:off x="7564607" y="4669661"/>
            <a:ext cx="1194714" cy="24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52400" indent="0" algn="r">
              <a:buNone/>
            </a:pPr>
            <a:r>
              <a:rPr lang="en-US" sz="1000" dirty="0"/>
              <a:t>CDC, 2025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EC405C-8F1E-4BD8-3300-6877438A8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053572"/>
              </p:ext>
            </p:extLst>
          </p:nvPr>
        </p:nvGraphicFramePr>
        <p:xfrm>
          <a:off x="779302" y="1180272"/>
          <a:ext cx="5822975" cy="1322121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935815">
                  <a:extLst>
                    <a:ext uri="{9D8B030D-6E8A-4147-A177-3AD203B41FA5}">
                      <a16:colId xmlns:a16="http://schemas.microsoft.com/office/drawing/2014/main" val="3289205874"/>
                    </a:ext>
                  </a:extLst>
                </a:gridCol>
                <a:gridCol w="959931">
                  <a:extLst>
                    <a:ext uri="{9D8B030D-6E8A-4147-A177-3AD203B41FA5}">
                      <a16:colId xmlns:a16="http://schemas.microsoft.com/office/drawing/2014/main" val="3252779650"/>
                    </a:ext>
                  </a:extLst>
                </a:gridCol>
                <a:gridCol w="3927229">
                  <a:extLst>
                    <a:ext uri="{9D8B030D-6E8A-4147-A177-3AD203B41FA5}">
                      <a16:colId xmlns:a16="http://schemas.microsoft.com/office/drawing/2014/main" val="3752128261"/>
                    </a:ext>
                  </a:extLst>
                </a:gridCol>
              </a:tblGrid>
              <a:tr h="261070">
                <a:tc gridSpan="3">
                  <a:txBody>
                    <a:bodyPr/>
                    <a:lstStyle/>
                    <a:p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COVID-19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55618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Risk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94035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Decrease in risk of emergency care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815429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Decrease in risk of critical illness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324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1DB517-A84C-1462-9BB7-BDCD0720D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676945"/>
              </p:ext>
            </p:extLst>
          </p:nvPr>
        </p:nvGraphicFramePr>
        <p:xfrm>
          <a:off x="779302" y="2932472"/>
          <a:ext cx="5822975" cy="1322121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935815">
                  <a:extLst>
                    <a:ext uri="{9D8B030D-6E8A-4147-A177-3AD203B41FA5}">
                      <a16:colId xmlns:a16="http://schemas.microsoft.com/office/drawing/2014/main" val="3289205874"/>
                    </a:ext>
                  </a:extLst>
                </a:gridCol>
                <a:gridCol w="959931">
                  <a:extLst>
                    <a:ext uri="{9D8B030D-6E8A-4147-A177-3AD203B41FA5}">
                      <a16:colId xmlns:a16="http://schemas.microsoft.com/office/drawing/2014/main" val="3252779650"/>
                    </a:ext>
                  </a:extLst>
                </a:gridCol>
                <a:gridCol w="3927229">
                  <a:extLst>
                    <a:ext uri="{9D8B030D-6E8A-4147-A177-3AD203B41FA5}">
                      <a16:colId xmlns:a16="http://schemas.microsoft.com/office/drawing/2014/main" val="3752128261"/>
                    </a:ext>
                  </a:extLst>
                </a:gridCol>
              </a:tblGrid>
              <a:tr h="261070">
                <a:tc gridSpan="3">
                  <a:txBody>
                    <a:bodyPr/>
                    <a:lstStyle/>
                    <a:p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055618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Risk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94035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Decrease in risk of severe life-threatening influenza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815429"/>
                  </a:ext>
                </a:extLst>
              </a:tr>
              <a:tr h="34926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Decrease in risk of  ICU admission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3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EE84F2F7-64B0-314C-53C1-370F1BA7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0874B82A-20C1-EF6B-080E-1149FA488F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Background – Vaccination Behaviors in Adults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DCD4B48D-6E11-EAF3-EC16-0787FED55F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8951" y="638517"/>
            <a:ext cx="8210369" cy="22202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10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Vaccine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Hesitancy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Adults who are vaccine hesitant typically cite a: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Lack of confidence in government’s decisions, effectiveness of vaccines, and the COVID-19 vaccine delivery system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Lower perceived threat of disease and belief that the vaccine is unnecessary as a preventative measure </a:t>
            </a: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65067DC-5FCF-2E40-885F-ED9EF01026E3}"/>
              </a:ext>
            </a:extLst>
          </p:cNvPr>
          <p:cNvSpPr txBox="1">
            <a:spLocks/>
          </p:cNvSpPr>
          <p:nvPr/>
        </p:nvSpPr>
        <p:spPr>
          <a:xfrm>
            <a:off x="4847666" y="4669661"/>
            <a:ext cx="3911656" cy="24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52400" indent="0" algn="r">
              <a:buNone/>
            </a:pPr>
            <a:r>
              <a:rPr lang="en-US" sz="1000" dirty="0" err="1"/>
              <a:t>Pourrazavi</a:t>
            </a:r>
            <a:r>
              <a:rPr lang="en-US" sz="1000" dirty="0"/>
              <a:t> et al., 2023; Ben-Umeh &amp; Kim, 2024 </a:t>
            </a:r>
          </a:p>
        </p:txBody>
      </p:sp>
      <p:sp>
        <p:nvSpPr>
          <p:cNvPr id="5" name="Google Shape;208;p33">
            <a:extLst>
              <a:ext uri="{FF2B5EF4-FFF2-40B4-BE49-F238E27FC236}">
                <a16:creationId xmlns:a16="http://schemas.microsoft.com/office/drawing/2014/main" id="{C2CD2F8B-459F-108F-3C00-300E731A6731}"/>
              </a:ext>
            </a:extLst>
          </p:cNvPr>
          <p:cNvSpPr txBox="1">
            <a:spLocks/>
          </p:cNvSpPr>
          <p:nvPr/>
        </p:nvSpPr>
        <p:spPr>
          <a:xfrm>
            <a:off x="548950" y="2449397"/>
            <a:ext cx="8210369" cy="222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Barriers to Vaccination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Lower income adults are 55% less likely to receive the COVID-19 Vaccine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29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5A5E8E22-253B-B5A7-BD8A-842C08637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4BD56058-422D-FB2C-358A-BB4C1952F7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Background – Vaccination Behaviors in Children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DD924DC8-B9DA-53B0-39DE-7E1808D8FC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4" y="546837"/>
            <a:ext cx="7603781" cy="2442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10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Among parents in Chicago and Cook County, IL,  approximately 1/3 reported vaccine hesitancy for their child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The highest odds of vaccine hesitancy were found in:</a:t>
            </a:r>
          </a:p>
          <a:p>
            <a:pPr lvl="2" algn="l"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Non-Hispanic black parents</a:t>
            </a:r>
          </a:p>
          <a:p>
            <a:pPr lvl="2" algn="l"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Parents with lower income</a:t>
            </a:r>
          </a:p>
          <a:p>
            <a:pPr lvl="2" algn="l"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Parents of children with public health insurance </a:t>
            </a:r>
          </a:p>
          <a:p>
            <a:pPr lvl="0" algn="l" rtl="0">
              <a:spcBef>
                <a:spcPts val="10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B40D521-C92C-CBFF-E9EB-3D13EBF18A22}"/>
              </a:ext>
            </a:extLst>
          </p:cNvPr>
          <p:cNvSpPr txBox="1">
            <a:spLocks/>
          </p:cNvSpPr>
          <p:nvPr/>
        </p:nvSpPr>
        <p:spPr>
          <a:xfrm>
            <a:off x="4847666" y="4669661"/>
            <a:ext cx="3911656" cy="24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152400" indent="0" algn="r">
              <a:buNone/>
            </a:pPr>
            <a:r>
              <a:rPr lang="en-US" sz="1000" dirty="0"/>
              <a:t>Alfieri et al., 2021; Schilling et al., 2022</a:t>
            </a:r>
          </a:p>
        </p:txBody>
      </p:sp>
      <p:sp>
        <p:nvSpPr>
          <p:cNvPr id="6" name="Google Shape;208;p33">
            <a:extLst>
              <a:ext uri="{FF2B5EF4-FFF2-40B4-BE49-F238E27FC236}">
                <a16:creationId xmlns:a16="http://schemas.microsoft.com/office/drawing/2014/main" id="{3462FB72-4A4C-4402-08D0-C33D4AA149D2}"/>
              </a:ext>
            </a:extLst>
          </p:cNvPr>
          <p:cNvSpPr txBox="1">
            <a:spLocks/>
          </p:cNvSpPr>
          <p:nvPr/>
        </p:nvSpPr>
        <p:spPr>
          <a:xfrm>
            <a:off x="713224" y="2428568"/>
            <a:ext cx="7603781" cy="244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 a study looking at low-income, racially, and ethnically diverse parents in the US, 48% of parents were undecided and hesitant about vaccinating their children against COVID-19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Many parents reported waiting for conversations with their pediatrician before making a final decision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44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DDDA001C-6D09-507C-1DD9-54F6466B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C2F26E90-2534-A434-1BCA-9374DCFA92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63949" y="1094852"/>
            <a:ext cx="7195382" cy="29537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3000" dirty="0">
                <a:latin typeface="Georgia Pro" panose="02040502050405020303" pitchFamily="18" charset="0"/>
              </a:rPr>
              <a:t>How do adults and children behave       differently with respect to vaccination behavior?</a:t>
            </a:r>
            <a:br>
              <a:rPr lang="en" sz="3000" dirty="0">
                <a:latin typeface="Georgia Pro" panose="02040502050405020303" pitchFamily="18" charset="0"/>
              </a:rPr>
            </a:br>
            <a:br>
              <a:rPr lang="en" sz="3000" dirty="0">
                <a:latin typeface="Georgia Pro" panose="02040502050405020303" pitchFamily="18" charset="0"/>
              </a:rPr>
            </a:br>
            <a:r>
              <a:rPr lang="en" sz="3000" dirty="0">
                <a:latin typeface="Georgia Pro" panose="02040502050405020303" pitchFamily="18" charset="0"/>
              </a:rPr>
              <a:t>Are these consistent across respiratory pathogens?</a:t>
            </a:r>
            <a:endParaRPr sz="3000" dirty="0"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07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88BC0FEC-CB67-A981-9C56-524E1CE9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E8F2D362-664D-9C18-17A8-1538A119B0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Survey Data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08" name="Google Shape;208;p33">
            <a:extLst>
              <a:ext uri="{FF2B5EF4-FFF2-40B4-BE49-F238E27FC236}">
                <a16:creationId xmlns:a16="http://schemas.microsoft.com/office/drawing/2014/main" id="{C5E077D2-9737-45A6-0C0E-154A86BD7F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077111"/>
            <a:ext cx="6595669" cy="1697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l">
              <a:buClr>
                <a:schemeClr val="tx1"/>
              </a:buClr>
              <a:buChar char="●"/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1000"/>
              </a:lnSpc>
              <a:buClr>
                <a:schemeClr val="tx1"/>
              </a:buClr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Google Shape;208;p33">
            <a:extLst>
              <a:ext uri="{FF2B5EF4-FFF2-40B4-BE49-F238E27FC236}">
                <a16:creationId xmlns:a16="http://schemas.microsoft.com/office/drawing/2014/main" id="{FD96EBD2-7419-2C7E-9D71-1F9F6D8A14E6}"/>
              </a:ext>
            </a:extLst>
          </p:cNvPr>
          <p:cNvSpPr txBox="1">
            <a:spLocks/>
          </p:cNvSpPr>
          <p:nvPr/>
        </p:nvSpPr>
        <p:spPr>
          <a:xfrm>
            <a:off x="688203" y="518219"/>
            <a:ext cx="7603781" cy="244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Survey to Illinois residents asking about: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Demographic information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Health behaviors &amp; attitudes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“Have you ever been vaccinated against COVID-19?”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“Which of the following statements describe your main reasons why you have not been vaccinated and/or boosted?”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“Has your child been 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vaccinated against influenza in the past 12 months?”</a:t>
            </a:r>
            <a:endParaRPr lang="en-US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Google Shape;208;p33">
            <a:extLst>
              <a:ext uri="{FF2B5EF4-FFF2-40B4-BE49-F238E27FC236}">
                <a16:creationId xmlns:a16="http://schemas.microsoft.com/office/drawing/2014/main" id="{D0465CFD-4A43-5688-D607-D87E508CCDF6}"/>
              </a:ext>
            </a:extLst>
          </p:cNvPr>
          <p:cNvSpPr txBox="1">
            <a:spLocks/>
          </p:cNvSpPr>
          <p:nvPr/>
        </p:nvSpPr>
        <p:spPr>
          <a:xfrm>
            <a:off x="770109" y="2853209"/>
            <a:ext cx="7603781" cy="96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</a:pPr>
            <a:endParaRPr lang="en-US" dirty="0"/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9534 total participants</a:t>
            </a:r>
          </a:p>
          <a:p>
            <a:pPr>
              <a:lnSpc>
                <a:spcPts val="1000"/>
              </a:lnSpc>
              <a:buClr>
                <a:schemeClr val="tx1"/>
              </a:buClr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Google Shape;208;p33">
            <a:extLst>
              <a:ext uri="{FF2B5EF4-FFF2-40B4-BE49-F238E27FC236}">
                <a16:creationId xmlns:a16="http://schemas.microsoft.com/office/drawing/2014/main" id="{EDAA9C18-10A4-ED6A-83AD-964ACDB91C23}"/>
              </a:ext>
            </a:extLst>
          </p:cNvPr>
          <p:cNvSpPr txBox="1">
            <a:spLocks/>
          </p:cNvSpPr>
          <p:nvPr/>
        </p:nvSpPr>
        <p:spPr>
          <a:xfrm>
            <a:off x="770109" y="3560076"/>
            <a:ext cx="6595669" cy="169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Demographic Groups: Political Affiliation, Income Level, Race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42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ADED400F-2926-8D2D-B7D3-6026E5D9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970FC52A-C000-A164-EEBC-DC103AAEB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Survey Exploration – Income Level</a:t>
            </a:r>
            <a:endParaRPr i="1" dirty="0">
              <a:latin typeface="Georgia Pro" panose="02040502050405020303" pitchFamily="18" charset="0"/>
            </a:endParaRPr>
          </a:p>
        </p:txBody>
      </p:sp>
      <p:pic>
        <p:nvPicPr>
          <p:cNvPr id="3" name="Picture 2" descr="A graph of a number of blue and black bars&#10;&#10;AI-generated content may be incorrect.">
            <a:extLst>
              <a:ext uri="{FF2B5EF4-FFF2-40B4-BE49-F238E27FC236}">
                <a16:creationId xmlns:a16="http://schemas.microsoft.com/office/drawing/2014/main" id="{A5B54521-C17E-3268-F187-25ED97900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76" b="19180"/>
          <a:stretch/>
        </p:blipFill>
        <p:spPr>
          <a:xfrm>
            <a:off x="384679" y="1317356"/>
            <a:ext cx="8108902" cy="26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5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0E779884-51AD-7B0D-6CFA-484D41E5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E8E9B360-B609-6092-161E-6C30651B4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Survey Exploration – Income Level</a:t>
            </a:r>
            <a:endParaRPr i="1" dirty="0">
              <a:latin typeface="Georgia Pro" panose="02040502050405020303" pitchFamily="18" charset="0"/>
            </a:endParaRPr>
          </a:p>
        </p:txBody>
      </p:sp>
      <p:pic>
        <p:nvPicPr>
          <p:cNvPr id="4" name="Picture 3" descr="A graph showing a number of blue bars&#10;&#10;AI-generated content may be incorrect.">
            <a:extLst>
              <a:ext uri="{FF2B5EF4-FFF2-40B4-BE49-F238E27FC236}">
                <a16:creationId xmlns:a16="http://schemas.microsoft.com/office/drawing/2014/main" id="{87CA9C69-972B-1356-633F-C3D783B3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56" b="20356"/>
          <a:stretch/>
        </p:blipFill>
        <p:spPr>
          <a:xfrm>
            <a:off x="261863" y="1408746"/>
            <a:ext cx="8273843" cy="24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1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F9920599-3E25-D2AA-ACC5-53069596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A0D16176-ED5C-7CC5-B34F-D4E9E8D8D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Survey Exploration – Income Level</a:t>
            </a:r>
            <a:endParaRPr i="1" dirty="0">
              <a:latin typeface="Georgia Pro" panose="02040502050405020303" pitchFamily="18" charset="0"/>
            </a:endParaRPr>
          </a:p>
        </p:txBody>
      </p:sp>
      <p:pic>
        <p:nvPicPr>
          <p:cNvPr id="2" name="Picture 1" descr="A close-up of a graph&#10;&#10;AI-generated content may be incorrect.">
            <a:extLst>
              <a:ext uri="{FF2B5EF4-FFF2-40B4-BE49-F238E27FC236}">
                <a16:creationId xmlns:a16="http://schemas.microsoft.com/office/drawing/2014/main" id="{15B1041E-6ADB-4E31-55FB-B6214F3E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0" b="21302"/>
          <a:stretch/>
        </p:blipFill>
        <p:spPr>
          <a:xfrm>
            <a:off x="384679" y="1334903"/>
            <a:ext cx="8254160" cy="24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5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ADB3DB22-33E3-F598-3457-DE31B304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0C197F0E-892E-E0B2-3847-00D7EE050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Age-Stratified SEIRD Model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4" name="Google Shape;208;p33">
            <a:extLst>
              <a:ext uri="{FF2B5EF4-FFF2-40B4-BE49-F238E27FC236}">
                <a16:creationId xmlns:a16="http://schemas.microsoft.com/office/drawing/2014/main" id="{40B78586-12BF-B3AF-084D-094D2EFFA564}"/>
              </a:ext>
            </a:extLst>
          </p:cNvPr>
          <p:cNvSpPr txBox="1">
            <a:spLocks/>
          </p:cNvSpPr>
          <p:nvPr/>
        </p:nvSpPr>
        <p:spPr>
          <a:xfrm>
            <a:off x="713225" y="874130"/>
            <a:ext cx="7641503" cy="335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Compartmental modeling method used to model the spread of infectious diseases over time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This model includes 5 main compartments: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 </a:t>
            </a:r>
            <a:r>
              <a:rPr lang="en-US" dirty="0">
                <a:latin typeface="Aptos" panose="020B0004020202020204" pitchFamily="34" charset="0"/>
              </a:rPr>
              <a:t>– Susceptible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E – </a:t>
            </a:r>
            <a:r>
              <a:rPr lang="en-US" dirty="0">
                <a:latin typeface="Aptos" panose="020B0004020202020204" pitchFamily="34" charset="0"/>
              </a:rPr>
              <a:t>Exposed</a:t>
            </a:r>
            <a:endParaRPr lang="en-US" b="1" dirty="0">
              <a:latin typeface="Aptos" panose="020B0004020202020204" pitchFamily="34" charset="0"/>
            </a:endParaRP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I – </a:t>
            </a:r>
            <a:r>
              <a:rPr lang="en-US" dirty="0">
                <a:latin typeface="Aptos" panose="020B0004020202020204" pitchFamily="34" charset="0"/>
              </a:rPr>
              <a:t>Infected</a:t>
            </a:r>
            <a:endParaRPr lang="en-US" b="1" dirty="0">
              <a:latin typeface="Aptos" panose="020B0004020202020204" pitchFamily="34" charset="0"/>
            </a:endParaRP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R – </a:t>
            </a:r>
            <a:r>
              <a:rPr lang="en-US" dirty="0">
                <a:latin typeface="Aptos" panose="020B0004020202020204" pitchFamily="34" charset="0"/>
              </a:rPr>
              <a:t>Recovered</a:t>
            </a:r>
            <a:endParaRPr lang="en-US" b="1" dirty="0">
              <a:latin typeface="Aptos" panose="020B0004020202020204" pitchFamily="34" charset="0"/>
            </a:endParaRP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D – </a:t>
            </a:r>
            <a:r>
              <a:rPr lang="en-US" dirty="0">
                <a:latin typeface="Aptos" panose="020B0004020202020204" pitchFamily="34" charset="0"/>
              </a:rPr>
              <a:t>Dead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" name="Google Shape;208;p33">
            <a:extLst>
              <a:ext uri="{FF2B5EF4-FFF2-40B4-BE49-F238E27FC236}">
                <a16:creationId xmlns:a16="http://schemas.microsoft.com/office/drawing/2014/main" id="{B9AC6639-2B9D-5F19-0D2C-14EB413AD739}"/>
              </a:ext>
            </a:extLst>
          </p:cNvPr>
          <p:cNvSpPr txBox="1">
            <a:spLocks/>
          </p:cNvSpPr>
          <p:nvPr/>
        </p:nvSpPr>
        <p:spPr>
          <a:xfrm>
            <a:off x="751248" y="3095834"/>
            <a:ext cx="7641503" cy="169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Implemented in R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3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5CA9D55F-990A-B3AB-53B0-7FBC7444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CEAFC843-CCC2-8F37-F072-6CF565398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Age-Stratified SEIRD Model 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82ECD-C60B-1CF7-DD27-A2A6AF999981}"/>
              </a:ext>
            </a:extLst>
          </p:cNvPr>
          <p:cNvSpPr/>
          <p:nvPr/>
        </p:nvSpPr>
        <p:spPr>
          <a:xfrm>
            <a:off x="2353181" y="1269474"/>
            <a:ext cx="1639956" cy="539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Children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D22D9-B0AF-644A-8B10-3E23A6D979D7}"/>
              </a:ext>
            </a:extLst>
          </p:cNvPr>
          <p:cNvSpPr/>
          <p:nvPr/>
        </p:nvSpPr>
        <p:spPr>
          <a:xfrm>
            <a:off x="713225" y="2370359"/>
            <a:ext cx="1639956" cy="539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without Children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88AB86-238B-2B65-5671-D02217251F06}"/>
              </a:ext>
            </a:extLst>
          </p:cNvPr>
          <p:cNvSpPr/>
          <p:nvPr/>
        </p:nvSpPr>
        <p:spPr>
          <a:xfrm>
            <a:off x="4024613" y="2370359"/>
            <a:ext cx="1639956" cy="539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with Children (Parents)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D37A1C-8AAA-51EF-7DBF-A6875E1B944B}"/>
              </a:ext>
            </a:extLst>
          </p:cNvPr>
          <p:cNvSpPr/>
          <p:nvPr/>
        </p:nvSpPr>
        <p:spPr>
          <a:xfrm>
            <a:off x="2353181" y="3471244"/>
            <a:ext cx="1639956" cy="539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(50+)</a:t>
            </a: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54BD9D61-7403-C551-CE8C-25166F8FB0CB}"/>
              </a:ext>
            </a:extLst>
          </p:cNvPr>
          <p:cNvCxnSpPr>
            <a:stCxn id="3" idx="1"/>
            <a:endCxn id="9" idx="0"/>
          </p:cNvCxnSpPr>
          <p:nvPr/>
        </p:nvCxnSpPr>
        <p:spPr>
          <a:xfrm rot="10800000" flipV="1">
            <a:off x="1533203" y="1539135"/>
            <a:ext cx="819978" cy="831223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B874985-94E2-1B15-394A-10C74E684CF2}"/>
              </a:ext>
            </a:extLst>
          </p:cNvPr>
          <p:cNvCxnSpPr>
            <a:cxnSpLocks/>
            <a:stCxn id="9" idx="2"/>
            <a:endCxn id="33" idx="1"/>
          </p:cNvCxnSpPr>
          <p:nvPr/>
        </p:nvCxnSpPr>
        <p:spPr>
          <a:xfrm rot="16200000" flipH="1">
            <a:off x="1527581" y="2915305"/>
            <a:ext cx="831223" cy="819978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E2574EAB-9B1C-8E1F-E387-FB9384B0F709}"/>
              </a:ext>
            </a:extLst>
          </p:cNvPr>
          <p:cNvCxnSpPr>
            <a:cxnSpLocks/>
            <a:stCxn id="3" idx="3"/>
            <a:endCxn id="31" idx="0"/>
          </p:cNvCxnSpPr>
          <p:nvPr/>
        </p:nvCxnSpPr>
        <p:spPr>
          <a:xfrm>
            <a:off x="3993137" y="1539136"/>
            <a:ext cx="851454" cy="831223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8A22C03A-CB59-57C4-617B-1C91E502219A}"/>
              </a:ext>
            </a:extLst>
          </p:cNvPr>
          <p:cNvCxnSpPr>
            <a:cxnSpLocks/>
            <a:stCxn id="31" idx="2"/>
            <a:endCxn id="33" idx="3"/>
          </p:cNvCxnSpPr>
          <p:nvPr/>
        </p:nvCxnSpPr>
        <p:spPr>
          <a:xfrm rot="5400000">
            <a:off x="4003253" y="2899567"/>
            <a:ext cx="831223" cy="851454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60783-B4C4-D39C-01CA-9E667D480057}"/>
                  </a:ext>
                </a:extLst>
              </p:cNvPr>
              <p:cNvSpPr txBox="1"/>
              <p:nvPr/>
            </p:nvSpPr>
            <p:spPr>
              <a:xfrm>
                <a:off x="1501727" y="1476841"/>
                <a:ext cx="2823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60783-B4C4-D39C-01CA-9E667D48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727" y="1476841"/>
                <a:ext cx="28238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100195-771A-E348-3AEC-5056D5C4D4AD}"/>
                  </a:ext>
                </a:extLst>
              </p:cNvPr>
              <p:cNvSpPr txBox="1"/>
              <p:nvPr/>
            </p:nvSpPr>
            <p:spPr>
              <a:xfrm>
                <a:off x="4595080" y="1408746"/>
                <a:ext cx="2804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100195-771A-E348-3AEC-5056D5C4D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80" y="1408746"/>
                <a:ext cx="28046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96AAD6-D411-A814-5605-3A5D0CAF3C5F}"/>
                  </a:ext>
                </a:extLst>
              </p:cNvPr>
              <p:cNvSpPr txBox="1"/>
              <p:nvPr/>
            </p:nvSpPr>
            <p:spPr>
              <a:xfrm>
                <a:off x="1533202" y="3578269"/>
                <a:ext cx="2804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96AAD6-D411-A814-5605-3A5D0CAF3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02" y="3578269"/>
                <a:ext cx="28046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55B04-E95B-DAF8-D7EE-C127F4393E80}"/>
                  </a:ext>
                </a:extLst>
              </p:cNvPr>
              <p:cNvSpPr txBox="1"/>
              <p:nvPr/>
            </p:nvSpPr>
            <p:spPr>
              <a:xfrm>
                <a:off x="4595080" y="3525463"/>
                <a:ext cx="28046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E55B04-E95B-DAF8-D7EE-C127F4393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080" y="3525463"/>
                <a:ext cx="28046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81B2A1-0202-C99B-3168-A8A97CF4CA10}"/>
                  </a:ext>
                </a:extLst>
              </p:cNvPr>
              <p:cNvSpPr txBox="1"/>
              <p:nvPr/>
            </p:nvSpPr>
            <p:spPr>
              <a:xfrm>
                <a:off x="5977911" y="1673790"/>
                <a:ext cx="2680567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contact between each group</a:t>
                </a: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81B2A1-0202-C99B-3168-A8A97CF4C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911" y="1673790"/>
                <a:ext cx="2680567" cy="1600438"/>
              </a:xfrm>
              <a:prstGeom prst="rect">
                <a:avLst/>
              </a:prstGeom>
              <a:blipFill>
                <a:blip r:embed="rId7"/>
                <a:stretch>
                  <a:fillRect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183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C1EE6B80-7861-5AA2-749F-888E0394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FBB75043-C0A1-BDC8-E76D-4511CCBB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Age-Stratified SEIRD Model 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D81EB-9056-08E0-1A8E-0AF150D49C68}"/>
              </a:ext>
            </a:extLst>
          </p:cNvPr>
          <p:cNvSpPr/>
          <p:nvPr/>
        </p:nvSpPr>
        <p:spPr>
          <a:xfrm>
            <a:off x="713225" y="147699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5ECFD-8EB2-26FD-A802-4C62446254BE}"/>
              </a:ext>
            </a:extLst>
          </p:cNvPr>
          <p:cNvSpPr/>
          <p:nvPr/>
        </p:nvSpPr>
        <p:spPr>
          <a:xfrm>
            <a:off x="1959144" y="147699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2D76AA-B39F-80DA-4BD6-5DAD27DEB289}"/>
              </a:ext>
            </a:extLst>
          </p:cNvPr>
          <p:cNvSpPr/>
          <p:nvPr/>
        </p:nvSpPr>
        <p:spPr>
          <a:xfrm>
            <a:off x="3178344" y="1492762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401F7-096F-A1B7-E859-290B89731DD3}"/>
              </a:ext>
            </a:extLst>
          </p:cNvPr>
          <p:cNvSpPr/>
          <p:nvPr/>
        </p:nvSpPr>
        <p:spPr>
          <a:xfrm>
            <a:off x="4431536" y="197900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FD87F-2DA1-625A-5BAA-4C9DD94FEEA9}"/>
              </a:ext>
            </a:extLst>
          </p:cNvPr>
          <p:cNvSpPr/>
          <p:nvPr/>
        </p:nvSpPr>
        <p:spPr>
          <a:xfrm>
            <a:off x="4427308" y="1118482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728C8-54E8-F791-5767-F7D86FB9B01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322825" y="1751193"/>
            <a:ext cx="635765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2D1E11-B0A9-6970-F93B-9BD693AE919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568744" y="1766940"/>
            <a:ext cx="609600" cy="18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9B3CF1-93C1-9A63-13EF-78EA558B2A0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787944" y="1766958"/>
            <a:ext cx="643592" cy="486245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CA1C4D-D923-3E33-2353-40F434DE5EE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787944" y="1392678"/>
            <a:ext cx="639364" cy="37428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E6913-DF1C-1167-3195-E70BEEBEB928}"/>
                  </a:ext>
                </a:extLst>
              </p:cNvPr>
              <p:cNvSpPr txBox="1"/>
              <p:nvPr/>
            </p:nvSpPr>
            <p:spPr>
              <a:xfrm>
                <a:off x="1510810" y="1441649"/>
                <a:ext cx="91841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E6913-DF1C-1167-3195-E70BEEBEB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810" y="1441649"/>
                <a:ext cx="918411" cy="292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D0E673-A5FB-1350-681E-3E33FBB36780}"/>
                  </a:ext>
                </a:extLst>
              </p:cNvPr>
              <p:cNvSpPr txBox="1"/>
              <p:nvPr/>
            </p:nvSpPr>
            <p:spPr>
              <a:xfrm>
                <a:off x="2793878" y="1486705"/>
                <a:ext cx="16414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D0E673-A5FB-1350-681E-3E33FBB36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878" y="1486705"/>
                <a:ext cx="164148" cy="430887"/>
              </a:xfrm>
              <a:prstGeom prst="rect">
                <a:avLst/>
              </a:prstGeom>
              <a:blipFill>
                <a:blip r:embed="rId4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81380-027F-7E39-C34C-B27D3FDD0F58}"/>
                  </a:ext>
                </a:extLst>
              </p:cNvPr>
              <p:cNvSpPr txBox="1"/>
              <p:nvPr/>
            </p:nvSpPr>
            <p:spPr>
              <a:xfrm>
                <a:off x="4107626" y="1788467"/>
                <a:ext cx="14907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81380-027F-7E39-C34C-B27D3FDD0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626" y="1788467"/>
                <a:ext cx="149079" cy="215444"/>
              </a:xfrm>
              <a:prstGeom prst="rect">
                <a:avLst/>
              </a:prstGeom>
              <a:blipFill>
                <a:blip r:embed="rId5"/>
                <a:stretch>
                  <a:fillRect l="-23077" r="-1538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0191C-FCEC-C524-5A2F-A7ACF4430BD2}"/>
                  </a:ext>
                </a:extLst>
              </p:cNvPr>
              <p:cNvSpPr txBox="1"/>
              <p:nvPr/>
            </p:nvSpPr>
            <p:spPr>
              <a:xfrm>
                <a:off x="4078679" y="1235986"/>
                <a:ext cx="1625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0191C-FCEC-C524-5A2F-A7ACF4430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679" y="1235986"/>
                <a:ext cx="162545" cy="430887"/>
              </a:xfrm>
              <a:prstGeom prst="rect">
                <a:avLst/>
              </a:prstGeom>
              <a:blipFill>
                <a:blip r:embed="rId6"/>
                <a:stretch>
                  <a:fillRect l="-28571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D32A1BD5-F851-867A-41ED-B40DEB472BAF}"/>
              </a:ext>
            </a:extLst>
          </p:cNvPr>
          <p:cNvSpPr/>
          <p:nvPr/>
        </p:nvSpPr>
        <p:spPr>
          <a:xfrm>
            <a:off x="716133" y="3248103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A5C8CC-5A7A-EB00-9965-20C64148F50C}"/>
              </a:ext>
            </a:extLst>
          </p:cNvPr>
          <p:cNvSpPr/>
          <p:nvPr/>
        </p:nvSpPr>
        <p:spPr>
          <a:xfrm>
            <a:off x="1958590" y="3246229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A5E36E-FE81-730F-ECC3-21F5D061E179}"/>
              </a:ext>
            </a:extLst>
          </p:cNvPr>
          <p:cNvSpPr/>
          <p:nvPr/>
        </p:nvSpPr>
        <p:spPr>
          <a:xfrm>
            <a:off x="3172817" y="324601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9407C4-A322-5B86-5740-D190647D584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325733" y="3522299"/>
            <a:ext cx="632857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A1A47E-BE7E-F7EE-3CAF-AD007DB0EC6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568190" y="3520213"/>
            <a:ext cx="604627" cy="21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1F05FA-1B92-0B3F-F3B8-64B5BE94FC92}"/>
                  </a:ext>
                </a:extLst>
              </p:cNvPr>
              <p:cNvSpPr txBox="1"/>
              <p:nvPr/>
            </p:nvSpPr>
            <p:spPr>
              <a:xfrm>
                <a:off x="1324147" y="3246017"/>
                <a:ext cx="6328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1F05FA-1B92-0B3F-F3B8-64B5BE94F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147" y="3246017"/>
                <a:ext cx="632857" cy="307777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5F548C-46CA-507B-E052-BE18A76F0D28}"/>
                  </a:ext>
                </a:extLst>
              </p:cNvPr>
              <p:cNvSpPr txBox="1"/>
              <p:nvPr/>
            </p:nvSpPr>
            <p:spPr>
              <a:xfrm>
                <a:off x="2793878" y="3276436"/>
                <a:ext cx="16414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5F548C-46CA-507B-E052-BE18A76F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878" y="3276436"/>
                <a:ext cx="164148" cy="430887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912DBB58-2721-0236-2F55-1FD7E794B785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5400000">
            <a:off x="2518283" y="1030049"/>
            <a:ext cx="720705" cy="3715403"/>
          </a:xfrm>
          <a:prstGeom prst="bentConnector3">
            <a:avLst>
              <a:gd name="adj1" fmla="val 40132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112607-289C-7F49-12FB-050F315ADAD4}"/>
                  </a:ext>
                </a:extLst>
              </p:cNvPr>
              <p:cNvSpPr txBox="1"/>
              <p:nvPr/>
            </p:nvSpPr>
            <p:spPr>
              <a:xfrm>
                <a:off x="3214530" y="2598330"/>
                <a:ext cx="1835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112607-289C-7F49-12FB-050F315A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530" y="2598330"/>
                <a:ext cx="183512" cy="215444"/>
              </a:xfrm>
              <a:prstGeom prst="rect">
                <a:avLst/>
              </a:prstGeom>
              <a:blipFill>
                <a:blip r:embed="rId9"/>
                <a:stretch>
                  <a:fillRect l="-6250" r="-6250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B002C33-0E3A-2C3F-2962-E8576CD66350}"/>
              </a:ext>
            </a:extLst>
          </p:cNvPr>
          <p:cNvCxnSpPr>
            <a:cxnSpLocks/>
            <a:stCxn id="55" idx="2"/>
            <a:endCxn id="18" idx="2"/>
          </p:cNvCxnSpPr>
          <p:nvPr/>
        </p:nvCxnSpPr>
        <p:spPr>
          <a:xfrm rot="5400000" flipH="1">
            <a:off x="2629112" y="2188315"/>
            <a:ext cx="509833" cy="3726192"/>
          </a:xfrm>
          <a:prstGeom prst="bentConnector3">
            <a:avLst>
              <a:gd name="adj1" fmla="val -72738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1EF9962-1FE1-3958-B845-2ABE5E856A9B}"/>
                  </a:ext>
                </a:extLst>
              </p:cNvPr>
              <p:cNvSpPr txBox="1"/>
              <p:nvPr/>
            </p:nvSpPr>
            <p:spPr>
              <a:xfrm>
                <a:off x="2836170" y="4434783"/>
                <a:ext cx="94217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1EF9962-1FE1-3958-B845-2ABE5E856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170" y="4434783"/>
                <a:ext cx="942177" cy="215444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CC042A1-0473-499C-D273-30A30C53A6E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29238" y="2025388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34362A0-3F3A-6719-C429-A59A04F8E0DD}"/>
                  </a:ext>
                </a:extLst>
              </p:cNvPr>
              <p:cNvSpPr txBox="1"/>
              <p:nvPr/>
            </p:nvSpPr>
            <p:spPr>
              <a:xfrm>
                <a:off x="818215" y="2073850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34362A0-3F3A-6719-C429-A59A04F8E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15" y="2073850"/>
                <a:ext cx="33041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DA514A1A-C292-2664-B90C-C42ADF414023}"/>
              </a:ext>
            </a:extLst>
          </p:cNvPr>
          <p:cNvCxnSpPr>
            <a:cxnSpLocks/>
          </p:cNvCxnSpPr>
          <p:nvPr/>
        </p:nvCxnSpPr>
        <p:spPr>
          <a:xfrm flipH="1">
            <a:off x="1988192" y="2035017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F73C6C1C-4057-7A7C-7D7F-3C3DD10121E6}"/>
                  </a:ext>
                </a:extLst>
              </p:cNvPr>
              <p:cNvSpPr txBox="1"/>
              <p:nvPr/>
            </p:nvSpPr>
            <p:spPr>
              <a:xfrm>
                <a:off x="2077169" y="2083479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F73C6C1C-4057-7A7C-7D7F-3C3DD1012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69" y="2083479"/>
                <a:ext cx="330411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57EBDD8C-8510-43DA-99D2-5394E8AAE3CB}"/>
              </a:ext>
            </a:extLst>
          </p:cNvPr>
          <p:cNvCxnSpPr>
            <a:cxnSpLocks/>
          </p:cNvCxnSpPr>
          <p:nvPr/>
        </p:nvCxnSpPr>
        <p:spPr>
          <a:xfrm flipH="1">
            <a:off x="3186170" y="2053040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98CC100-445B-0385-D097-0FBC3BDBCD8C}"/>
                  </a:ext>
                </a:extLst>
              </p:cNvPr>
              <p:cNvSpPr txBox="1"/>
              <p:nvPr/>
            </p:nvSpPr>
            <p:spPr>
              <a:xfrm>
                <a:off x="3275147" y="2101502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98CC100-445B-0385-D097-0FBC3BDBC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47" y="2101502"/>
                <a:ext cx="330411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B5A9B7E2-74FD-DBEA-34AA-5554CDFF60AE}"/>
              </a:ext>
            </a:extLst>
          </p:cNvPr>
          <p:cNvCxnSpPr>
            <a:cxnSpLocks/>
          </p:cNvCxnSpPr>
          <p:nvPr/>
        </p:nvCxnSpPr>
        <p:spPr>
          <a:xfrm flipH="1">
            <a:off x="729238" y="3804509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EB01434-97CD-48BF-A9BB-906D900BD28E}"/>
                  </a:ext>
                </a:extLst>
              </p:cNvPr>
              <p:cNvSpPr txBox="1"/>
              <p:nvPr/>
            </p:nvSpPr>
            <p:spPr>
              <a:xfrm>
                <a:off x="767413" y="385297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EB01434-97CD-48BF-A9BB-906D900B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13" y="3852971"/>
                <a:ext cx="33041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24263181-6436-DFD0-151E-FFB58228D9E9}"/>
              </a:ext>
            </a:extLst>
          </p:cNvPr>
          <p:cNvCxnSpPr>
            <a:cxnSpLocks/>
          </p:cNvCxnSpPr>
          <p:nvPr/>
        </p:nvCxnSpPr>
        <p:spPr>
          <a:xfrm flipH="1">
            <a:off x="1988192" y="3799479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EF01057-1353-7B0A-3B61-FF27CFF9A310}"/>
                  </a:ext>
                </a:extLst>
              </p:cNvPr>
              <p:cNvSpPr txBox="1"/>
              <p:nvPr/>
            </p:nvSpPr>
            <p:spPr>
              <a:xfrm>
                <a:off x="2077169" y="384794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EF01057-1353-7B0A-3B61-FF27CFF9A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69" y="3847941"/>
                <a:ext cx="33041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11854936-912C-19B9-0EDA-2DAF557F989A}"/>
              </a:ext>
            </a:extLst>
          </p:cNvPr>
          <p:cNvCxnSpPr>
            <a:cxnSpLocks/>
          </p:cNvCxnSpPr>
          <p:nvPr/>
        </p:nvCxnSpPr>
        <p:spPr>
          <a:xfrm flipH="1">
            <a:off x="3186170" y="3795680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5081138-AD91-88C7-C7F0-73AB2D44DD3E}"/>
                  </a:ext>
                </a:extLst>
              </p:cNvPr>
              <p:cNvSpPr txBox="1"/>
              <p:nvPr/>
            </p:nvSpPr>
            <p:spPr>
              <a:xfrm>
                <a:off x="3275147" y="3844142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5081138-AD91-88C7-C7F0-73AB2D44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47" y="3844142"/>
                <a:ext cx="330411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C5ECAB-1D67-A3C8-2B09-37583778D8F8}"/>
                  </a:ext>
                </a:extLst>
              </p:cNvPr>
              <p:cNvSpPr txBox="1"/>
              <p:nvPr/>
            </p:nvSpPr>
            <p:spPr>
              <a:xfrm>
                <a:off x="5884464" y="1452975"/>
                <a:ext cx="2157963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C5ECAB-1D67-A3C8-2B09-37583778D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464" y="1452975"/>
                <a:ext cx="2157963" cy="3539430"/>
              </a:xfrm>
              <a:prstGeom prst="rect">
                <a:avLst/>
              </a:prstGeom>
              <a:blipFill>
                <a:blip r:embed="rId16"/>
                <a:stretch>
                  <a:fillRect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67DD3F58-4A67-430E-19B8-DAA392FF1A1D}"/>
              </a:ext>
            </a:extLst>
          </p:cNvPr>
          <p:cNvSpPr/>
          <p:nvPr/>
        </p:nvSpPr>
        <p:spPr>
          <a:xfrm>
            <a:off x="4442325" y="3757936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3A5D67-55DD-96DE-D54C-8B576E6AD987}"/>
              </a:ext>
            </a:extLst>
          </p:cNvPr>
          <p:cNvSpPr/>
          <p:nvPr/>
        </p:nvSpPr>
        <p:spPr>
          <a:xfrm>
            <a:off x="4438097" y="2897411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FEBB31D-B72C-3A11-9D6F-CCD10D1148B4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798733" y="3545887"/>
            <a:ext cx="643592" cy="486245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07D3E03-AFE1-697E-C19E-0827E2712453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98733" y="3171607"/>
            <a:ext cx="639364" cy="37428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0D6FF5-FF6E-CC3C-162E-0884660E4A99}"/>
                  </a:ext>
                </a:extLst>
              </p:cNvPr>
              <p:cNvSpPr txBox="1"/>
              <p:nvPr/>
            </p:nvSpPr>
            <p:spPr>
              <a:xfrm>
                <a:off x="4118415" y="3567396"/>
                <a:ext cx="14907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0D6FF5-FF6E-CC3C-162E-0884660E4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415" y="3567396"/>
                <a:ext cx="149079" cy="215444"/>
              </a:xfrm>
              <a:prstGeom prst="rect">
                <a:avLst/>
              </a:prstGeom>
              <a:blipFill>
                <a:blip r:embed="rId17"/>
                <a:stretch>
                  <a:fillRect l="-25000" r="-25000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541F6B9-71A4-2B98-5EBB-D4191C771823}"/>
                  </a:ext>
                </a:extLst>
              </p:cNvPr>
              <p:cNvSpPr txBox="1"/>
              <p:nvPr/>
            </p:nvSpPr>
            <p:spPr>
              <a:xfrm>
                <a:off x="4089468" y="3014915"/>
                <a:ext cx="1625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541F6B9-71A4-2B98-5EBB-D4191C77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68" y="3014915"/>
                <a:ext cx="162545" cy="430887"/>
              </a:xfrm>
              <a:prstGeom prst="rect">
                <a:avLst/>
              </a:prstGeom>
              <a:blipFill>
                <a:blip r:embed="rId18"/>
                <a:stretch>
                  <a:fillRect l="-28571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FD72DED-1BCB-3CE5-071B-34786BBF717A}"/>
              </a:ext>
            </a:extLst>
          </p:cNvPr>
          <p:cNvCxnSpPr>
            <a:cxnSpLocks/>
          </p:cNvCxnSpPr>
          <p:nvPr/>
        </p:nvCxnSpPr>
        <p:spPr>
          <a:xfrm flipH="1">
            <a:off x="4435977" y="2541096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D32AD20-B02E-8C94-6892-29A4A21A9EFF}"/>
                  </a:ext>
                </a:extLst>
              </p:cNvPr>
              <p:cNvSpPr txBox="1"/>
              <p:nvPr/>
            </p:nvSpPr>
            <p:spPr>
              <a:xfrm>
                <a:off x="4494474" y="2589558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D32AD20-B02E-8C94-6892-29A4A21A9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474" y="2589558"/>
                <a:ext cx="330411" cy="2462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4425441-8E09-73C2-F340-79AF8B2DA140}"/>
              </a:ext>
            </a:extLst>
          </p:cNvPr>
          <p:cNvCxnSpPr>
            <a:cxnSpLocks/>
          </p:cNvCxnSpPr>
          <p:nvPr/>
        </p:nvCxnSpPr>
        <p:spPr>
          <a:xfrm flipH="1">
            <a:off x="4454323" y="4307069"/>
            <a:ext cx="288787" cy="2554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D22BD41-8BE0-38B3-C426-9A2667FEDE6D}"/>
                  </a:ext>
                </a:extLst>
              </p:cNvPr>
              <p:cNvSpPr txBox="1"/>
              <p:nvPr/>
            </p:nvSpPr>
            <p:spPr>
              <a:xfrm>
                <a:off x="4502660" y="436569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D22BD41-8BE0-38B3-C426-9A2667FED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660" y="4365691"/>
                <a:ext cx="33041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11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FE9C5E00-6743-7243-4577-649BF91B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5544838B-98DC-BEEC-DCB9-64EEF40060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Age-Stratified SEIRD Model 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7C99C-9C64-B925-2D47-2D3365F4D949}"/>
              </a:ext>
            </a:extLst>
          </p:cNvPr>
          <p:cNvSpPr/>
          <p:nvPr/>
        </p:nvSpPr>
        <p:spPr>
          <a:xfrm>
            <a:off x="713225" y="147699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47B91-1909-BAF0-62C2-00E0B27315FE}"/>
              </a:ext>
            </a:extLst>
          </p:cNvPr>
          <p:cNvSpPr/>
          <p:nvPr/>
        </p:nvSpPr>
        <p:spPr>
          <a:xfrm>
            <a:off x="1959144" y="1476997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AA1DB9-B378-EEC1-2A50-CD268FB5EAA0}"/>
              </a:ext>
            </a:extLst>
          </p:cNvPr>
          <p:cNvSpPr/>
          <p:nvPr/>
        </p:nvSpPr>
        <p:spPr>
          <a:xfrm>
            <a:off x="3178344" y="1492762"/>
            <a:ext cx="609600" cy="548391"/>
          </a:xfrm>
          <a:prstGeom prst="rect">
            <a:avLst/>
          </a:prstGeom>
          <a:noFill/>
          <a:ln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93488-C61B-A5F6-0790-583757BCAF18}"/>
              </a:ext>
            </a:extLst>
          </p:cNvPr>
          <p:cNvSpPr/>
          <p:nvPr/>
        </p:nvSpPr>
        <p:spPr>
          <a:xfrm>
            <a:off x="4431536" y="1979007"/>
            <a:ext cx="609600" cy="548391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B1559-8EEB-DCDF-DDC1-FA3435A628BF}"/>
              </a:ext>
            </a:extLst>
          </p:cNvPr>
          <p:cNvSpPr/>
          <p:nvPr/>
        </p:nvSpPr>
        <p:spPr>
          <a:xfrm>
            <a:off x="4427308" y="1118482"/>
            <a:ext cx="609600" cy="548391"/>
          </a:xfrm>
          <a:prstGeom prst="rect">
            <a:avLst/>
          </a:prstGeom>
          <a:noFill/>
          <a:ln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E713E-FE69-DE2C-A421-DCEEE87A51E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322825" y="1751193"/>
            <a:ext cx="635765" cy="0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01AC4C-C5CB-2250-36C6-85EC6E4BD96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568744" y="1766940"/>
            <a:ext cx="609600" cy="1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BEFCEA-46CC-69EE-5A08-F39E1C00DB8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787944" y="1766958"/>
            <a:ext cx="643592" cy="486245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FCBB82-AC12-5912-5E6F-23EF1FF9DDD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787944" y="1392678"/>
            <a:ext cx="639364" cy="374280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1249EF-2EAD-13C8-0F18-4D53A2AE634B}"/>
                  </a:ext>
                </a:extLst>
              </p:cNvPr>
              <p:cNvSpPr txBox="1"/>
              <p:nvPr/>
            </p:nvSpPr>
            <p:spPr>
              <a:xfrm>
                <a:off x="1510810" y="1441649"/>
                <a:ext cx="91841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30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00" dirty="0">
                    <a:solidFill>
                      <a:schemeClr val="bg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1249EF-2EAD-13C8-0F18-4D53A2AE6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810" y="1441649"/>
                <a:ext cx="918411" cy="292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170C1-BE9B-ACD1-B329-FFF358FDE2C1}"/>
                  </a:ext>
                </a:extLst>
              </p:cNvPr>
              <p:cNvSpPr txBox="1"/>
              <p:nvPr/>
            </p:nvSpPr>
            <p:spPr>
              <a:xfrm>
                <a:off x="2793878" y="1486705"/>
                <a:ext cx="16414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b="0" dirty="0">
                  <a:solidFill>
                    <a:schemeClr val="accent3">
                      <a:lumMod val="8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170C1-BE9B-ACD1-B329-FFF358FDE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878" y="1486705"/>
                <a:ext cx="164148" cy="430887"/>
              </a:xfrm>
              <a:prstGeom prst="rect">
                <a:avLst/>
              </a:prstGeom>
              <a:blipFill>
                <a:blip r:embed="rId4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E8E18-583C-6CFE-0397-11622E3653CA}"/>
                  </a:ext>
                </a:extLst>
              </p:cNvPr>
              <p:cNvSpPr txBox="1"/>
              <p:nvPr/>
            </p:nvSpPr>
            <p:spPr>
              <a:xfrm>
                <a:off x="4107626" y="1788467"/>
                <a:ext cx="14907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E8E18-583C-6CFE-0397-11622E36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626" y="1788467"/>
                <a:ext cx="149079" cy="215444"/>
              </a:xfrm>
              <a:prstGeom prst="rect">
                <a:avLst/>
              </a:prstGeom>
              <a:blipFill>
                <a:blip r:embed="rId5"/>
                <a:stretch>
                  <a:fillRect l="-23077" r="-1538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F44430-1266-4700-65F9-2D660A87B577}"/>
                  </a:ext>
                </a:extLst>
              </p:cNvPr>
              <p:cNvSpPr txBox="1"/>
              <p:nvPr/>
            </p:nvSpPr>
            <p:spPr>
              <a:xfrm>
                <a:off x="4078679" y="1235986"/>
                <a:ext cx="1625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accent6">
                      <a:lumMod val="95000"/>
                    </a:schemeClr>
                  </a:solidFill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F44430-1266-4700-65F9-2D660A87B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679" y="1235986"/>
                <a:ext cx="162545" cy="430887"/>
              </a:xfrm>
              <a:prstGeom prst="rect">
                <a:avLst/>
              </a:prstGeom>
              <a:blipFill>
                <a:blip r:embed="rId6"/>
                <a:stretch>
                  <a:fillRect l="-28571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91239186-99DA-4F8E-28A9-1961E71E4684}"/>
              </a:ext>
            </a:extLst>
          </p:cNvPr>
          <p:cNvSpPr/>
          <p:nvPr/>
        </p:nvSpPr>
        <p:spPr>
          <a:xfrm>
            <a:off x="716133" y="3248103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7ED33D-1C75-DDE5-F0A9-46577514084A}"/>
              </a:ext>
            </a:extLst>
          </p:cNvPr>
          <p:cNvSpPr/>
          <p:nvPr/>
        </p:nvSpPr>
        <p:spPr>
          <a:xfrm>
            <a:off x="1958590" y="3246229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1411BA-8C80-67A0-A94A-ECA45D4DA659}"/>
              </a:ext>
            </a:extLst>
          </p:cNvPr>
          <p:cNvSpPr/>
          <p:nvPr/>
        </p:nvSpPr>
        <p:spPr>
          <a:xfrm>
            <a:off x="3172817" y="3246017"/>
            <a:ext cx="609600" cy="548391"/>
          </a:xfrm>
          <a:prstGeom prst="rect">
            <a:avLst/>
          </a:prstGeom>
          <a:noFill/>
          <a:ln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D20607-9747-6EE9-B135-1268495F788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325733" y="3522299"/>
            <a:ext cx="632857" cy="0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217952-5704-8052-1D20-6057861AEA7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568190" y="3520213"/>
            <a:ext cx="604627" cy="212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EFF29E-1943-8C92-CF85-96ED9AEF7202}"/>
                  </a:ext>
                </a:extLst>
              </p:cNvPr>
              <p:cNvSpPr txBox="1"/>
              <p:nvPr/>
            </p:nvSpPr>
            <p:spPr>
              <a:xfrm>
                <a:off x="1321505" y="3213478"/>
                <a:ext cx="6328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𝑠𝑠</m:t>
                      </m:r>
                      <m: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EFF29E-1943-8C92-CF85-96ED9AEF7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505" y="3213478"/>
                <a:ext cx="632857" cy="307777"/>
              </a:xfrm>
              <a:prstGeom prst="rect">
                <a:avLst/>
              </a:prstGeom>
              <a:blipFill>
                <a:blip r:embed="rId7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BE57AF-9358-B4CD-58C7-9474DE3BFB4D}"/>
                  </a:ext>
                </a:extLst>
              </p:cNvPr>
              <p:cNvSpPr txBox="1"/>
              <p:nvPr/>
            </p:nvSpPr>
            <p:spPr>
              <a:xfrm>
                <a:off x="2793878" y="3276436"/>
                <a:ext cx="16414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BE57AF-9358-B4CD-58C7-9474DE3B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878" y="3276436"/>
                <a:ext cx="164148" cy="430887"/>
              </a:xfrm>
              <a:prstGeom prst="rect">
                <a:avLst/>
              </a:prstGeom>
              <a:blipFill>
                <a:blip r:embed="rId8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8DF068A-E905-C6A0-ABCD-7BD7B8003CB6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5400000">
            <a:off x="2518283" y="1030049"/>
            <a:ext cx="720705" cy="3715403"/>
          </a:xfrm>
          <a:prstGeom prst="bentConnector3">
            <a:avLst>
              <a:gd name="adj1" fmla="val 40132"/>
            </a:avLst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B359C8-B648-90F1-DC0D-775B7AD36CB9}"/>
                  </a:ext>
                </a:extLst>
              </p:cNvPr>
              <p:cNvSpPr txBox="1"/>
              <p:nvPr/>
            </p:nvSpPr>
            <p:spPr>
              <a:xfrm>
                <a:off x="3214530" y="2598330"/>
                <a:ext cx="1835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1B359C8-B648-90F1-DC0D-775B7AD36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530" y="2598330"/>
                <a:ext cx="183512" cy="215444"/>
              </a:xfrm>
              <a:prstGeom prst="rect">
                <a:avLst/>
              </a:prstGeom>
              <a:blipFill>
                <a:blip r:embed="rId9"/>
                <a:stretch>
                  <a:fillRect l="-6250" r="-6250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58D83079-4FEA-B296-82C1-D1E7E7AE3CAA}"/>
              </a:ext>
            </a:extLst>
          </p:cNvPr>
          <p:cNvCxnSpPr>
            <a:cxnSpLocks/>
            <a:stCxn id="55" idx="2"/>
            <a:endCxn id="18" idx="2"/>
          </p:cNvCxnSpPr>
          <p:nvPr/>
        </p:nvCxnSpPr>
        <p:spPr>
          <a:xfrm rot="5400000" flipH="1">
            <a:off x="2629112" y="2188315"/>
            <a:ext cx="509833" cy="3726192"/>
          </a:xfrm>
          <a:prstGeom prst="bentConnector3">
            <a:avLst>
              <a:gd name="adj1" fmla="val -72738"/>
            </a:avLst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3928B729-F3BF-27DC-50F4-65E685812944}"/>
                  </a:ext>
                </a:extLst>
              </p:cNvPr>
              <p:cNvSpPr txBox="1"/>
              <p:nvPr/>
            </p:nvSpPr>
            <p:spPr>
              <a:xfrm>
                <a:off x="2836170" y="4434783"/>
                <a:ext cx="94217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b="0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3928B729-F3BF-27DC-50F4-65E685812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170" y="4434783"/>
                <a:ext cx="942177" cy="215444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DA2E895B-110C-6A28-1961-D943DA2B1C5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29238" y="2025388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A6379177-9F6B-7194-8D24-4318383B0006}"/>
                  </a:ext>
                </a:extLst>
              </p:cNvPr>
              <p:cNvSpPr txBox="1"/>
              <p:nvPr/>
            </p:nvSpPr>
            <p:spPr>
              <a:xfrm>
                <a:off x="818215" y="2073850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6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A6379177-9F6B-7194-8D24-4318383B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15" y="2073850"/>
                <a:ext cx="33041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1BF31899-73D5-2ECF-CB58-60B7CE34AAD7}"/>
              </a:ext>
            </a:extLst>
          </p:cNvPr>
          <p:cNvCxnSpPr>
            <a:cxnSpLocks/>
          </p:cNvCxnSpPr>
          <p:nvPr/>
        </p:nvCxnSpPr>
        <p:spPr>
          <a:xfrm flipH="1">
            <a:off x="1988192" y="2035017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D11A70CC-3DEA-218F-0F42-11DE869C6C5A}"/>
                  </a:ext>
                </a:extLst>
              </p:cNvPr>
              <p:cNvSpPr txBox="1"/>
              <p:nvPr/>
            </p:nvSpPr>
            <p:spPr>
              <a:xfrm>
                <a:off x="2077169" y="2083479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3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D11A70CC-3DEA-218F-0F42-11DE869C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69" y="2083479"/>
                <a:ext cx="330411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48751EE8-0788-5E75-D2E9-8CB04C20BB60}"/>
              </a:ext>
            </a:extLst>
          </p:cNvPr>
          <p:cNvCxnSpPr>
            <a:cxnSpLocks/>
          </p:cNvCxnSpPr>
          <p:nvPr/>
        </p:nvCxnSpPr>
        <p:spPr>
          <a:xfrm flipH="1">
            <a:off x="3186170" y="2053040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A6040BB-752E-AE7D-3CDC-E86A5CEFDC00}"/>
                  </a:ext>
                </a:extLst>
              </p:cNvPr>
              <p:cNvSpPr txBox="1"/>
              <p:nvPr/>
            </p:nvSpPr>
            <p:spPr>
              <a:xfrm>
                <a:off x="3275147" y="2101502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3">
                      <a:lumMod val="8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0A6040BB-752E-AE7D-3CDC-E86A5CEFD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47" y="2101502"/>
                <a:ext cx="330411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7A26E796-8DFA-82E4-3081-2A230281C7AD}"/>
              </a:ext>
            </a:extLst>
          </p:cNvPr>
          <p:cNvCxnSpPr>
            <a:cxnSpLocks/>
          </p:cNvCxnSpPr>
          <p:nvPr/>
        </p:nvCxnSpPr>
        <p:spPr>
          <a:xfrm flipH="1">
            <a:off x="729238" y="3804509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06C35E-E9DA-0CE7-E87C-54AF9962B092}"/>
                  </a:ext>
                </a:extLst>
              </p:cNvPr>
              <p:cNvSpPr txBox="1"/>
              <p:nvPr/>
            </p:nvSpPr>
            <p:spPr>
              <a:xfrm>
                <a:off x="767413" y="385297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6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06C35E-E9DA-0CE7-E87C-54AF9962B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13" y="3852971"/>
                <a:ext cx="33041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528636C4-5B3E-4C37-2116-7239F0416D62}"/>
              </a:ext>
            </a:extLst>
          </p:cNvPr>
          <p:cNvCxnSpPr>
            <a:cxnSpLocks/>
          </p:cNvCxnSpPr>
          <p:nvPr/>
        </p:nvCxnSpPr>
        <p:spPr>
          <a:xfrm flipH="1">
            <a:off x="1988192" y="3799479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0B1CC00F-E1F8-D63F-9FAC-82DDB8C06B23}"/>
                  </a:ext>
                </a:extLst>
              </p:cNvPr>
              <p:cNvSpPr txBox="1"/>
              <p:nvPr/>
            </p:nvSpPr>
            <p:spPr>
              <a:xfrm>
                <a:off x="2077169" y="384794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0B1CC00F-E1F8-D63F-9FAC-82DDB8C06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69" y="3847941"/>
                <a:ext cx="33041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1E09094C-B164-5911-AF99-F42A03E11996}"/>
              </a:ext>
            </a:extLst>
          </p:cNvPr>
          <p:cNvCxnSpPr>
            <a:cxnSpLocks/>
          </p:cNvCxnSpPr>
          <p:nvPr/>
        </p:nvCxnSpPr>
        <p:spPr>
          <a:xfrm flipH="1">
            <a:off x="3186170" y="3795680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AB8D06C6-22A5-1C89-B633-9A72E462D1BD}"/>
                  </a:ext>
                </a:extLst>
              </p:cNvPr>
              <p:cNvSpPr txBox="1"/>
              <p:nvPr/>
            </p:nvSpPr>
            <p:spPr>
              <a:xfrm>
                <a:off x="3275147" y="3844142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AB8D06C6-22A5-1C89-B633-9A72E462D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147" y="3844142"/>
                <a:ext cx="330411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6FC581-6692-C0F5-D29A-000D6FA41BA9}"/>
                  </a:ext>
                </a:extLst>
              </p:cNvPr>
              <p:cNvSpPr txBox="1"/>
              <p:nvPr/>
            </p:nvSpPr>
            <p:spPr>
              <a:xfrm>
                <a:off x="5884464" y="1452975"/>
                <a:ext cx="2157963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9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16FC581-6692-C0F5-D29A-000D6FA4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464" y="1452975"/>
                <a:ext cx="2157963" cy="3539430"/>
              </a:xfrm>
              <a:prstGeom prst="rect">
                <a:avLst/>
              </a:prstGeom>
              <a:blipFill>
                <a:blip r:embed="rId16"/>
                <a:stretch>
                  <a:fillRect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DB4E3081-58BA-D778-71B0-1A62113ECB06}"/>
              </a:ext>
            </a:extLst>
          </p:cNvPr>
          <p:cNvSpPr/>
          <p:nvPr/>
        </p:nvSpPr>
        <p:spPr>
          <a:xfrm>
            <a:off x="4442325" y="3757936"/>
            <a:ext cx="609600" cy="548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3CDA1A-1ECB-BAB3-51A8-D1FC1FA81768}"/>
              </a:ext>
            </a:extLst>
          </p:cNvPr>
          <p:cNvSpPr/>
          <p:nvPr/>
        </p:nvSpPr>
        <p:spPr>
          <a:xfrm>
            <a:off x="4438097" y="2897411"/>
            <a:ext cx="609600" cy="548391"/>
          </a:xfrm>
          <a:prstGeom prst="rect">
            <a:avLst/>
          </a:prstGeom>
          <a:noFill/>
          <a:ln>
            <a:solidFill>
              <a:schemeClr val="accent6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CF18A77-F94B-7904-2D3D-58B9529FE602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3798733" y="3545887"/>
            <a:ext cx="643592" cy="486245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16C583F-0FB3-CA84-FB83-971E56A3C53E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98733" y="3171607"/>
            <a:ext cx="639364" cy="374280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90D781-8B06-DFE2-C275-0D9664515D33}"/>
                  </a:ext>
                </a:extLst>
              </p:cNvPr>
              <p:cNvSpPr txBox="1"/>
              <p:nvPr/>
            </p:nvSpPr>
            <p:spPr>
              <a:xfrm>
                <a:off x="4118415" y="3567396"/>
                <a:ext cx="149079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E90D781-8B06-DFE2-C275-0D9664515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415" y="3567396"/>
                <a:ext cx="149079" cy="215444"/>
              </a:xfrm>
              <a:prstGeom prst="rect">
                <a:avLst/>
              </a:prstGeom>
              <a:blipFill>
                <a:blip r:embed="rId17"/>
                <a:stretch>
                  <a:fillRect l="-25000" r="-25000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E0B5ED0-B1A1-534B-12AC-25BB9E125C68}"/>
                  </a:ext>
                </a:extLst>
              </p:cNvPr>
              <p:cNvSpPr txBox="1"/>
              <p:nvPr/>
            </p:nvSpPr>
            <p:spPr>
              <a:xfrm>
                <a:off x="4089468" y="3014915"/>
                <a:ext cx="16254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E0B5ED0-B1A1-534B-12AC-25BB9E125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68" y="3014915"/>
                <a:ext cx="162545" cy="430887"/>
              </a:xfrm>
              <a:prstGeom prst="rect">
                <a:avLst/>
              </a:prstGeom>
              <a:blipFill>
                <a:blip r:embed="rId18"/>
                <a:stretch>
                  <a:fillRect l="-28571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B9D673B-1847-9F82-37CA-9E58E6085B38}"/>
              </a:ext>
            </a:extLst>
          </p:cNvPr>
          <p:cNvCxnSpPr>
            <a:cxnSpLocks/>
          </p:cNvCxnSpPr>
          <p:nvPr/>
        </p:nvCxnSpPr>
        <p:spPr>
          <a:xfrm flipH="1">
            <a:off x="4435977" y="2541096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E397651-2456-F3A7-4690-CEB368F8BF59}"/>
                  </a:ext>
                </a:extLst>
              </p:cNvPr>
              <p:cNvSpPr txBox="1"/>
              <p:nvPr/>
            </p:nvSpPr>
            <p:spPr>
              <a:xfrm>
                <a:off x="4494474" y="2589558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1E397651-2456-F3A7-4690-CEB368F8B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474" y="2589558"/>
                <a:ext cx="330411" cy="2462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CD154DC-6762-A268-649E-376D5EC27175}"/>
              </a:ext>
            </a:extLst>
          </p:cNvPr>
          <p:cNvCxnSpPr>
            <a:cxnSpLocks/>
          </p:cNvCxnSpPr>
          <p:nvPr/>
        </p:nvCxnSpPr>
        <p:spPr>
          <a:xfrm flipH="1">
            <a:off x="4454323" y="4307069"/>
            <a:ext cx="288787" cy="255428"/>
          </a:xfrm>
          <a:prstGeom prst="straightConnector1">
            <a:avLst/>
          </a:prstGeom>
          <a:ln>
            <a:solidFill>
              <a:schemeClr val="accent6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98BEFD8-6966-1D6F-455B-7A49AE037086}"/>
                  </a:ext>
                </a:extLst>
              </p:cNvPr>
              <p:cNvSpPr txBox="1"/>
              <p:nvPr/>
            </p:nvSpPr>
            <p:spPr>
              <a:xfrm>
                <a:off x="4502660" y="4365691"/>
                <a:ext cx="3304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accent6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98BEFD8-6966-1D6F-455B-7A49AE03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660" y="4365691"/>
                <a:ext cx="33041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B9F771C-27FF-A97E-1464-284FE6AF52C2}"/>
              </a:ext>
            </a:extLst>
          </p:cNvPr>
          <p:cNvCxnSpPr>
            <a:cxnSpLocks/>
            <a:stCxn id="2" idx="2"/>
            <a:endCxn id="55" idx="0"/>
          </p:cNvCxnSpPr>
          <p:nvPr/>
        </p:nvCxnSpPr>
        <p:spPr>
          <a:xfrm rot="16200000" flipH="1">
            <a:off x="2016301" y="1027112"/>
            <a:ext cx="1732548" cy="372910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09328D76-B96E-16A9-1086-D42361D66C75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 rot="16200000" flipH="1">
            <a:off x="2639260" y="1650071"/>
            <a:ext cx="1732548" cy="2483181"/>
          </a:xfrm>
          <a:prstGeom prst="curvedConnector3">
            <a:avLst>
              <a:gd name="adj1" fmla="val 32870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7A9A9DE-A325-48D7-ED6E-895A2C6527D7}"/>
              </a:ext>
            </a:extLst>
          </p:cNvPr>
          <p:cNvCxnSpPr>
            <a:cxnSpLocks/>
            <a:stCxn id="7" idx="2"/>
            <a:endCxn id="55" idx="0"/>
          </p:cNvCxnSpPr>
          <p:nvPr/>
        </p:nvCxnSpPr>
        <p:spPr>
          <a:xfrm>
            <a:off x="4736336" y="2527398"/>
            <a:ext cx="10789" cy="1230538"/>
          </a:xfrm>
          <a:prstGeom prst="straightConnector1">
            <a:avLst/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87164588-D92A-F91B-78AF-C08783FF7828}"/>
              </a:ext>
            </a:extLst>
          </p:cNvPr>
          <p:cNvCxnSpPr>
            <a:cxnSpLocks/>
            <a:stCxn id="18" idx="0"/>
            <a:endCxn id="55" idx="0"/>
          </p:cNvCxnSpPr>
          <p:nvPr/>
        </p:nvCxnSpPr>
        <p:spPr>
          <a:xfrm rot="16200000" flipH="1">
            <a:off x="2629112" y="1639923"/>
            <a:ext cx="509833" cy="3726192"/>
          </a:xfrm>
          <a:prstGeom prst="curvedConnector3">
            <a:avLst>
              <a:gd name="adj1" fmla="val -61962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D86CE7CB-2846-5192-E8B1-9A3BFCFDFCB2}"/>
              </a:ext>
            </a:extLst>
          </p:cNvPr>
          <p:cNvCxnSpPr>
            <a:cxnSpLocks/>
            <a:stCxn id="19" idx="0"/>
            <a:endCxn id="55" idx="0"/>
          </p:cNvCxnSpPr>
          <p:nvPr/>
        </p:nvCxnSpPr>
        <p:spPr>
          <a:xfrm rot="16200000" flipH="1">
            <a:off x="3249403" y="2260215"/>
            <a:ext cx="511707" cy="2483735"/>
          </a:xfrm>
          <a:prstGeom prst="curvedConnector3">
            <a:avLst>
              <a:gd name="adj1" fmla="val -34053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7D9BB8-C135-50B7-1D55-AC59E48D8442}"/>
                  </a:ext>
                </a:extLst>
              </p:cNvPr>
              <p:cNvSpPr txBox="1"/>
              <p:nvPr/>
            </p:nvSpPr>
            <p:spPr>
              <a:xfrm>
                <a:off x="1120738" y="2062155"/>
                <a:ext cx="3240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7D9BB8-C135-50B7-1D55-AC59E48D8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38" y="2062155"/>
                <a:ext cx="324063" cy="184666"/>
              </a:xfrm>
              <a:prstGeom prst="rect">
                <a:avLst/>
              </a:prstGeom>
              <a:blipFill>
                <a:blip r:embed="rId20"/>
                <a:stretch>
                  <a:fillRect l="-7692" r="-15385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1D4F977-8FCB-2291-F66D-FD2AD92C78B0}"/>
                  </a:ext>
                </a:extLst>
              </p:cNvPr>
              <p:cNvSpPr txBox="1"/>
              <p:nvPr/>
            </p:nvSpPr>
            <p:spPr>
              <a:xfrm>
                <a:off x="2412281" y="2041327"/>
                <a:ext cx="3240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1D4F977-8FCB-2291-F66D-FD2AD92C7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281" y="2041327"/>
                <a:ext cx="324063" cy="184666"/>
              </a:xfrm>
              <a:prstGeom prst="rect">
                <a:avLst/>
              </a:prstGeom>
              <a:blipFill>
                <a:blip r:embed="rId21"/>
                <a:stretch>
                  <a:fillRect l="-7692" r="-15385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E035CF3-11BE-4D37-066A-E29D054392AA}"/>
                  </a:ext>
                </a:extLst>
              </p:cNvPr>
              <p:cNvSpPr txBox="1"/>
              <p:nvPr/>
            </p:nvSpPr>
            <p:spPr>
              <a:xfrm>
                <a:off x="4760547" y="2569969"/>
                <a:ext cx="3240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E035CF3-11BE-4D37-066A-E29D05439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47" y="2569969"/>
                <a:ext cx="324063" cy="184666"/>
              </a:xfrm>
              <a:prstGeom prst="rect">
                <a:avLst/>
              </a:prstGeom>
              <a:blipFill>
                <a:blip r:embed="rId22"/>
                <a:stretch>
                  <a:fillRect l="-3704" r="-14815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132BDF30-8DF6-1240-423C-B384508798EC}"/>
                  </a:ext>
                </a:extLst>
              </p:cNvPr>
              <p:cNvSpPr txBox="1"/>
              <p:nvPr/>
            </p:nvSpPr>
            <p:spPr>
              <a:xfrm>
                <a:off x="1362589" y="3079040"/>
                <a:ext cx="3240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132BDF30-8DF6-1240-423C-B38450879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589" y="3079040"/>
                <a:ext cx="324063" cy="184666"/>
              </a:xfrm>
              <a:prstGeom prst="rect">
                <a:avLst/>
              </a:prstGeom>
              <a:blipFill>
                <a:blip r:embed="rId23"/>
                <a:stretch>
                  <a:fillRect l="-3846" r="-15385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9CCE4B4-8B5B-02D1-DE34-A3485C9B4118}"/>
                  </a:ext>
                </a:extLst>
              </p:cNvPr>
              <p:cNvSpPr txBox="1"/>
              <p:nvPr/>
            </p:nvSpPr>
            <p:spPr>
              <a:xfrm>
                <a:off x="2609394" y="3126405"/>
                <a:ext cx="32406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C9CCE4B4-8B5B-02D1-DE34-A3485C9B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394" y="3126405"/>
                <a:ext cx="324063" cy="184666"/>
              </a:xfrm>
              <a:prstGeom prst="rect">
                <a:avLst/>
              </a:prstGeom>
              <a:blipFill>
                <a:blip r:embed="rId24"/>
                <a:stretch>
                  <a:fillRect l="-3846" r="-15385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499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5C3EE616-0E3B-0308-88AC-741449ED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C407BBA6-A2A5-CED8-FB94-5E1945203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COVID-19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5AA7705-9529-90E4-B1E7-BF6381E0A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F68147-A5D2-84CC-C382-2ACAC4F58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105097"/>
              </p:ext>
            </p:extLst>
          </p:nvPr>
        </p:nvGraphicFramePr>
        <p:xfrm>
          <a:off x="3164541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CB58A-ECF2-0E8B-B384-6D03434B7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81720"/>
              </p:ext>
            </p:extLst>
          </p:nvPr>
        </p:nvGraphicFramePr>
        <p:xfrm>
          <a:off x="245749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931A36-D980-0A64-086B-2C0E8E24B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582944"/>
              </p:ext>
            </p:extLst>
          </p:nvPr>
        </p:nvGraphicFramePr>
        <p:xfrm>
          <a:off x="6083333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34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1636EB81-623E-C4BD-326F-B2C30244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2D31E2-4CED-60FB-798F-02A718EA2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20442B0C-FFBA-9950-31FC-DBA92F98B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76" y="328803"/>
            <a:ext cx="6843848" cy="47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41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53985A8E-8134-C550-33D5-0055867E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1B01AB-9BE7-F86B-43BE-811C57B35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69A101B3-70E1-1B99-84F2-7FB850D98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28" y="335280"/>
            <a:ext cx="6825343" cy="47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5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A85C9449-67C1-B3EB-DD29-F762DFBD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F92D25DB-C9C5-43E3-4F38-4AFCC81F5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Flu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C23F530-FE17-468C-B198-C2C57062F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A3BC3E-0B14-D3B6-009E-4DB240407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318244"/>
              </p:ext>
            </p:extLst>
          </p:nvPr>
        </p:nvGraphicFramePr>
        <p:xfrm>
          <a:off x="3164541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53.1%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D2E31F-5498-44DC-1174-9F581DA12103}"/>
              </a:ext>
            </a:extLst>
          </p:cNvPr>
          <p:cNvGraphicFramePr>
            <a:graphicFrameLocks noGrp="1"/>
          </p:cNvGraphicFramePr>
          <p:nvPr/>
        </p:nvGraphicFramePr>
        <p:xfrm>
          <a:off x="245749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C9FB65-7132-2E8B-D9C5-0161615F6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780686"/>
              </p:ext>
            </p:extLst>
          </p:nvPr>
        </p:nvGraphicFramePr>
        <p:xfrm>
          <a:off x="6083333" y="1771650"/>
          <a:ext cx="2510118" cy="1905000"/>
        </p:xfrm>
        <a:graphic>
          <a:graphicData uri="http://schemas.openxmlformats.org/drawingml/2006/table">
            <a:tbl>
              <a:tblPr firstRow="1" bandRow="1">
                <a:tableStyleId>{0084F75A-2F05-4FDF-92FC-A56C2412D897}</a:tableStyleId>
              </a:tblPr>
              <a:tblGrid>
                <a:gridCol w="1125654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384464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53.1%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53.1%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53.1%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5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0230AAA0-E857-E792-FCCB-51701596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580722-C35A-5ACE-7D24-F2363D2C31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73B324D5-923D-861B-D0DB-24BE4EEA2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996" y="325247"/>
            <a:ext cx="6854008" cy="479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16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1560F92C-8FA8-E1E4-DFC6-F5524BCB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C3D101F-E075-133F-A114-70D68776DA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2B121B5-760F-109C-C9A3-074A47818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614" y="342900"/>
            <a:ext cx="6803571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31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1B33CBA1-50B3-37FC-6AC5-69372199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05EBCDA3-7AFE-1558-25EA-A2DE55AC2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50046"/>
            <a:ext cx="8046096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 Pro" panose="02040502050405020303" pitchFamily="18" charset="0"/>
              </a:rPr>
              <a:t>Conclusions &amp; Future Research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23D91B0-EB78-FEB7-33FF-7C36E6ABB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Google Shape;208;p33">
            <a:extLst>
              <a:ext uri="{FF2B5EF4-FFF2-40B4-BE49-F238E27FC236}">
                <a16:creationId xmlns:a16="http://schemas.microsoft.com/office/drawing/2014/main" id="{7477304A-C91F-0ADA-8010-209556325E22}"/>
              </a:ext>
            </a:extLst>
          </p:cNvPr>
          <p:cNvSpPr txBox="1">
            <a:spLocks/>
          </p:cNvSpPr>
          <p:nvPr/>
        </p:nvSpPr>
        <p:spPr>
          <a:xfrm>
            <a:off x="713225" y="874130"/>
            <a:ext cx="7641503" cy="154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Vaccination can reduce the number of infections across different age groups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Vaccination can delay the second peak of infections over time  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For COVID-19, only increasing the vaccination rate for Children delays the second peak of infections in both children and adults with children</a:t>
            </a:r>
          </a:p>
        </p:txBody>
      </p:sp>
      <p:sp>
        <p:nvSpPr>
          <p:cNvPr id="3" name="Google Shape;208;p33">
            <a:extLst>
              <a:ext uri="{FF2B5EF4-FFF2-40B4-BE49-F238E27FC236}">
                <a16:creationId xmlns:a16="http://schemas.microsoft.com/office/drawing/2014/main" id="{77FD7C85-892E-8546-9D24-F03441148674}"/>
              </a:ext>
            </a:extLst>
          </p:cNvPr>
          <p:cNvSpPr txBox="1">
            <a:spLocks/>
          </p:cNvSpPr>
          <p:nvPr/>
        </p:nvSpPr>
        <p:spPr>
          <a:xfrm>
            <a:off x="713224" y="2189535"/>
            <a:ext cx="7641503" cy="154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For Flu, having the same vaccination coverage for all age groups is less impactful than for COVID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Future Research: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does vaccination in one group affect infection in a different group?</a:t>
            </a:r>
          </a:p>
          <a:p>
            <a:pPr lvl="2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does vaccinating children at a higher rate impact parents?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How can we optimize vaccination rates to get the least infections, critical illness, and deaths? </a:t>
            </a:r>
          </a:p>
          <a:p>
            <a:pPr lvl="1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What barriers are specific to each age group? What can be done to eliminate these barriers?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368039"/>
      </p:ext>
    </p:extLst>
  </p:cSld>
  <p:clrMapOvr>
    <a:masterClrMapping/>
  </p:clrMapOvr>
</p:sld>
</file>

<file path=ppt/theme/theme1.xml><?xml version="1.0" encoding="utf-8"?>
<a:theme xmlns:a="http://schemas.openxmlformats.org/drawingml/2006/main" name="Formal and Professional Portfolio by Slidesgo">
  <a:themeElements>
    <a:clrScheme name="Simple Light">
      <a:dk1>
        <a:srgbClr val="333333"/>
      </a:dk1>
      <a:lt1>
        <a:srgbClr val="F7F4F1"/>
      </a:lt1>
      <a:dk2>
        <a:srgbClr val="444444"/>
      </a:dk2>
      <a:lt2>
        <a:srgbClr val="555555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6034</TotalTime>
  <Words>1200</Words>
  <Application>Microsoft Macintosh PowerPoint</Application>
  <PresentationFormat>On-screen Show (16:9)</PresentationFormat>
  <Paragraphs>275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Georgia Pro</vt:lpstr>
      <vt:lpstr>DM Sans</vt:lpstr>
      <vt:lpstr>Times New Roman</vt:lpstr>
      <vt:lpstr>Calibri</vt:lpstr>
      <vt:lpstr>Cambria Math</vt:lpstr>
      <vt:lpstr>Aptos</vt:lpstr>
      <vt:lpstr>Arial</vt:lpstr>
      <vt:lpstr>Playfair Display Medium</vt:lpstr>
      <vt:lpstr>Formal and Professional Portfolio by Slidesgo</vt:lpstr>
      <vt:lpstr>Analyzing Health Seeking Behavior in Response to Respiratory Diseases in Illinois</vt:lpstr>
      <vt:lpstr>Background - Vaccinations</vt:lpstr>
      <vt:lpstr>Background – Vaccination Behaviors in Adults</vt:lpstr>
      <vt:lpstr>Background – Vaccination Behaviors in Children</vt:lpstr>
      <vt:lpstr>How do adults and children behave       differently with respect to vaccination behavior?  Are these consistent across respiratory pathogens?</vt:lpstr>
      <vt:lpstr>Survey Data</vt:lpstr>
      <vt:lpstr>Survey Exploration – Income Level</vt:lpstr>
      <vt:lpstr>Survey Exploration – Income Level</vt:lpstr>
      <vt:lpstr>Survey Exploration – Income Level</vt:lpstr>
      <vt:lpstr>Age-Stratified SEIRD Model</vt:lpstr>
      <vt:lpstr>Age-Stratified SEIRD Model </vt:lpstr>
      <vt:lpstr>Age-Stratified SEIRD Model </vt:lpstr>
      <vt:lpstr>Age-Stratified SEIRD Model </vt:lpstr>
      <vt:lpstr>COVID-19</vt:lpstr>
      <vt:lpstr>PowerPoint Presentation</vt:lpstr>
      <vt:lpstr>PowerPoint Presentation</vt:lpstr>
      <vt:lpstr>Flu</vt:lpstr>
      <vt:lpstr>PowerPoint Presentation</vt:lpstr>
      <vt:lpstr>PowerPoint Presentation</vt:lpstr>
      <vt:lpstr>Conclusions &amp; Future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Anastasi, Alyssa Rose</cp:lastModifiedBy>
  <cp:revision>17</cp:revision>
  <dcterms:modified xsi:type="dcterms:W3CDTF">2025-05-05T15:02:26Z</dcterms:modified>
</cp:coreProperties>
</file>